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3"/>
  </p:notesMasterIdLst>
  <p:handoutMasterIdLst>
    <p:handoutMasterId r:id="rId34"/>
  </p:handoutMasterIdLst>
  <p:sldIdLst>
    <p:sldId id="256" r:id="rId5"/>
    <p:sldId id="259" r:id="rId6"/>
    <p:sldId id="262" r:id="rId7"/>
    <p:sldId id="282" r:id="rId8"/>
    <p:sldId id="268" r:id="rId9"/>
    <p:sldId id="263" r:id="rId10"/>
    <p:sldId id="269" r:id="rId11"/>
    <p:sldId id="270" r:id="rId12"/>
    <p:sldId id="264" r:id="rId13"/>
    <p:sldId id="272" r:id="rId14"/>
    <p:sldId id="283" r:id="rId15"/>
    <p:sldId id="271" r:id="rId16"/>
    <p:sldId id="289" r:id="rId17"/>
    <p:sldId id="284" r:id="rId18"/>
    <p:sldId id="265" r:id="rId19"/>
    <p:sldId id="275" r:id="rId20"/>
    <p:sldId id="276" r:id="rId21"/>
    <p:sldId id="267" r:id="rId22"/>
    <p:sldId id="285" r:id="rId23"/>
    <p:sldId id="286" r:id="rId24"/>
    <p:sldId id="280" r:id="rId25"/>
    <p:sldId id="287" r:id="rId26"/>
    <p:sldId id="273" r:id="rId27"/>
    <p:sldId id="266" r:id="rId28"/>
    <p:sldId id="260" r:id="rId29"/>
    <p:sldId id="288" r:id="rId30"/>
    <p:sldId id="274" r:id="rId31"/>
    <p:sldId id="261"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87">
          <p15:clr>
            <a:srgbClr val="A4A3A4"/>
          </p15:clr>
        </p15:guide>
        <p15:guide id="3" orient="horz" pos="4081">
          <p15:clr>
            <a:srgbClr val="A4A3A4"/>
          </p15:clr>
        </p15:guide>
        <p15:guide id="4" pos="268">
          <p15:clr>
            <a:srgbClr val="A4A3A4"/>
          </p15:clr>
        </p15:guide>
        <p15:guide id="5" pos="742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895"/>
    <a:srgbClr val="E7E7E7"/>
    <a:srgbClr val="00272C"/>
    <a:srgbClr val="A1D3D0"/>
    <a:srgbClr val="E9E9E9"/>
    <a:srgbClr val="E4E4E4"/>
    <a:srgbClr val="DADADA"/>
    <a:srgbClr val="425B5B"/>
    <a:srgbClr val="BFBFBF"/>
    <a:srgbClr val="E73A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14" autoAdjust="0"/>
    <p:restoredTop sz="92837" autoAdjust="0"/>
  </p:normalViewPr>
  <p:slideViewPr>
    <p:cSldViewPr snapToGrid="0" snapToObjects="1">
      <p:cViewPr varScale="1">
        <p:scale>
          <a:sx n="62" d="100"/>
          <a:sy n="62" d="100"/>
        </p:scale>
        <p:origin x="1292" y="36"/>
      </p:cViewPr>
      <p:guideLst>
        <p:guide pos="3840"/>
        <p:guide orient="horz" pos="2187"/>
        <p:guide orient="horz" pos="4081"/>
        <p:guide pos="268"/>
        <p:guide pos="7423"/>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5400" cap="rnd">
              <a:solidFill>
                <a:schemeClr val="lt1"/>
              </a:solidFill>
              <a:round/>
            </a:ln>
            <a:effectLst>
              <a:outerShdw dist="25400" dir="2700000" algn="tl" rotWithShape="0">
                <a:schemeClr val="accent1"/>
              </a:outerShdw>
            </a:effectLst>
          </c:spPr>
          <c:marker>
            <c:symbol val="none"/>
          </c:marker>
          <c:dLbls>
            <c:dLbl>
              <c:idx val="0"/>
              <c:spPr>
                <a:solidFill>
                  <a:schemeClr val="accent1"/>
                </a:solid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extLst>
                <c:ext xmlns:c16="http://schemas.microsoft.com/office/drawing/2014/chart" uri="{C3380CC4-5D6E-409C-BE32-E72D297353CC}">
                  <c16:uniqueId val="{00000000-3FD8-4B9E-A2B5-BAC15BAD0E22}"/>
                </c:ext>
              </c:extLst>
            </c:dLbl>
            <c:dLbl>
              <c:idx val="1"/>
              <c:spPr>
                <a:solidFill>
                  <a:schemeClr val="accent1"/>
                </a:solid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extLst>
                <c:ext xmlns:c16="http://schemas.microsoft.com/office/drawing/2014/chart" uri="{C3380CC4-5D6E-409C-BE32-E72D297353CC}">
                  <c16:uniqueId val="{00000001-3FD8-4B9E-A2B5-BAC15BAD0E22}"/>
                </c:ext>
              </c:extLst>
            </c:dLbl>
            <c:dLbl>
              <c:idx val="2"/>
              <c:spPr>
                <a:solidFill>
                  <a:schemeClr val="accent1"/>
                </a:solid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extLst>
                <c:ext xmlns:c16="http://schemas.microsoft.com/office/drawing/2014/chart" uri="{C3380CC4-5D6E-409C-BE32-E72D297353CC}">
                  <c16:uniqueId val="{00000002-3FD8-4B9E-A2B5-BAC15BAD0E22}"/>
                </c:ext>
              </c:extLst>
            </c:dLbl>
            <c:dLbl>
              <c:idx val="3"/>
              <c:tx>
                <c:rich>
                  <a:bodyPr/>
                  <a:lstStyle/>
                  <a:p>
                    <a:fld id="{045636A2-DFB1-45F9-9741-A0316A220C59}" type="VALUE">
                      <a:rPr lang="en-US" altLang="zh-TW" sz="1800"/>
                      <a:pPr/>
                      <a:t>[值]</a:t>
                    </a:fld>
                    <a:endParaRPr lang="zh-TW"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FD8-4B9E-A2B5-BAC15BAD0E22}"/>
                </c:ext>
              </c:extLst>
            </c:dLbl>
            <c:spPr>
              <a:solidFill>
                <a:schemeClr val="accent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Sheet1!$A$2:$A$5</c:f>
              <c:strCache>
                <c:ptCount val="4"/>
                <c:pt idx="0">
                  <c:v>小班</c:v>
                </c:pt>
                <c:pt idx="1">
                  <c:v>大班</c:v>
                </c:pt>
                <c:pt idx="2">
                  <c:v>小一</c:v>
                </c:pt>
                <c:pt idx="3">
                  <c:v>小二</c:v>
                </c:pt>
              </c:strCache>
            </c:strRef>
          </c:cat>
          <c:val>
            <c:numRef>
              <c:f>Sheet1!$B$2:$B$5</c:f>
              <c:numCache>
                <c:formatCode>0.00%</c:formatCode>
                <c:ptCount val="4"/>
                <c:pt idx="0">
                  <c:v>6.9000000000000006E-2</c:v>
                </c:pt>
                <c:pt idx="1">
                  <c:v>0.09</c:v>
                </c:pt>
                <c:pt idx="2">
                  <c:v>0.19800000000000001</c:v>
                </c:pt>
                <c:pt idx="3">
                  <c:v>0.38700000000000001</c:v>
                </c:pt>
              </c:numCache>
            </c:numRef>
          </c:val>
          <c:smooth val="0"/>
          <c:extLst>
            <c:ext xmlns:c16="http://schemas.microsoft.com/office/drawing/2014/chart" uri="{C3380CC4-5D6E-409C-BE32-E72D297353CC}">
              <c16:uniqueId val="{00000004-3FD8-4B9E-A2B5-BAC15BAD0E22}"/>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701714080"/>
        <c:axId val="701710240"/>
      </c:lineChart>
      <c:catAx>
        <c:axId val="70171408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spc="30" baseline="0">
                <a:solidFill>
                  <a:schemeClr val="lt1"/>
                </a:solidFill>
                <a:latin typeface="+mn-lt"/>
                <a:ea typeface="+mn-ea"/>
                <a:cs typeface="+mn-cs"/>
              </a:defRPr>
            </a:pPr>
            <a:endParaRPr lang="zh-TW"/>
          </a:p>
        </c:txPr>
        <c:crossAx val="701710240"/>
        <c:crosses val="autoZero"/>
        <c:auto val="1"/>
        <c:lblAlgn val="ctr"/>
        <c:lblOffset val="100"/>
        <c:noMultiLvlLbl val="0"/>
      </c:catAx>
      <c:valAx>
        <c:axId val="701710240"/>
        <c:scaling>
          <c:orientation val="minMax"/>
        </c:scaling>
        <c:delete val="1"/>
        <c:axPos val="l"/>
        <c:numFmt formatCode="0.00%" sourceLinked="1"/>
        <c:majorTickMark val="none"/>
        <c:minorTickMark val="none"/>
        <c:tickLblPos val="nextTo"/>
        <c:crossAx val="701714080"/>
        <c:crosses val="autoZero"/>
        <c:crossBetween val="between"/>
      </c:valAx>
      <c:spPr>
        <a:noFill/>
        <a:ln>
          <a:solidFill>
            <a:schemeClr val="accent5">
              <a:lumMod val="75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lumMod val="75000"/>
      </a:schemeClr>
    </a:solidFill>
    <a:ln w="9525" cap="flat" cmpd="sng" algn="ctr">
      <a:solidFill>
        <a:schemeClr val="lt1">
          <a:lumMod val="85000"/>
        </a:schemeClr>
      </a:solidFill>
      <a:round/>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8">
  <cs:axisTitle>
    <cs:lnRef idx="0"/>
    <cs:fillRef idx="0"/>
    <cs:effectRef idx="0"/>
    <cs:fontRef idx="minor">
      <a:schemeClr val="lt1"/>
    </cs:fontRef>
    <cs:defRPr sz="900" b="1" kern="1200"/>
  </cs:axisTitle>
  <cs:categoryAxis>
    <cs:lnRef idx="0">
      <cs:styleClr val="0"/>
    </cs:lnRef>
    <cs:fillRef idx="0"/>
    <cs:effectRef idx="0"/>
    <cs:fontRef idx="minor">
      <a:schemeClr val="lt1"/>
    </cs:fontRef>
    <cs:defRPr sz="900" kern="1200" spc="3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lt1">
            <a:lumMod val="85000"/>
          </a:schemeClr>
        </a:solidFill>
        <a:round/>
      </a:ln>
    </cs:spPr>
    <cs:defRPr sz="1000" kern="1200"/>
  </cs:chartArea>
  <cs:dataLabel>
    <cs:lnRef idx="0"/>
    <cs:fillRef idx="0">
      <cs:styleClr val="0"/>
    </cs:fillRef>
    <cs:effectRef idx="0"/>
    <cs:fontRef idx="minor">
      <a:schemeClr val="lt1"/>
    </cs:fontRef>
    <cs:spPr>
      <a:solidFill>
        <a:schemeClr val="phClr"/>
      </a:solidFill>
    </cs:spPr>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25400"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cs:spPr>
  </cs:dataPointMarker>
  <cs:dataPointMarkerLayout symbol="circle" size="14"/>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2024/5/11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miri" panose="00000500000000000000" charset="0"/>
                <a:ea typeface="Amiri" panose="00000500000000000000" charset="0"/>
                <a:cs typeface="Amiri" panose="000005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miri" panose="00000500000000000000" charset="0"/>
                <a:ea typeface="Amiri" panose="00000500000000000000" charset="0"/>
                <a:cs typeface="Amiri" panose="00000500000000000000" charset="0"/>
              </a:defRPr>
            </a:lvl1pPr>
          </a:lstStyle>
          <a:p>
            <a:fld id="{00EDCCCA-0BC9-4E4A-BDA5-57CA6EE6A4D0}" type="datetimeFigureOut">
              <a:rPr lang="zh-CN" altLang="en-US" smtClean="0"/>
              <a:t>2024/5/11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miri" panose="00000500000000000000" charset="0"/>
                <a:ea typeface="Amiri" panose="00000500000000000000" charset="0"/>
                <a:cs typeface="Amiri" panose="000005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miri" panose="00000500000000000000" charset="0"/>
                <a:ea typeface="Amiri" panose="00000500000000000000" charset="0"/>
                <a:cs typeface="Amiri" panose="00000500000000000000" charset="0"/>
              </a:defRPr>
            </a:lvl1pPr>
          </a:lstStyle>
          <a:p>
            <a:fld id="{C7E06540-3D4A-4D1B-89C3-AFCFAF39EF4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miri" panose="00000500000000000000" charset="0"/>
        <a:ea typeface="Amiri" panose="00000500000000000000" charset="0"/>
        <a:cs typeface="Amiri" panose="00000500000000000000" charset="0"/>
      </a:defRPr>
    </a:lvl1pPr>
    <a:lvl2pPr marL="457200" algn="l" defTabSz="914400" rtl="0" eaLnBrk="1" latinLnBrk="0" hangingPunct="1">
      <a:defRPr sz="1200" kern="1200">
        <a:solidFill>
          <a:schemeClr val="tx1"/>
        </a:solidFill>
        <a:latin typeface="Amiri" panose="00000500000000000000" charset="0"/>
        <a:ea typeface="Amiri" panose="00000500000000000000" charset="0"/>
        <a:cs typeface="Amiri" panose="00000500000000000000" charset="0"/>
      </a:defRPr>
    </a:lvl2pPr>
    <a:lvl3pPr marL="914400" algn="l" defTabSz="914400" rtl="0" eaLnBrk="1" latinLnBrk="0" hangingPunct="1">
      <a:defRPr sz="1200" kern="1200">
        <a:solidFill>
          <a:schemeClr val="tx1"/>
        </a:solidFill>
        <a:latin typeface="Amiri" panose="00000500000000000000" charset="0"/>
        <a:ea typeface="Amiri" panose="00000500000000000000" charset="0"/>
        <a:cs typeface="Amiri" panose="00000500000000000000" charset="0"/>
      </a:defRPr>
    </a:lvl3pPr>
    <a:lvl4pPr marL="1371600" algn="l" defTabSz="914400" rtl="0" eaLnBrk="1" latinLnBrk="0" hangingPunct="1">
      <a:defRPr sz="1200" kern="1200">
        <a:solidFill>
          <a:schemeClr val="tx1"/>
        </a:solidFill>
        <a:latin typeface="Amiri" panose="00000500000000000000" charset="0"/>
        <a:ea typeface="Amiri" panose="00000500000000000000" charset="0"/>
        <a:cs typeface="Amiri" panose="00000500000000000000" charset="0"/>
      </a:defRPr>
    </a:lvl4pPr>
    <a:lvl5pPr marL="1828800" algn="l" defTabSz="914400" rtl="0" eaLnBrk="1" latinLnBrk="0" hangingPunct="1">
      <a:defRPr sz="1200" kern="1200">
        <a:solidFill>
          <a:schemeClr val="tx1"/>
        </a:solidFill>
        <a:latin typeface="Amiri" panose="00000500000000000000" charset="0"/>
        <a:ea typeface="Amiri" panose="00000500000000000000" charset="0"/>
        <a:cs typeface="Amiri" panose="000005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14</a:t>
            </a:fld>
            <a:endParaRPr lang="zh-CN" altLang="en-US"/>
          </a:p>
        </p:txBody>
      </p:sp>
    </p:spTree>
    <p:extLst>
      <p:ext uri="{BB962C8B-B14F-4D97-AF65-F5344CB8AC3E}">
        <p14:creationId xmlns:p14="http://schemas.microsoft.com/office/powerpoint/2010/main" val="1059713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19</a:t>
            </a:fld>
            <a:endParaRPr lang="zh-CN" altLang="en-US"/>
          </a:p>
        </p:txBody>
      </p:sp>
    </p:spTree>
    <p:extLst>
      <p:ext uri="{BB962C8B-B14F-4D97-AF65-F5344CB8AC3E}">
        <p14:creationId xmlns:p14="http://schemas.microsoft.com/office/powerpoint/2010/main" val="1276586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7E06540-3D4A-4D1B-89C3-AFCFAF39EF4F}" type="slidenum">
              <a:rPr lang="zh-CN" altLang="en-US" smtClean="0"/>
              <a:t>21</a:t>
            </a:fld>
            <a:endParaRPr lang="zh-CN" altLang="en-US"/>
          </a:p>
        </p:txBody>
      </p:sp>
    </p:spTree>
    <p:extLst>
      <p:ext uri="{BB962C8B-B14F-4D97-AF65-F5344CB8AC3E}">
        <p14:creationId xmlns:p14="http://schemas.microsoft.com/office/powerpoint/2010/main" val="980939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6540-3D4A-4D1B-89C3-AFCFAF39EF4F}"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E9E9E9"/>
        </a:solidFill>
        <a:effectLst/>
      </p:bgPr>
    </p:bg>
    <p:spTree>
      <p:nvGrpSpPr>
        <p:cNvPr id="1" name=""/>
        <p:cNvGrpSpPr/>
        <p:nvPr/>
      </p:nvGrpSpPr>
      <p:grpSpPr>
        <a:xfrm>
          <a:off x="0" y="0"/>
          <a:ext cx="0" cy="0"/>
          <a:chOff x="0" y="0"/>
          <a:chExt cx="0" cy="0"/>
        </a:xfrm>
      </p:grpSpPr>
      <p:sp>
        <p:nvSpPr>
          <p:cNvPr id="3" name="矩形 2"/>
          <p:cNvSpPr/>
          <p:nvPr userDrawn="1"/>
        </p:nvSpPr>
        <p:spPr>
          <a:xfrm>
            <a:off x="425602" y="652450"/>
            <a:ext cx="11340795" cy="4876549"/>
          </a:xfrm>
          <a:prstGeom prst="rect">
            <a:avLst/>
          </a:prstGeom>
          <a:noFill/>
          <a:ln w="7620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4" name="组合 3"/>
          <p:cNvGrpSpPr/>
          <p:nvPr userDrawn="1"/>
        </p:nvGrpSpPr>
        <p:grpSpPr>
          <a:xfrm rot="9861016" flipH="1">
            <a:off x="-2443125" y="4065941"/>
            <a:ext cx="8030020" cy="6922436"/>
            <a:chOff x="3241129" y="967902"/>
            <a:chExt cx="5709753" cy="4922199"/>
          </a:xfrm>
          <a:solidFill>
            <a:srgbClr val="E9E9E9"/>
          </a:solidFill>
        </p:grpSpPr>
        <p:grpSp>
          <p:nvGrpSpPr>
            <p:cNvPr id="5" name="组合 4"/>
            <p:cNvGrpSpPr/>
            <p:nvPr/>
          </p:nvGrpSpPr>
          <p:grpSpPr>
            <a:xfrm>
              <a:off x="3241129" y="967902"/>
              <a:ext cx="5709753" cy="4922199"/>
              <a:chOff x="3241126" y="967902"/>
              <a:chExt cx="5709748" cy="4922199"/>
            </a:xfrm>
            <a:grpFill/>
          </p:grpSpPr>
          <p:sp>
            <p:nvSpPr>
              <p:cNvPr id="8" name="等腰三角形 7"/>
              <p:cNvSpPr/>
              <p:nvPr/>
            </p:nvSpPr>
            <p:spPr>
              <a:xfrm>
                <a:off x="3241126" y="967902"/>
                <a:ext cx="5709747" cy="4922196"/>
              </a:xfrm>
              <a:prstGeom prst="triangle">
                <a:avLst/>
              </a:prstGeom>
              <a:grp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9" name="直接连接符 8"/>
              <p:cNvCxnSpPr>
                <a:stCxn id="8" idx="0"/>
              </p:cNvCxnSpPr>
              <p:nvPr/>
            </p:nvCxnSpPr>
            <p:spPr>
              <a:xfrm rot="11303420" flipH="1" flipV="1">
                <a:off x="5858688" y="985309"/>
                <a:ext cx="474623" cy="3217900"/>
              </a:xfrm>
              <a:prstGeom prst="line">
                <a:avLst/>
              </a:prstGeom>
              <a:grpFill/>
              <a:ln w="76200">
                <a:no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6093606" y="4240456"/>
                <a:ext cx="2857268" cy="1649645"/>
              </a:xfrm>
              <a:prstGeom prst="line">
                <a:avLst/>
              </a:prstGeom>
              <a:grpFill/>
              <a:ln w="76200">
                <a:no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241127" y="4236312"/>
                <a:ext cx="2864445" cy="1653789"/>
              </a:xfrm>
              <a:prstGeom prst="line">
                <a:avLst/>
              </a:prstGeom>
              <a:grpFill/>
              <a:ln w="76200">
                <a:noFill/>
              </a:ln>
            </p:spPr>
            <p:style>
              <a:lnRef idx="1">
                <a:schemeClr val="accent1"/>
              </a:lnRef>
              <a:fillRef idx="0">
                <a:schemeClr val="accent1"/>
              </a:fillRef>
              <a:effectRef idx="0">
                <a:schemeClr val="accent1"/>
              </a:effectRef>
              <a:fontRef idx="minor">
                <a:schemeClr val="tx1"/>
              </a:fontRef>
            </p:style>
          </p:cxnSp>
        </p:grpSp>
        <p:sp>
          <p:nvSpPr>
            <p:cNvPr id="6" name="等腰三角形 5"/>
            <p:cNvSpPr/>
            <p:nvPr/>
          </p:nvSpPr>
          <p:spPr>
            <a:xfrm>
              <a:off x="5353054" y="4334047"/>
              <a:ext cx="1485901" cy="4519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7"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12" name="矩形 11"/>
          <p:cNvSpPr/>
          <p:nvPr userDrawn="1"/>
        </p:nvSpPr>
        <p:spPr>
          <a:xfrm>
            <a:off x="-15754" y="-23111"/>
            <a:ext cx="12207754" cy="361483"/>
          </a:xfrm>
          <a:prstGeom prst="rect">
            <a:avLst/>
          </a:prstGeom>
          <a:pattFill prst="ltUpDiag">
            <a:fgClr>
              <a:srgbClr val="1A9895"/>
            </a:fgClr>
            <a:bgClr>
              <a:srgbClr val="E9E9E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8" name="组合 17"/>
          <p:cNvGrpSpPr/>
          <p:nvPr userDrawn="1"/>
        </p:nvGrpSpPr>
        <p:grpSpPr>
          <a:xfrm rot="9861016" flipH="1">
            <a:off x="-2153422" y="4337089"/>
            <a:ext cx="7342026" cy="6329338"/>
            <a:chOff x="3241129" y="967902"/>
            <a:chExt cx="5709753" cy="4922199"/>
          </a:xfrm>
        </p:grpSpPr>
        <p:grpSp>
          <p:nvGrpSpPr>
            <p:cNvPr id="19" name="组合 18"/>
            <p:cNvGrpSpPr/>
            <p:nvPr/>
          </p:nvGrpSpPr>
          <p:grpSpPr>
            <a:xfrm>
              <a:off x="3241129" y="967902"/>
              <a:ext cx="5709753" cy="4922199"/>
              <a:chOff x="3241126" y="967902"/>
              <a:chExt cx="5709748" cy="4922199"/>
            </a:xfrm>
          </p:grpSpPr>
          <p:sp>
            <p:nvSpPr>
              <p:cNvPr id="22" name="等腰三角形 21"/>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23" name="直接连接符 22"/>
              <p:cNvCxnSpPr>
                <a:stCxn id="22"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20" name="等腰三角形 19"/>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21"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bg>
      <p:bgPr>
        <a:solidFill>
          <a:srgbClr val="1A9895"/>
        </a:solidFill>
        <a:effectLst/>
      </p:bgPr>
    </p:bg>
    <p:spTree>
      <p:nvGrpSpPr>
        <p:cNvPr id="1" name=""/>
        <p:cNvGrpSpPr/>
        <p:nvPr/>
      </p:nvGrpSpPr>
      <p:grpSpPr>
        <a:xfrm>
          <a:off x="0" y="0"/>
          <a:ext cx="0" cy="0"/>
          <a:chOff x="0" y="0"/>
          <a:chExt cx="0" cy="0"/>
        </a:xfrm>
      </p:grpSpPr>
      <p:grpSp>
        <p:nvGrpSpPr>
          <p:cNvPr id="27" name="组合 26"/>
          <p:cNvGrpSpPr/>
          <p:nvPr userDrawn="1"/>
        </p:nvGrpSpPr>
        <p:grpSpPr>
          <a:xfrm rot="693700">
            <a:off x="6432728" y="-2025321"/>
            <a:ext cx="7510760" cy="6474794"/>
            <a:chOff x="3241129" y="967902"/>
            <a:chExt cx="5709753" cy="4922199"/>
          </a:xfrm>
        </p:grpSpPr>
        <p:grpSp>
          <p:nvGrpSpPr>
            <p:cNvPr id="28" name="组合 27"/>
            <p:cNvGrpSpPr/>
            <p:nvPr/>
          </p:nvGrpSpPr>
          <p:grpSpPr>
            <a:xfrm>
              <a:off x="3241129" y="967902"/>
              <a:ext cx="5709753" cy="4922199"/>
              <a:chOff x="3241126" y="967902"/>
              <a:chExt cx="5709748" cy="4922199"/>
            </a:xfrm>
          </p:grpSpPr>
          <p:sp>
            <p:nvSpPr>
              <p:cNvPr id="31" name="等腰三角形 30"/>
              <p:cNvSpPr/>
              <p:nvPr/>
            </p:nvSpPr>
            <p:spPr>
              <a:xfrm>
                <a:off x="3241126" y="967902"/>
                <a:ext cx="5709748" cy="4922196"/>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32" name="直接连接符 31"/>
              <p:cNvCxnSpPr>
                <a:stCxn id="31" idx="0"/>
              </p:cNvCxnSpPr>
              <p:nvPr/>
            </p:nvCxnSpPr>
            <p:spPr>
              <a:xfrm rot="11303420" flipH="1" flipV="1">
                <a:off x="5858688" y="985310"/>
                <a:ext cx="474623" cy="321790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6093606" y="4240456"/>
                <a:ext cx="2857268" cy="164964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241127" y="4236312"/>
                <a:ext cx="2864445" cy="1653789"/>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9" name="等腰三角形 28"/>
            <p:cNvSpPr/>
            <p:nvPr/>
          </p:nvSpPr>
          <p:spPr>
            <a:xfrm>
              <a:off x="5353054" y="4334047"/>
              <a:ext cx="1485901" cy="45194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30"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grpSp>
        <p:nvGrpSpPr>
          <p:cNvPr id="42" name="组合 41"/>
          <p:cNvGrpSpPr/>
          <p:nvPr userDrawn="1"/>
        </p:nvGrpSpPr>
        <p:grpSpPr>
          <a:xfrm rot="2715711">
            <a:off x="-1269661" y="5733927"/>
            <a:ext cx="3282274" cy="2829546"/>
            <a:chOff x="3241129" y="967902"/>
            <a:chExt cx="5709753" cy="4922199"/>
          </a:xfrm>
        </p:grpSpPr>
        <p:grpSp>
          <p:nvGrpSpPr>
            <p:cNvPr id="43" name="组合 42"/>
            <p:cNvGrpSpPr/>
            <p:nvPr/>
          </p:nvGrpSpPr>
          <p:grpSpPr>
            <a:xfrm>
              <a:off x="3241129" y="967902"/>
              <a:ext cx="5709753" cy="4922199"/>
              <a:chOff x="3241126" y="967902"/>
              <a:chExt cx="5709748" cy="4922199"/>
            </a:xfrm>
          </p:grpSpPr>
          <p:sp>
            <p:nvSpPr>
              <p:cNvPr id="46" name="等腰三角形 45"/>
              <p:cNvSpPr/>
              <p:nvPr/>
            </p:nvSpPr>
            <p:spPr>
              <a:xfrm>
                <a:off x="3241126" y="967902"/>
                <a:ext cx="5709748" cy="4922196"/>
              </a:xfrm>
              <a:prstGeom prst="triangl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47" name="直接连接符 46"/>
              <p:cNvCxnSpPr>
                <a:stCxn id="46" idx="0"/>
              </p:cNvCxnSpPr>
              <p:nvPr/>
            </p:nvCxnSpPr>
            <p:spPr>
              <a:xfrm rot="11303420" flipH="1" flipV="1">
                <a:off x="5858688" y="985310"/>
                <a:ext cx="474623" cy="321790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6093606" y="4240456"/>
                <a:ext cx="2857268" cy="164964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3241127" y="4236312"/>
                <a:ext cx="2864445" cy="1653789"/>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4" name="等腰三角形 43"/>
            <p:cNvSpPr/>
            <p:nvPr/>
          </p:nvSpPr>
          <p:spPr>
            <a:xfrm>
              <a:off x="5353054" y="4334047"/>
              <a:ext cx="1485901" cy="45194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45"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rgbClr val="E9E9E9"/>
        </a:solidFill>
        <a:effectLst/>
      </p:bgPr>
    </p:bg>
    <p:spTree>
      <p:nvGrpSpPr>
        <p:cNvPr id="1" name=""/>
        <p:cNvGrpSpPr/>
        <p:nvPr/>
      </p:nvGrpSpPr>
      <p:grpSpPr>
        <a:xfrm>
          <a:off x="0" y="0"/>
          <a:ext cx="0" cy="0"/>
          <a:chOff x="0" y="0"/>
          <a:chExt cx="0" cy="0"/>
        </a:xfrm>
      </p:grpSpPr>
      <p:sp>
        <p:nvSpPr>
          <p:cNvPr id="4" name="任意多边形 3"/>
          <p:cNvSpPr/>
          <p:nvPr userDrawn="1"/>
        </p:nvSpPr>
        <p:spPr>
          <a:xfrm>
            <a:off x="657225" y="364331"/>
            <a:ext cx="1607344" cy="707232"/>
          </a:xfrm>
          <a:custGeom>
            <a:avLst/>
            <a:gdLst>
              <a:gd name="connsiteX0" fmla="*/ 0 w 1607344"/>
              <a:gd name="connsiteY0" fmla="*/ 707232 h 707232"/>
              <a:gd name="connsiteX1" fmla="*/ 0 w 1607344"/>
              <a:gd name="connsiteY1" fmla="*/ 0 h 707232"/>
              <a:gd name="connsiteX2" fmla="*/ 1607344 w 1607344"/>
              <a:gd name="connsiteY2" fmla="*/ 0 h 707232"/>
            </a:gdLst>
            <a:ahLst/>
            <a:cxnLst>
              <a:cxn ang="0">
                <a:pos x="connsiteX0" y="connsiteY0"/>
              </a:cxn>
              <a:cxn ang="0">
                <a:pos x="connsiteX1" y="connsiteY1"/>
              </a:cxn>
              <a:cxn ang="0">
                <a:pos x="connsiteX2" y="connsiteY2"/>
              </a:cxn>
            </a:cxnLst>
            <a:rect l="l" t="t" r="r" b="b"/>
            <a:pathLst>
              <a:path w="1607344" h="707232">
                <a:moveTo>
                  <a:pt x="0" y="707232"/>
                </a:moveTo>
                <a:lnTo>
                  <a:pt x="0" y="0"/>
                </a:lnTo>
                <a:lnTo>
                  <a:pt x="1607344" y="0"/>
                </a:lnTo>
              </a:path>
            </a:pathLst>
          </a:custGeom>
          <a:no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 name="矩形 6"/>
          <p:cNvSpPr/>
          <p:nvPr userDrawn="1"/>
        </p:nvSpPr>
        <p:spPr>
          <a:xfrm flipH="1" flipV="1">
            <a:off x="-27998" y="6684266"/>
            <a:ext cx="12207852" cy="196846"/>
          </a:xfrm>
          <a:prstGeom prst="rect">
            <a:avLst/>
          </a:prstGeom>
          <a:pattFill prst="ltUpDiag">
            <a:fgClr>
              <a:srgbClr val="1A9895"/>
            </a:fgClr>
            <a:bgClr>
              <a:srgbClr val="E9E9E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rgbClr val="E9E9E9"/>
        </a:solidFill>
        <a:effectLst/>
      </p:bgPr>
    </p:bg>
    <p:spTree>
      <p:nvGrpSpPr>
        <p:cNvPr id="1" name=""/>
        <p:cNvGrpSpPr/>
        <p:nvPr/>
      </p:nvGrpSpPr>
      <p:grpSpPr>
        <a:xfrm>
          <a:off x="0" y="0"/>
          <a:ext cx="0" cy="0"/>
          <a:chOff x="0" y="0"/>
          <a:chExt cx="0" cy="0"/>
        </a:xfrm>
      </p:grpSpPr>
      <p:sp>
        <p:nvSpPr>
          <p:cNvPr id="3" name="任意多边形 2"/>
          <p:cNvSpPr/>
          <p:nvPr userDrawn="1"/>
        </p:nvSpPr>
        <p:spPr>
          <a:xfrm>
            <a:off x="657225" y="364331"/>
            <a:ext cx="1607344" cy="707232"/>
          </a:xfrm>
          <a:custGeom>
            <a:avLst/>
            <a:gdLst>
              <a:gd name="connsiteX0" fmla="*/ 0 w 1607344"/>
              <a:gd name="connsiteY0" fmla="*/ 707232 h 707232"/>
              <a:gd name="connsiteX1" fmla="*/ 0 w 1607344"/>
              <a:gd name="connsiteY1" fmla="*/ 0 h 707232"/>
              <a:gd name="connsiteX2" fmla="*/ 1607344 w 1607344"/>
              <a:gd name="connsiteY2" fmla="*/ 0 h 707232"/>
            </a:gdLst>
            <a:ahLst/>
            <a:cxnLst>
              <a:cxn ang="0">
                <a:pos x="connsiteX0" y="connsiteY0"/>
              </a:cxn>
              <a:cxn ang="0">
                <a:pos x="connsiteX1" y="connsiteY1"/>
              </a:cxn>
              <a:cxn ang="0">
                <a:pos x="connsiteX2" y="connsiteY2"/>
              </a:cxn>
            </a:cxnLst>
            <a:rect l="l" t="t" r="r" b="b"/>
            <a:pathLst>
              <a:path w="1607344" h="707232">
                <a:moveTo>
                  <a:pt x="0" y="707232"/>
                </a:moveTo>
                <a:lnTo>
                  <a:pt x="0" y="0"/>
                </a:lnTo>
                <a:lnTo>
                  <a:pt x="1607344" y="0"/>
                </a:lnTo>
              </a:path>
            </a:pathLst>
          </a:custGeom>
          <a:no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 name="矩形 6"/>
          <p:cNvSpPr/>
          <p:nvPr userDrawn="1"/>
        </p:nvSpPr>
        <p:spPr>
          <a:xfrm rot="16200000">
            <a:off x="8652407" y="3330556"/>
            <a:ext cx="6881113" cy="173779"/>
          </a:xfrm>
          <a:prstGeom prst="rect">
            <a:avLst/>
          </a:prstGeom>
          <a:pattFill prst="ltUpDiag">
            <a:fgClr>
              <a:srgbClr val="1A9895"/>
            </a:fgClr>
            <a:bgClr>
              <a:srgbClr val="E9E9E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8" name="组合 17"/>
          <p:cNvGrpSpPr/>
          <p:nvPr userDrawn="1"/>
        </p:nvGrpSpPr>
        <p:grpSpPr>
          <a:xfrm rot="1918468" flipH="1">
            <a:off x="149489" y="1935213"/>
            <a:ext cx="6105388" cy="5263270"/>
            <a:chOff x="3241129" y="967902"/>
            <a:chExt cx="5709753" cy="4922199"/>
          </a:xfrm>
        </p:grpSpPr>
        <p:grpSp>
          <p:nvGrpSpPr>
            <p:cNvPr id="19" name="组合 18"/>
            <p:cNvGrpSpPr/>
            <p:nvPr/>
          </p:nvGrpSpPr>
          <p:grpSpPr>
            <a:xfrm>
              <a:off x="3241129" y="967902"/>
              <a:ext cx="5709753" cy="4922199"/>
              <a:chOff x="3241126" y="967902"/>
              <a:chExt cx="5709748" cy="4922199"/>
            </a:xfrm>
          </p:grpSpPr>
          <p:sp>
            <p:nvSpPr>
              <p:cNvPr id="22" name="等腰三角形 21"/>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23" name="直接连接符 22"/>
              <p:cNvCxnSpPr>
                <a:stCxn id="22"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20" name="等腰三角形 19"/>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21"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rgbClr val="1A9895"/>
        </a:solidFill>
        <a:effectLst/>
      </p:bgPr>
    </p:bg>
    <p:spTree>
      <p:nvGrpSpPr>
        <p:cNvPr id="1" name=""/>
        <p:cNvGrpSpPr/>
        <p:nvPr/>
      </p:nvGrpSpPr>
      <p:grpSpPr>
        <a:xfrm>
          <a:off x="0" y="0"/>
          <a:ext cx="0" cy="0"/>
          <a:chOff x="0" y="0"/>
          <a:chExt cx="0" cy="0"/>
        </a:xfrm>
      </p:grpSpPr>
      <p:grpSp>
        <p:nvGrpSpPr>
          <p:cNvPr id="4" name="组合 3"/>
          <p:cNvGrpSpPr/>
          <p:nvPr userDrawn="1"/>
        </p:nvGrpSpPr>
        <p:grpSpPr>
          <a:xfrm rot="2835027" flipH="1">
            <a:off x="7909724" y="2222235"/>
            <a:ext cx="6126790" cy="5281720"/>
            <a:chOff x="3241129" y="967902"/>
            <a:chExt cx="5709753" cy="4922199"/>
          </a:xfrm>
        </p:grpSpPr>
        <p:grpSp>
          <p:nvGrpSpPr>
            <p:cNvPr id="5" name="组合 4"/>
            <p:cNvGrpSpPr/>
            <p:nvPr/>
          </p:nvGrpSpPr>
          <p:grpSpPr>
            <a:xfrm>
              <a:off x="3241129" y="967902"/>
              <a:ext cx="5709753" cy="4922199"/>
              <a:chOff x="3241126" y="967902"/>
              <a:chExt cx="5709748" cy="4922199"/>
            </a:xfrm>
          </p:grpSpPr>
          <p:sp>
            <p:nvSpPr>
              <p:cNvPr id="8" name="等腰三角形 7"/>
              <p:cNvSpPr/>
              <p:nvPr/>
            </p:nvSpPr>
            <p:spPr>
              <a:xfrm>
                <a:off x="3241126" y="967902"/>
                <a:ext cx="5709747" cy="4922196"/>
              </a:xfrm>
              <a:prstGeom prst="triangle">
                <a:avLst/>
              </a:prstGeom>
              <a:no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9" name="直接连接符 8"/>
              <p:cNvCxnSpPr>
                <a:stCxn id="8"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6" name="等腰三角形 5"/>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7"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自定义版式">
    <p:bg>
      <p:bgPr>
        <a:solidFill>
          <a:srgbClr val="E9E9E9"/>
        </a:solidFill>
        <a:effectLst/>
      </p:bgPr>
    </p:bg>
    <p:spTree>
      <p:nvGrpSpPr>
        <p:cNvPr id="1" name=""/>
        <p:cNvGrpSpPr/>
        <p:nvPr/>
      </p:nvGrpSpPr>
      <p:grpSpPr>
        <a:xfrm>
          <a:off x="0" y="0"/>
          <a:ext cx="0" cy="0"/>
          <a:chOff x="0" y="0"/>
          <a:chExt cx="0" cy="0"/>
        </a:xfrm>
      </p:grpSpPr>
      <p:sp>
        <p:nvSpPr>
          <p:cNvPr id="7" name="矩形 6"/>
          <p:cNvSpPr/>
          <p:nvPr userDrawn="1"/>
        </p:nvSpPr>
        <p:spPr>
          <a:xfrm rot="16200000">
            <a:off x="8652407" y="3330556"/>
            <a:ext cx="6881113" cy="173779"/>
          </a:xfrm>
          <a:prstGeom prst="rect">
            <a:avLst/>
          </a:prstGeom>
          <a:pattFill prst="ltUpDiag">
            <a:fgClr>
              <a:srgbClr val="1A9895"/>
            </a:fgClr>
            <a:bgClr>
              <a:srgbClr val="E9E9E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 name="任意多边形 2"/>
          <p:cNvSpPr/>
          <p:nvPr userDrawn="1"/>
        </p:nvSpPr>
        <p:spPr>
          <a:xfrm>
            <a:off x="657225" y="364331"/>
            <a:ext cx="1607344" cy="707232"/>
          </a:xfrm>
          <a:custGeom>
            <a:avLst/>
            <a:gdLst>
              <a:gd name="connsiteX0" fmla="*/ 0 w 1607344"/>
              <a:gd name="connsiteY0" fmla="*/ 707232 h 707232"/>
              <a:gd name="connsiteX1" fmla="*/ 0 w 1607344"/>
              <a:gd name="connsiteY1" fmla="*/ 0 h 707232"/>
              <a:gd name="connsiteX2" fmla="*/ 1607344 w 1607344"/>
              <a:gd name="connsiteY2" fmla="*/ 0 h 707232"/>
            </a:gdLst>
            <a:ahLst/>
            <a:cxnLst>
              <a:cxn ang="0">
                <a:pos x="connsiteX0" y="connsiteY0"/>
              </a:cxn>
              <a:cxn ang="0">
                <a:pos x="connsiteX1" y="connsiteY1"/>
              </a:cxn>
              <a:cxn ang="0">
                <a:pos x="connsiteX2" y="connsiteY2"/>
              </a:cxn>
            </a:cxnLst>
            <a:rect l="l" t="t" r="r" b="b"/>
            <a:pathLst>
              <a:path w="1607344" h="707232">
                <a:moveTo>
                  <a:pt x="0" y="707232"/>
                </a:moveTo>
                <a:lnTo>
                  <a:pt x="0" y="0"/>
                </a:lnTo>
                <a:lnTo>
                  <a:pt x="1607344" y="0"/>
                </a:lnTo>
              </a:path>
            </a:pathLst>
          </a:custGeom>
          <a:no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6" name="组合 35"/>
          <p:cNvGrpSpPr/>
          <p:nvPr userDrawn="1"/>
        </p:nvGrpSpPr>
        <p:grpSpPr>
          <a:xfrm rot="919184">
            <a:off x="8321907" y="3118231"/>
            <a:ext cx="5144678" cy="5967820"/>
            <a:chOff x="9070882" y="2865798"/>
            <a:chExt cx="6044162" cy="7011222"/>
          </a:xfrm>
        </p:grpSpPr>
        <p:grpSp>
          <p:nvGrpSpPr>
            <p:cNvPr id="37" name="组合 36"/>
            <p:cNvGrpSpPr/>
            <p:nvPr userDrawn="1"/>
          </p:nvGrpSpPr>
          <p:grpSpPr>
            <a:xfrm rot="14089817" flipH="1">
              <a:off x="8587352" y="3349328"/>
              <a:ext cx="7011222" cy="6044162"/>
              <a:chOff x="3241129" y="967902"/>
              <a:chExt cx="5709753" cy="4922199"/>
            </a:xfrm>
            <a:solidFill>
              <a:srgbClr val="E9E9E9"/>
            </a:solidFill>
          </p:grpSpPr>
          <p:grpSp>
            <p:nvGrpSpPr>
              <p:cNvPr id="46" name="组合 45"/>
              <p:cNvGrpSpPr/>
              <p:nvPr/>
            </p:nvGrpSpPr>
            <p:grpSpPr>
              <a:xfrm>
                <a:off x="3241129" y="967902"/>
                <a:ext cx="5709753" cy="4922199"/>
                <a:chOff x="3241126" y="967902"/>
                <a:chExt cx="5709748" cy="4922199"/>
              </a:xfrm>
              <a:grpFill/>
            </p:grpSpPr>
            <p:sp>
              <p:nvSpPr>
                <p:cNvPr id="49" name="等腰三角形 48"/>
                <p:cNvSpPr/>
                <p:nvPr/>
              </p:nvSpPr>
              <p:spPr>
                <a:xfrm>
                  <a:off x="3241126" y="967902"/>
                  <a:ext cx="5709747" cy="4922196"/>
                </a:xfrm>
                <a:prstGeom prst="triangle">
                  <a:avLst/>
                </a:prstGeom>
                <a:grpFill/>
                <a:ln w="57150">
                  <a:solidFill>
                    <a:srgbClr val="E9E9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50" name="直接连接符 49"/>
                <p:cNvCxnSpPr>
                  <a:stCxn id="49" idx="0"/>
                </p:cNvCxnSpPr>
                <p:nvPr/>
              </p:nvCxnSpPr>
              <p:spPr>
                <a:xfrm rot="11303420" flipH="1" flipV="1">
                  <a:off x="5858688" y="985309"/>
                  <a:ext cx="474623" cy="3217900"/>
                </a:xfrm>
                <a:prstGeom prst="line">
                  <a:avLst/>
                </a:prstGeom>
                <a:grpFill/>
                <a:ln w="76200">
                  <a:solidFill>
                    <a:srgbClr val="E9E9E9"/>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flipV="1">
                  <a:off x="6093606" y="4240456"/>
                  <a:ext cx="2857268" cy="1649645"/>
                </a:xfrm>
                <a:prstGeom prst="line">
                  <a:avLst/>
                </a:prstGeom>
                <a:grpFill/>
                <a:ln w="76200">
                  <a:solidFill>
                    <a:srgbClr val="E9E9E9"/>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3241127" y="4236312"/>
                  <a:ext cx="2864445" cy="1653789"/>
                </a:xfrm>
                <a:prstGeom prst="line">
                  <a:avLst/>
                </a:prstGeom>
                <a:grpFill/>
                <a:ln w="76200">
                  <a:solidFill>
                    <a:srgbClr val="E9E9E9"/>
                  </a:solidFill>
                </a:ln>
              </p:spPr>
              <p:style>
                <a:lnRef idx="1">
                  <a:schemeClr val="accent1"/>
                </a:lnRef>
                <a:fillRef idx="0">
                  <a:schemeClr val="accent1"/>
                </a:fillRef>
                <a:effectRef idx="0">
                  <a:schemeClr val="accent1"/>
                </a:effectRef>
                <a:fontRef idx="minor">
                  <a:schemeClr val="tx1"/>
                </a:fontRef>
              </p:style>
            </p:cxnSp>
          </p:grpSp>
          <p:sp>
            <p:nvSpPr>
              <p:cNvPr id="47" name="等腰三角形 46"/>
              <p:cNvSpPr/>
              <p:nvPr/>
            </p:nvSpPr>
            <p:spPr>
              <a:xfrm>
                <a:off x="5353054" y="4334047"/>
                <a:ext cx="1485901" cy="451940"/>
              </a:xfrm>
              <a:prstGeom prst="triangle">
                <a:avLst/>
              </a:prstGeom>
              <a:grpFill/>
              <a:ln>
                <a:solidFill>
                  <a:srgbClr val="E9E9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48"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grpFill/>
              <a:ln>
                <a:solidFill>
                  <a:srgbClr val="E9E9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grpSp>
          <p:nvGrpSpPr>
            <p:cNvPr id="38" name="组合 37"/>
            <p:cNvGrpSpPr/>
            <p:nvPr userDrawn="1"/>
          </p:nvGrpSpPr>
          <p:grpSpPr>
            <a:xfrm rot="14089817" flipH="1">
              <a:off x="9139304" y="3647796"/>
              <a:ext cx="6105388" cy="5263270"/>
              <a:chOff x="3241129" y="967902"/>
              <a:chExt cx="5709753" cy="4922199"/>
            </a:xfrm>
          </p:grpSpPr>
          <p:grpSp>
            <p:nvGrpSpPr>
              <p:cNvPr id="39" name="组合 38"/>
              <p:cNvGrpSpPr/>
              <p:nvPr/>
            </p:nvGrpSpPr>
            <p:grpSpPr>
              <a:xfrm>
                <a:off x="3241129" y="967902"/>
                <a:ext cx="5709753" cy="4922199"/>
                <a:chOff x="3241126" y="967902"/>
                <a:chExt cx="5709748" cy="4922199"/>
              </a:xfrm>
            </p:grpSpPr>
            <p:sp>
              <p:nvSpPr>
                <p:cNvPr id="42" name="等腰三角形 41"/>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43" name="直接连接符 42"/>
                <p:cNvCxnSpPr>
                  <a:stCxn id="42"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40" name="等腰三角形 39"/>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41"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rgbClr val="E9E9E9"/>
        </a:solidFill>
        <a:effectLst/>
      </p:bgPr>
    </p:bg>
    <p:spTree>
      <p:nvGrpSpPr>
        <p:cNvPr id="1" name=""/>
        <p:cNvGrpSpPr/>
        <p:nvPr/>
      </p:nvGrpSpPr>
      <p:grpSpPr>
        <a:xfrm>
          <a:off x="0" y="0"/>
          <a:ext cx="0" cy="0"/>
          <a:chOff x="0" y="0"/>
          <a:chExt cx="0" cy="0"/>
        </a:xfrm>
      </p:grpSpPr>
      <p:sp>
        <p:nvSpPr>
          <p:cNvPr id="2" name="任意多边形 1"/>
          <p:cNvSpPr/>
          <p:nvPr userDrawn="1"/>
        </p:nvSpPr>
        <p:spPr>
          <a:xfrm>
            <a:off x="657225" y="364331"/>
            <a:ext cx="1607344" cy="707232"/>
          </a:xfrm>
          <a:custGeom>
            <a:avLst/>
            <a:gdLst>
              <a:gd name="connsiteX0" fmla="*/ 0 w 1607344"/>
              <a:gd name="connsiteY0" fmla="*/ 707232 h 707232"/>
              <a:gd name="connsiteX1" fmla="*/ 0 w 1607344"/>
              <a:gd name="connsiteY1" fmla="*/ 0 h 707232"/>
              <a:gd name="connsiteX2" fmla="*/ 1607344 w 1607344"/>
              <a:gd name="connsiteY2" fmla="*/ 0 h 707232"/>
            </a:gdLst>
            <a:ahLst/>
            <a:cxnLst>
              <a:cxn ang="0">
                <a:pos x="connsiteX0" y="connsiteY0"/>
              </a:cxn>
              <a:cxn ang="0">
                <a:pos x="connsiteX1" y="connsiteY1"/>
              </a:cxn>
              <a:cxn ang="0">
                <a:pos x="connsiteX2" y="connsiteY2"/>
              </a:cxn>
            </a:cxnLst>
            <a:rect l="l" t="t" r="r" b="b"/>
            <a:pathLst>
              <a:path w="1607344" h="707232">
                <a:moveTo>
                  <a:pt x="0" y="707232"/>
                </a:moveTo>
                <a:lnTo>
                  <a:pt x="0" y="0"/>
                </a:lnTo>
                <a:lnTo>
                  <a:pt x="1607344" y="0"/>
                </a:lnTo>
              </a:path>
            </a:pathLst>
          </a:custGeom>
          <a:no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 name="矩形 2"/>
          <p:cNvSpPr/>
          <p:nvPr userDrawn="1"/>
        </p:nvSpPr>
        <p:spPr>
          <a:xfrm>
            <a:off x="-15754" y="1968500"/>
            <a:ext cx="12207754" cy="4889500"/>
          </a:xfrm>
          <a:prstGeom prst="rect">
            <a:avLst/>
          </a:prstGeom>
          <a:pattFill prst="ltUpDiag">
            <a:fgClr>
              <a:srgbClr val="1A9895"/>
            </a:fgClr>
            <a:bgClr>
              <a:srgbClr val="E9E9E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bg>
      <p:bgPr>
        <a:solidFill>
          <a:srgbClr val="E9E9E9"/>
        </a:solidFill>
        <a:effectLst/>
      </p:bgPr>
    </p:bg>
    <p:spTree>
      <p:nvGrpSpPr>
        <p:cNvPr id="1" name=""/>
        <p:cNvGrpSpPr/>
        <p:nvPr/>
      </p:nvGrpSpPr>
      <p:grpSpPr>
        <a:xfrm>
          <a:off x="0" y="0"/>
          <a:ext cx="0" cy="0"/>
          <a:chOff x="0" y="0"/>
          <a:chExt cx="0" cy="0"/>
        </a:xfrm>
      </p:grpSpPr>
      <p:sp>
        <p:nvSpPr>
          <p:cNvPr id="3" name="任意多边形 2"/>
          <p:cNvSpPr/>
          <p:nvPr userDrawn="1"/>
        </p:nvSpPr>
        <p:spPr>
          <a:xfrm>
            <a:off x="657225" y="364331"/>
            <a:ext cx="1607344" cy="707232"/>
          </a:xfrm>
          <a:custGeom>
            <a:avLst/>
            <a:gdLst>
              <a:gd name="connsiteX0" fmla="*/ 0 w 1607344"/>
              <a:gd name="connsiteY0" fmla="*/ 707232 h 707232"/>
              <a:gd name="connsiteX1" fmla="*/ 0 w 1607344"/>
              <a:gd name="connsiteY1" fmla="*/ 0 h 707232"/>
              <a:gd name="connsiteX2" fmla="*/ 1607344 w 1607344"/>
              <a:gd name="connsiteY2" fmla="*/ 0 h 707232"/>
            </a:gdLst>
            <a:ahLst/>
            <a:cxnLst>
              <a:cxn ang="0">
                <a:pos x="connsiteX0" y="connsiteY0"/>
              </a:cxn>
              <a:cxn ang="0">
                <a:pos x="connsiteX1" y="connsiteY1"/>
              </a:cxn>
              <a:cxn ang="0">
                <a:pos x="connsiteX2" y="connsiteY2"/>
              </a:cxn>
            </a:cxnLst>
            <a:rect l="l" t="t" r="r" b="b"/>
            <a:pathLst>
              <a:path w="1607344" h="707232">
                <a:moveTo>
                  <a:pt x="0" y="707232"/>
                </a:moveTo>
                <a:lnTo>
                  <a:pt x="0" y="0"/>
                </a:lnTo>
                <a:lnTo>
                  <a:pt x="1607344" y="0"/>
                </a:lnTo>
              </a:path>
            </a:pathLst>
          </a:custGeom>
          <a:no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8" name="组合 17"/>
          <p:cNvGrpSpPr/>
          <p:nvPr userDrawn="1"/>
        </p:nvGrpSpPr>
        <p:grpSpPr>
          <a:xfrm rot="20443394" flipH="1">
            <a:off x="10270041" y="6281722"/>
            <a:ext cx="1340530" cy="1155630"/>
            <a:chOff x="3241129" y="967902"/>
            <a:chExt cx="5709753" cy="4922199"/>
          </a:xfrm>
        </p:grpSpPr>
        <p:grpSp>
          <p:nvGrpSpPr>
            <p:cNvPr id="19" name="组合 18"/>
            <p:cNvGrpSpPr/>
            <p:nvPr/>
          </p:nvGrpSpPr>
          <p:grpSpPr>
            <a:xfrm>
              <a:off x="3241129" y="967902"/>
              <a:ext cx="5709753" cy="4922199"/>
              <a:chOff x="3241126" y="967902"/>
              <a:chExt cx="5709748" cy="4922199"/>
            </a:xfrm>
          </p:grpSpPr>
          <p:sp>
            <p:nvSpPr>
              <p:cNvPr id="22" name="等腰三角形 21"/>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23" name="直接连接符 22"/>
              <p:cNvCxnSpPr>
                <a:stCxn id="22"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20" name="等腰三角形 19"/>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21"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grpSp>
        <p:nvGrpSpPr>
          <p:cNvPr id="12" name="组合 11"/>
          <p:cNvGrpSpPr/>
          <p:nvPr userDrawn="1"/>
        </p:nvGrpSpPr>
        <p:grpSpPr>
          <a:xfrm rot="10112288" flipH="1">
            <a:off x="7888544" y="6369972"/>
            <a:ext cx="2624388" cy="2262404"/>
            <a:chOff x="3241129" y="967902"/>
            <a:chExt cx="5709753" cy="4922199"/>
          </a:xfrm>
        </p:grpSpPr>
        <p:grpSp>
          <p:nvGrpSpPr>
            <p:cNvPr id="13" name="组合 12"/>
            <p:cNvGrpSpPr/>
            <p:nvPr/>
          </p:nvGrpSpPr>
          <p:grpSpPr>
            <a:xfrm>
              <a:off x="3241129" y="967902"/>
              <a:ext cx="5709753" cy="4922199"/>
              <a:chOff x="3241126" y="967902"/>
              <a:chExt cx="5709748" cy="4922199"/>
            </a:xfrm>
          </p:grpSpPr>
          <p:sp>
            <p:nvSpPr>
              <p:cNvPr id="16" name="等腰三角形 15"/>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17" name="直接连接符 16"/>
              <p:cNvCxnSpPr>
                <a:stCxn id="16"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14" name="等腰三角形 13"/>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15"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grpSp>
        <p:nvGrpSpPr>
          <p:cNvPr id="28" name="组合 27"/>
          <p:cNvGrpSpPr/>
          <p:nvPr userDrawn="1"/>
        </p:nvGrpSpPr>
        <p:grpSpPr>
          <a:xfrm rot="15049008" flipH="1">
            <a:off x="10826390" y="5159471"/>
            <a:ext cx="1055224" cy="909676"/>
            <a:chOff x="3241129" y="967902"/>
            <a:chExt cx="5709753" cy="4922199"/>
          </a:xfrm>
        </p:grpSpPr>
        <p:grpSp>
          <p:nvGrpSpPr>
            <p:cNvPr id="29" name="组合 28"/>
            <p:cNvGrpSpPr/>
            <p:nvPr/>
          </p:nvGrpSpPr>
          <p:grpSpPr>
            <a:xfrm>
              <a:off x="3241129" y="967902"/>
              <a:ext cx="5709753" cy="4922199"/>
              <a:chOff x="3241126" y="967902"/>
              <a:chExt cx="5709748" cy="4922199"/>
            </a:xfrm>
          </p:grpSpPr>
          <p:sp>
            <p:nvSpPr>
              <p:cNvPr id="32" name="等腰三角形 31"/>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33" name="直接连接符 32"/>
              <p:cNvCxnSpPr>
                <a:stCxn id="32"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30" name="等腰三角形 29"/>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31"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rgbClr val="E9E9E9"/>
        </a:solidFill>
        <a:effectLst/>
      </p:bgPr>
    </p:bg>
    <p:spTree>
      <p:nvGrpSpPr>
        <p:cNvPr id="1" name=""/>
        <p:cNvGrpSpPr/>
        <p:nvPr/>
      </p:nvGrpSpPr>
      <p:grpSpPr>
        <a:xfrm>
          <a:off x="0" y="0"/>
          <a:ext cx="0" cy="0"/>
          <a:chOff x="0" y="0"/>
          <a:chExt cx="0" cy="0"/>
        </a:xfrm>
      </p:grpSpPr>
      <p:grpSp>
        <p:nvGrpSpPr>
          <p:cNvPr id="2" name="组合 1"/>
          <p:cNvGrpSpPr/>
          <p:nvPr userDrawn="1"/>
        </p:nvGrpSpPr>
        <p:grpSpPr>
          <a:xfrm rot="10800000" flipH="1">
            <a:off x="3043306" y="889732"/>
            <a:ext cx="6105388" cy="5263270"/>
            <a:chOff x="3241129" y="967902"/>
            <a:chExt cx="5709753" cy="4922199"/>
          </a:xfrm>
        </p:grpSpPr>
        <p:grpSp>
          <p:nvGrpSpPr>
            <p:cNvPr id="3" name="组合 2"/>
            <p:cNvGrpSpPr/>
            <p:nvPr/>
          </p:nvGrpSpPr>
          <p:grpSpPr>
            <a:xfrm>
              <a:off x="3241129" y="967902"/>
              <a:ext cx="5709753" cy="4922199"/>
              <a:chOff x="3241126" y="967902"/>
              <a:chExt cx="5709748" cy="4922199"/>
            </a:xfrm>
          </p:grpSpPr>
          <p:sp>
            <p:nvSpPr>
              <p:cNvPr id="6" name="等腰三角形 5"/>
              <p:cNvSpPr/>
              <p:nvPr/>
            </p:nvSpPr>
            <p:spPr>
              <a:xfrm>
                <a:off x="3241126" y="967902"/>
                <a:ext cx="5709747" cy="4922196"/>
              </a:xfrm>
              <a:prstGeom prst="triangle">
                <a:avLst/>
              </a:prstGeom>
              <a:solidFill>
                <a:srgbClr val="E9E9E9"/>
              </a:solidFill>
              <a:ln w="57150">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cxnSp>
            <p:nvCxnSpPr>
              <p:cNvPr id="7" name="直接连接符 6"/>
              <p:cNvCxnSpPr>
                <a:stCxn id="6" idx="0"/>
              </p:cNvCxnSpPr>
              <p:nvPr/>
            </p:nvCxnSpPr>
            <p:spPr>
              <a:xfrm rot="11303420" flipH="1" flipV="1">
                <a:off x="5858688" y="985309"/>
                <a:ext cx="474623" cy="3217900"/>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6093606" y="4240456"/>
                <a:ext cx="2857268" cy="1649645"/>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241127" y="4236312"/>
                <a:ext cx="2864445" cy="1653789"/>
              </a:xfrm>
              <a:prstGeom prst="line">
                <a:avLst/>
              </a:prstGeom>
              <a:ln w="76200">
                <a:solidFill>
                  <a:srgbClr val="A1D3D0"/>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5353054" y="4334047"/>
              <a:ext cx="1485901" cy="451940"/>
            </a:xfrm>
            <a:prstGeom prst="triangle">
              <a:avLst/>
            </a:pr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5"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A1D3D0"/>
            </a:solidFill>
            <a:ln>
              <a:solidFill>
                <a:srgbClr val="A1D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659003" y="258233"/>
            <a:ext cx="5370495" cy="529569"/>
          </a:xfrm>
          <a:prstGeom prst="rect">
            <a:avLst/>
          </a:prstGeom>
          <a:ln w="12700" cmpd="sng">
            <a:solidFill>
              <a:schemeClr val="tx1"/>
            </a:solidFill>
          </a:ln>
        </p:spPr>
        <p:txBody>
          <a:bodyPr vert="horz" anchor="ctr"/>
          <a:lstStyle>
            <a:lvl1pPr marL="0" indent="0" algn="l">
              <a:buNone/>
              <a:defRPr sz="2400" b="1">
                <a:latin typeface="Amiri" panose="00000500000000000000" charset="0"/>
                <a:ea typeface="Amiri" panose="00000500000000000000" charset="0"/>
                <a:cs typeface="Amiri" panose="00000500000000000000"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 name="文本占位符 7"/>
          <p:cNvSpPr>
            <a:spLocks noGrp="1"/>
          </p:cNvSpPr>
          <p:nvPr>
            <p:ph type="body" sz="quarter" idx="13" hasCustomPrompt="1"/>
          </p:nvPr>
        </p:nvSpPr>
        <p:spPr>
          <a:xfrm>
            <a:off x="11386592" y="171547"/>
            <a:ext cx="805408" cy="616255"/>
          </a:xfrm>
          <a:prstGeom prst="rect">
            <a:avLst/>
          </a:prstGeom>
          <a:solidFill>
            <a:schemeClr val="tx1"/>
          </a:solidFill>
        </p:spPr>
        <p:txBody>
          <a:bodyPr vert="horz" anchor="ctr"/>
          <a:lstStyle>
            <a:lvl1pPr marL="0" indent="0" algn="ctr">
              <a:buNone/>
              <a:defRPr sz="2400" b="1">
                <a:solidFill>
                  <a:srgbClr val="FFFFFF"/>
                </a:solidFill>
                <a:latin typeface="Amiri" panose="00000500000000000000" charset="0"/>
                <a:ea typeface="Amiri" panose="00000500000000000000" charset="0"/>
                <a:cs typeface="Amiri" panose="00000500000000000000" charset="0"/>
              </a:defRPr>
            </a:lvl1pPr>
          </a:lstStyle>
          <a:p>
            <a:pPr lvl="0"/>
            <a:r>
              <a:rPr kumimoji="1" lang="en-US" altLang="zh-CN" dirty="0"/>
              <a:t>01</a:t>
            </a:r>
            <a:endParaRPr kumimoji="1" lang="zh-CN" altLang="en-US" dirty="0"/>
          </a:p>
        </p:txBody>
      </p:sp>
      <p:sp>
        <p:nvSpPr>
          <p:cNvPr id="4" name="图片占位符 8"/>
          <p:cNvSpPr>
            <a:spLocks noGrp="1"/>
          </p:cNvSpPr>
          <p:nvPr>
            <p:ph type="pic" sz="quarter" idx="14" hasCustomPrompt="1"/>
          </p:nvPr>
        </p:nvSpPr>
        <p:spPr>
          <a:xfrm>
            <a:off x="376767" y="5989475"/>
            <a:ext cx="2272223" cy="533400"/>
          </a:xfrm>
          <a:prstGeom prst="rect">
            <a:avLst/>
          </a:prstGeom>
        </p:spPr>
        <p:txBody>
          <a:bodyPr vert="horz" anchor="ctr"/>
          <a:lstStyle>
            <a:lvl1pPr marL="0" indent="0" algn="ctr">
              <a:buNone/>
              <a:defRPr sz="1600" b="1">
                <a:latin typeface="微软雅黑" panose="020B0503020204020204" charset="-122"/>
                <a:ea typeface="微软雅黑" panose="020B0503020204020204" charset="-122"/>
                <a:cs typeface="微软雅黑" panose="020B0503020204020204" charset="-122"/>
              </a:defRPr>
            </a:lvl1pPr>
          </a:lstStyle>
          <a:p>
            <a:r>
              <a:rPr kumimoji="1" lang="en-US" altLang="zh-CN" sz="1600" b="1" dirty="0"/>
              <a:t>LOGO&amp;PIC</a:t>
            </a:r>
            <a:r>
              <a:rPr kumimoji="1" lang="zh-CN" altLang="en-US" sz="1600" b="1" dirty="0"/>
              <a:t> </a:t>
            </a:r>
            <a:r>
              <a:rPr kumimoji="1" lang="en-US" altLang="zh-CN" sz="1600" b="1" dirty="0"/>
              <a:t>HERE</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37" name="矩形 36"/>
          <p:cNvSpPr/>
          <p:nvPr/>
        </p:nvSpPr>
        <p:spPr>
          <a:xfrm>
            <a:off x="425602" y="1342417"/>
            <a:ext cx="9924628" cy="1459149"/>
          </a:xfrm>
          <a:prstGeom prst="rect">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8" name="矩形 37"/>
          <p:cNvSpPr/>
          <p:nvPr/>
        </p:nvSpPr>
        <p:spPr>
          <a:xfrm>
            <a:off x="1148113" y="1785903"/>
            <a:ext cx="9142246" cy="1015663"/>
          </a:xfrm>
          <a:prstGeom prst="rect">
            <a:avLst/>
          </a:prstGeom>
        </p:spPr>
        <p:txBody>
          <a:bodyPr wrap="none">
            <a:spAutoFit/>
          </a:bodyPr>
          <a:lstStyle/>
          <a:p>
            <a:pPr algn="l"/>
            <a:r>
              <a:rPr lang="zh-TW" altLang="en-US" sz="6000" b="1" dirty="0">
                <a:solidFill>
                  <a:schemeClr val="bg1"/>
                </a:solidFill>
                <a:cs typeface="Amiri" panose="00000500000000000000" charset="0"/>
              </a:rPr>
              <a:t>智慧</a:t>
            </a:r>
            <a:r>
              <a:rPr lang="en-US" altLang="zh-TW" sz="6000" b="1" dirty="0">
                <a:solidFill>
                  <a:schemeClr val="bg1"/>
                </a:solidFill>
                <a:cs typeface="Amiri" panose="00000500000000000000" charset="0"/>
              </a:rPr>
              <a:t>EYE</a:t>
            </a:r>
            <a:r>
              <a:rPr lang="zh-TW" altLang="en-US" sz="6000" b="1" dirty="0">
                <a:solidFill>
                  <a:schemeClr val="bg1"/>
                </a:solidFill>
                <a:cs typeface="Amiri" panose="00000500000000000000" charset="0"/>
              </a:rPr>
              <a:t>護 </a:t>
            </a:r>
            <a:r>
              <a:rPr lang="en-US" altLang="zh-TW" sz="4400" b="1" dirty="0">
                <a:solidFill>
                  <a:schemeClr val="bg1"/>
                </a:solidFill>
                <a:cs typeface="Amiri" panose="00000500000000000000" charset="0"/>
              </a:rPr>
              <a:t>INTELLIGENT EYE CARE</a:t>
            </a:r>
            <a:endParaRPr lang="zh-CN" altLang="en-US" sz="4400" b="1" dirty="0">
              <a:solidFill>
                <a:schemeClr val="bg1"/>
              </a:solidFill>
              <a:cs typeface="Amiri" panose="00000500000000000000"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9895"/>
        </a:solidFill>
        <a:effectLst/>
      </p:bgPr>
    </p:bg>
    <p:spTree>
      <p:nvGrpSpPr>
        <p:cNvPr id="1" name=""/>
        <p:cNvGrpSpPr/>
        <p:nvPr/>
      </p:nvGrpSpPr>
      <p:grpSpPr>
        <a:xfrm>
          <a:off x="0" y="0"/>
          <a:ext cx="0" cy="0"/>
          <a:chOff x="0" y="0"/>
          <a:chExt cx="0" cy="0"/>
        </a:xfrm>
      </p:grpSpPr>
      <p:sp>
        <p:nvSpPr>
          <p:cNvPr id="11" name="矩形 10"/>
          <p:cNvSpPr/>
          <p:nvPr/>
        </p:nvSpPr>
        <p:spPr>
          <a:xfrm>
            <a:off x="1115918" y="599916"/>
            <a:ext cx="2629535" cy="829945"/>
          </a:xfrm>
          <a:prstGeom prst="rect">
            <a:avLst/>
          </a:prstGeom>
        </p:spPr>
        <p:txBody>
          <a:bodyPr wrap="none">
            <a:spAutoFit/>
          </a:bodyPr>
          <a:lstStyle/>
          <a:p>
            <a:pPr algn="ctr"/>
            <a:r>
              <a:rPr lang="en-US" altLang="zh-CN" sz="4800" b="1" dirty="0">
                <a:solidFill>
                  <a:schemeClr val="bg1"/>
                </a:solidFill>
                <a:latin typeface="+mj-lt"/>
                <a:cs typeface="Amiri" panose="00000500000000000000" charset="0"/>
              </a:rPr>
              <a:t>C</a:t>
            </a:r>
            <a:r>
              <a:rPr lang="zh-CN" altLang="en-US" sz="4800" b="1" dirty="0">
                <a:solidFill>
                  <a:schemeClr val="bg1"/>
                </a:solidFill>
                <a:latin typeface="+mj-lt"/>
                <a:cs typeface="Amiri" panose="00000500000000000000" charset="0"/>
              </a:rPr>
              <a:t>atalogue</a:t>
            </a:r>
          </a:p>
        </p:txBody>
      </p:sp>
      <p:sp>
        <p:nvSpPr>
          <p:cNvPr id="24" name="文本框 23"/>
          <p:cNvSpPr txBox="1"/>
          <p:nvPr/>
        </p:nvSpPr>
        <p:spPr>
          <a:xfrm>
            <a:off x="1711624" y="1665065"/>
            <a:ext cx="8340725" cy="398780"/>
          </a:xfrm>
          <a:prstGeom prst="rect">
            <a:avLst/>
          </a:prstGeom>
          <a:noFill/>
        </p:spPr>
        <p:txBody>
          <a:bodyPr wrap="square" rtlCol="0">
            <a:spAutoFit/>
          </a:bodyPr>
          <a:lstStyle/>
          <a:p>
            <a:r>
              <a:rPr lang="en-US" altLang="zh-CN" sz="2000" dirty="0">
                <a:solidFill>
                  <a:schemeClr val="bg1"/>
                </a:solidFill>
                <a:cs typeface="Amiri" panose="00000500000000000000" charset="0"/>
              </a:rPr>
              <a:t>01 </a:t>
            </a:r>
            <a:r>
              <a:rPr lang="zh-TW" altLang="en-US" sz="2000" dirty="0">
                <a:solidFill>
                  <a:schemeClr val="bg1"/>
                </a:solidFill>
                <a:cs typeface="Amiri" panose="00000500000000000000" charset="0"/>
              </a:rPr>
              <a:t>研究動機及臨床需求</a:t>
            </a:r>
            <a:endParaRPr lang="zh-CN" altLang="en-US" sz="2000" dirty="0">
              <a:solidFill>
                <a:schemeClr val="bg1"/>
              </a:solidFill>
              <a:cs typeface="Amiri" panose="00000500000000000000" charset="0"/>
            </a:endParaRPr>
          </a:p>
        </p:txBody>
      </p:sp>
      <p:sp>
        <p:nvSpPr>
          <p:cNvPr id="25" name="文本框 24"/>
          <p:cNvSpPr txBox="1"/>
          <p:nvPr/>
        </p:nvSpPr>
        <p:spPr>
          <a:xfrm>
            <a:off x="1711624" y="2150846"/>
            <a:ext cx="2810385" cy="400110"/>
          </a:xfrm>
          <a:prstGeom prst="rect">
            <a:avLst/>
          </a:prstGeom>
          <a:noFill/>
        </p:spPr>
        <p:txBody>
          <a:bodyPr wrap="none" rtlCol="0">
            <a:spAutoFit/>
          </a:bodyPr>
          <a:lstStyle/>
          <a:p>
            <a:pPr algn="l"/>
            <a:r>
              <a:rPr lang="en-US" altLang="zh-CN" sz="2000" dirty="0">
                <a:solidFill>
                  <a:schemeClr val="bg1"/>
                </a:solidFill>
                <a:cs typeface="Amiri" panose="00000500000000000000" charset="0"/>
              </a:rPr>
              <a:t>02 </a:t>
            </a:r>
            <a:r>
              <a:rPr lang="zh-TW" altLang="en-US" sz="2000" dirty="0">
                <a:solidFill>
                  <a:schemeClr val="bg1"/>
                </a:solidFill>
                <a:cs typeface="Amiri" panose="00000500000000000000" charset="0"/>
              </a:rPr>
              <a:t>研究問題及解決方法</a:t>
            </a:r>
            <a:endParaRPr lang="zh-CN" altLang="en-US" sz="2000" dirty="0">
              <a:solidFill>
                <a:schemeClr val="bg1"/>
              </a:solidFill>
              <a:cs typeface="Amiri" panose="00000500000000000000" charset="0"/>
            </a:endParaRPr>
          </a:p>
        </p:txBody>
      </p:sp>
      <p:sp>
        <p:nvSpPr>
          <p:cNvPr id="26" name="文本框 25"/>
          <p:cNvSpPr txBox="1"/>
          <p:nvPr/>
        </p:nvSpPr>
        <p:spPr>
          <a:xfrm>
            <a:off x="1711624" y="2612498"/>
            <a:ext cx="2098651" cy="400110"/>
          </a:xfrm>
          <a:prstGeom prst="rect">
            <a:avLst/>
          </a:prstGeom>
          <a:noFill/>
        </p:spPr>
        <p:txBody>
          <a:bodyPr wrap="none" rtlCol="0">
            <a:spAutoFit/>
          </a:bodyPr>
          <a:lstStyle/>
          <a:p>
            <a:r>
              <a:rPr lang="en-US" altLang="zh-CN" sz="2000" dirty="0">
                <a:solidFill>
                  <a:schemeClr val="bg1"/>
                </a:solidFill>
                <a:cs typeface="Amiri" panose="00000500000000000000" charset="0"/>
              </a:rPr>
              <a:t>03 </a:t>
            </a:r>
            <a:r>
              <a:rPr lang="zh-TW" altLang="en-US" sz="2000" dirty="0">
                <a:solidFill>
                  <a:schemeClr val="bg1"/>
                </a:solidFill>
                <a:cs typeface="Amiri" panose="00000500000000000000" charset="0"/>
              </a:rPr>
              <a:t> 市場分析說明</a:t>
            </a:r>
            <a:endParaRPr lang="zh-CN" altLang="en-US" sz="2000" dirty="0">
              <a:solidFill>
                <a:schemeClr val="bg1"/>
              </a:solidFill>
              <a:cs typeface="Amiri" panose="00000500000000000000" charset="0"/>
            </a:endParaRPr>
          </a:p>
        </p:txBody>
      </p:sp>
      <p:sp>
        <p:nvSpPr>
          <p:cNvPr id="27" name="文本框 26"/>
          <p:cNvSpPr txBox="1"/>
          <p:nvPr/>
        </p:nvSpPr>
        <p:spPr>
          <a:xfrm>
            <a:off x="1711624" y="3028728"/>
            <a:ext cx="2297424" cy="400110"/>
          </a:xfrm>
          <a:prstGeom prst="rect">
            <a:avLst/>
          </a:prstGeom>
          <a:noFill/>
        </p:spPr>
        <p:txBody>
          <a:bodyPr wrap="none" rtlCol="0">
            <a:spAutoFit/>
          </a:bodyPr>
          <a:lstStyle/>
          <a:p>
            <a:r>
              <a:rPr lang="en-US" altLang="zh-CN" sz="2000" dirty="0">
                <a:solidFill>
                  <a:schemeClr val="bg1"/>
                </a:solidFill>
                <a:cs typeface="Amiri" panose="00000500000000000000" charset="0"/>
              </a:rPr>
              <a:t>04 </a:t>
            </a:r>
            <a:r>
              <a:rPr lang="zh-TW" altLang="en-US" sz="2000" dirty="0">
                <a:solidFill>
                  <a:schemeClr val="bg1"/>
                </a:solidFill>
                <a:cs typeface="Amiri" panose="00000500000000000000" charset="0"/>
              </a:rPr>
              <a:t>產品構思及運作</a:t>
            </a:r>
            <a:endParaRPr lang="zh-CN" altLang="en-US" sz="2000" dirty="0">
              <a:solidFill>
                <a:schemeClr val="bg1"/>
              </a:solidFill>
              <a:cs typeface="Amiri" panose="00000500000000000000" charset="0"/>
            </a:endParaRPr>
          </a:p>
        </p:txBody>
      </p:sp>
      <p:sp>
        <p:nvSpPr>
          <p:cNvPr id="28" name="文本框 27"/>
          <p:cNvSpPr txBox="1"/>
          <p:nvPr/>
        </p:nvSpPr>
        <p:spPr>
          <a:xfrm>
            <a:off x="1711624" y="3427508"/>
            <a:ext cx="2040943" cy="400110"/>
          </a:xfrm>
          <a:prstGeom prst="rect">
            <a:avLst/>
          </a:prstGeom>
          <a:noFill/>
        </p:spPr>
        <p:txBody>
          <a:bodyPr wrap="none" rtlCol="0">
            <a:spAutoFit/>
          </a:bodyPr>
          <a:lstStyle/>
          <a:p>
            <a:r>
              <a:rPr lang="en-US" altLang="zh-CN" sz="2000" dirty="0">
                <a:solidFill>
                  <a:schemeClr val="bg1"/>
                </a:solidFill>
                <a:cs typeface="Amiri" panose="00000500000000000000" charset="0"/>
              </a:rPr>
              <a:t>05 </a:t>
            </a:r>
            <a:r>
              <a:rPr lang="zh-TW" altLang="en-US" sz="2000" dirty="0">
                <a:solidFill>
                  <a:schemeClr val="bg1"/>
                </a:solidFill>
                <a:cs typeface="Amiri" panose="00000500000000000000" charset="0"/>
              </a:rPr>
              <a:t>競品分析對比</a:t>
            </a:r>
            <a:endParaRPr lang="zh-CN" altLang="en-US" sz="2000" dirty="0">
              <a:solidFill>
                <a:schemeClr val="bg1"/>
              </a:solidFill>
              <a:cs typeface="Amiri" panose="00000500000000000000" charset="0"/>
            </a:endParaRPr>
          </a:p>
        </p:txBody>
      </p:sp>
      <p:sp>
        <p:nvSpPr>
          <p:cNvPr id="29" name="文本框 28"/>
          <p:cNvSpPr txBox="1"/>
          <p:nvPr/>
        </p:nvSpPr>
        <p:spPr>
          <a:xfrm>
            <a:off x="1711624" y="4212075"/>
            <a:ext cx="1643399" cy="400110"/>
          </a:xfrm>
          <a:prstGeom prst="rect">
            <a:avLst/>
          </a:prstGeom>
          <a:noFill/>
        </p:spPr>
        <p:txBody>
          <a:bodyPr wrap="none" rtlCol="0">
            <a:spAutoFit/>
          </a:bodyPr>
          <a:lstStyle/>
          <a:p>
            <a:r>
              <a:rPr lang="en-US" altLang="zh-CN" sz="2000" dirty="0">
                <a:solidFill>
                  <a:schemeClr val="bg1"/>
                </a:solidFill>
                <a:cs typeface="Amiri" panose="00000500000000000000" charset="0"/>
              </a:rPr>
              <a:t>0</a:t>
            </a:r>
            <a:r>
              <a:rPr lang="en-US" altLang="zh-TW" sz="2000" dirty="0">
                <a:solidFill>
                  <a:schemeClr val="bg1"/>
                </a:solidFill>
                <a:cs typeface="Amiri" panose="00000500000000000000" charset="0"/>
              </a:rPr>
              <a:t>7</a:t>
            </a:r>
            <a:r>
              <a:rPr lang="zh-TW" altLang="en-US" sz="2000" dirty="0">
                <a:solidFill>
                  <a:schemeClr val="bg1"/>
                </a:solidFill>
                <a:cs typeface="Amiri" panose="00000500000000000000" charset="0"/>
              </a:rPr>
              <a:t> 商業模式</a:t>
            </a:r>
            <a:r>
              <a:rPr lang="en-US" altLang="zh-CN" sz="2000" dirty="0">
                <a:solidFill>
                  <a:schemeClr val="bg1"/>
                </a:solidFill>
                <a:cs typeface="Amiri" panose="00000500000000000000" charset="0"/>
              </a:rPr>
              <a:t> </a:t>
            </a:r>
            <a:endParaRPr lang="zh-CN" altLang="en-US" sz="2000" dirty="0">
              <a:solidFill>
                <a:schemeClr val="bg1"/>
              </a:solidFill>
              <a:cs typeface="Amiri" panose="00000500000000000000" charset="0"/>
            </a:endParaRPr>
          </a:p>
        </p:txBody>
      </p:sp>
      <p:cxnSp>
        <p:nvCxnSpPr>
          <p:cNvPr id="47" name="直接连接符 46"/>
          <p:cNvCxnSpPr/>
          <p:nvPr/>
        </p:nvCxnSpPr>
        <p:spPr>
          <a:xfrm>
            <a:off x="1711624" y="1495965"/>
            <a:ext cx="204046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文本框 28">
            <a:extLst>
              <a:ext uri="{FF2B5EF4-FFF2-40B4-BE49-F238E27FC236}">
                <a16:creationId xmlns:a16="http://schemas.microsoft.com/office/drawing/2014/main" id="{F34A75D0-CCB6-8A89-DB55-DE4DE49AF98F}"/>
              </a:ext>
            </a:extLst>
          </p:cNvPr>
          <p:cNvSpPr txBox="1"/>
          <p:nvPr/>
        </p:nvSpPr>
        <p:spPr>
          <a:xfrm>
            <a:off x="1711624" y="3819821"/>
            <a:ext cx="1527982" cy="400110"/>
          </a:xfrm>
          <a:prstGeom prst="rect">
            <a:avLst/>
          </a:prstGeom>
          <a:noFill/>
        </p:spPr>
        <p:txBody>
          <a:bodyPr wrap="none" rtlCol="0">
            <a:spAutoFit/>
          </a:bodyPr>
          <a:lstStyle/>
          <a:p>
            <a:r>
              <a:rPr lang="en-US" altLang="zh-CN" sz="2000" dirty="0">
                <a:solidFill>
                  <a:schemeClr val="bg1"/>
                </a:solidFill>
                <a:cs typeface="Amiri" panose="00000500000000000000" charset="0"/>
              </a:rPr>
              <a:t>06 </a:t>
            </a:r>
            <a:r>
              <a:rPr lang="zh-TW" altLang="en-US" sz="2000" dirty="0">
                <a:solidFill>
                  <a:schemeClr val="bg1"/>
                </a:solidFill>
                <a:cs typeface="Amiri" panose="00000500000000000000" charset="0"/>
              </a:rPr>
              <a:t>專利法規</a:t>
            </a:r>
            <a:endParaRPr lang="zh-CN" altLang="en-US" sz="2000" dirty="0">
              <a:solidFill>
                <a:schemeClr val="bg1"/>
              </a:solidFill>
              <a:cs typeface="Amiri" panose="00000500000000000000" charset="0"/>
            </a:endParaRPr>
          </a:p>
        </p:txBody>
      </p:sp>
      <p:sp>
        <p:nvSpPr>
          <p:cNvPr id="3" name="文本框 28">
            <a:extLst>
              <a:ext uri="{FF2B5EF4-FFF2-40B4-BE49-F238E27FC236}">
                <a16:creationId xmlns:a16="http://schemas.microsoft.com/office/drawing/2014/main" id="{60335B58-7B44-335B-7938-A2891A9AD364}"/>
              </a:ext>
            </a:extLst>
          </p:cNvPr>
          <p:cNvSpPr txBox="1"/>
          <p:nvPr/>
        </p:nvSpPr>
        <p:spPr>
          <a:xfrm>
            <a:off x="1711624" y="4573751"/>
            <a:ext cx="2372765" cy="400110"/>
          </a:xfrm>
          <a:prstGeom prst="rect">
            <a:avLst/>
          </a:prstGeom>
          <a:noFill/>
        </p:spPr>
        <p:txBody>
          <a:bodyPr wrap="none" rtlCol="0">
            <a:spAutoFit/>
          </a:bodyPr>
          <a:lstStyle/>
          <a:p>
            <a:r>
              <a:rPr lang="en-US" altLang="zh-CN" sz="2000" dirty="0">
                <a:solidFill>
                  <a:schemeClr val="bg1"/>
                </a:solidFill>
                <a:cs typeface="Amiri" panose="00000500000000000000" charset="0"/>
              </a:rPr>
              <a:t>0</a:t>
            </a:r>
            <a:r>
              <a:rPr lang="en-US" altLang="zh-TW" sz="2000" dirty="0">
                <a:solidFill>
                  <a:schemeClr val="bg1"/>
                </a:solidFill>
                <a:cs typeface="Amiri" panose="00000500000000000000" charset="0"/>
              </a:rPr>
              <a:t>8</a:t>
            </a:r>
            <a:r>
              <a:rPr lang="en-US" altLang="zh-CN" sz="2000" dirty="0">
                <a:solidFill>
                  <a:schemeClr val="bg1"/>
                </a:solidFill>
                <a:cs typeface="Amiri" panose="00000500000000000000" charset="0"/>
              </a:rPr>
              <a:t> </a:t>
            </a:r>
            <a:r>
              <a:rPr lang="zh-TW" altLang="en-US" sz="2000" dirty="0">
                <a:solidFill>
                  <a:schemeClr val="bg1"/>
                </a:solidFill>
                <a:cs typeface="Amiri" panose="00000500000000000000" charset="0"/>
              </a:rPr>
              <a:t>時間與進度規劃</a:t>
            </a:r>
            <a:endParaRPr lang="zh-CN" altLang="en-US" sz="2000" dirty="0">
              <a:solidFill>
                <a:schemeClr val="bg1"/>
              </a:solidFill>
              <a:cs typeface="Amiri" panose="00000500000000000000" charset="0"/>
            </a:endParaRPr>
          </a:p>
        </p:txBody>
      </p:sp>
      <p:sp>
        <p:nvSpPr>
          <p:cNvPr id="4" name="文本框 28">
            <a:extLst>
              <a:ext uri="{FF2B5EF4-FFF2-40B4-BE49-F238E27FC236}">
                <a16:creationId xmlns:a16="http://schemas.microsoft.com/office/drawing/2014/main" id="{C815C5E2-AABD-E3C3-940E-BB9D1BA93D11}"/>
              </a:ext>
            </a:extLst>
          </p:cNvPr>
          <p:cNvSpPr txBox="1"/>
          <p:nvPr/>
        </p:nvSpPr>
        <p:spPr>
          <a:xfrm>
            <a:off x="1711624" y="5375271"/>
            <a:ext cx="1527982" cy="400110"/>
          </a:xfrm>
          <a:prstGeom prst="rect">
            <a:avLst/>
          </a:prstGeom>
          <a:noFill/>
        </p:spPr>
        <p:txBody>
          <a:bodyPr wrap="none" rtlCol="0">
            <a:spAutoFit/>
          </a:bodyPr>
          <a:lstStyle/>
          <a:p>
            <a:r>
              <a:rPr lang="en-US" altLang="zh-TW" sz="2000" dirty="0">
                <a:solidFill>
                  <a:schemeClr val="bg1"/>
                </a:solidFill>
                <a:cs typeface="Amiri" panose="00000500000000000000" charset="0"/>
              </a:rPr>
              <a:t>10</a:t>
            </a:r>
            <a:r>
              <a:rPr lang="en-US" altLang="zh-CN" sz="2000" dirty="0">
                <a:solidFill>
                  <a:schemeClr val="bg1"/>
                </a:solidFill>
                <a:cs typeface="Amiri" panose="00000500000000000000" charset="0"/>
              </a:rPr>
              <a:t> </a:t>
            </a:r>
            <a:r>
              <a:rPr lang="zh-TW" altLang="en-US" sz="2000" dirty="0">
                <a:solidFill>
                  <a:schemeClr val="bg1"/>
                </a:solidFill>
                <a:cs typeface="Amiri" panose="00000500000000000000" charset="0"/>
              </a:rPr>
              <a:t>參考文獻</a:t>
            </a:r>
            <a:endParaRPr lang="zh-CN" altLang="en-US" sz="2000" dirty="0">
              <a:solidFill>
                <a:schemeClr val="bg1"/>
              </a:solidFill>
              <a:cs typeface="Amiri" panose="00000500000000000000" charset="0"/>
            </a:endParaRPr>
          </a:p>
        </p:txBody>
      </p:sp>
      <p:sp>
        <p:nvSpPr>
          <p:cNvPr id="5" name="文本框 28">
            <a:extLst>
              <a:ext uri="{FF2B5EF4-FFF2-40B4-BE49-F238E27FC236}">
                <a16:creationId xmlns:a16="http://schemas.microsoft.com/office/drawing/2014/main" id="{F16F11C1-22C0-79BE-662D-659A20DE4946}"/>
              </a:ext>
            </a:extLst>
          </p:cNvPr>
          <p:cNvSpPr txBox="1"/>
          <p:nvPr/>
        </p:nvSpPr>
        <p:spPr>
          <a:xfrm>
            <a:off x="1711624" y="4976491"/>
            <a:ext cx="1015021" cy="400110"/>
          </a:xfrm>
          <a:prstGeom prst="rect">
            <a:avLst/>
          </a:prstGeom>
          <a:noFill/>
        </p:spPr>
        <p:txBody>
          <a:bodyPr wrap="none" rtlCol="0">
            <a:spAutoFit/>
          </a:bodyPr>
          <a:lstStyle/>
          <a:p>
            <a:r>
              <a:rPr lang="en-US" altLang="zh-CN" sz="2000" dirty="0">
                <a:solidFill>
                  <a:schemeClr val="bg1"/>
                </a:solidFill>
                <a:cs typeface="Amiri" panose="00000500000000000000" charset="0"/>
              </a:rPr>
              <a:t>0</a:t>
            </a:r>
            <a:r>
              <a:rPr lang="en-US" altLang="zh-TW" sz="2000" dirty="0">
                <a:solidFill>
                  <a:schemeClr val="bg1"/>
                </a:solidFill>
                <a:cs typeface="Amiri" panose="00000500000000000000" charset="0"/>
              </a:rPr>
              <a:t>9</a:t>
            </a:r>
            <a:r>
              <a:rPr lang="en-US" altLang="zh-CN" sz="2000" dirty="0">
                <a:solidFill>
                  <a:schemeClr val="bg1"/>
                </a:solidFill>
                <a:cs typeface="Amiri" panose="00000500000000000000" charset="0"/>
              </a:rPr>
              <a:t> </a:t>
            </a:r>
            <a:r>
              <a:rPr lang="zh-TW" altLang="en-US" sz="2000" dirty="0">
                <a:solidFill>
                  <a:schemeClr val="bg1"/>
                </a:solidFill>
                <a:cs typeface="Amiri" panose="00000500000000000000" charset="0"/>
              </a:rPr>
              <a:t>結論</a:t>
            </a:r>
            <a:endParaRPr lang="zh-CN" altLang="en-US" sz="2000" dirty="0">
              <a:solidFill>
                <a:schemeClr val="bg1"/>
              </a:solidFill>
              <a:cs typeface="Amiri" panose="00000500000000000000"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040" y="2557780"/>
            <a:ext cx="11448415" cy="1754326"/>
          </a:xfrm>
          <a:prstGeom prst="rect">
            <a:avLst/>
          </a:prstGeom>
          <a:noFill/>
        </p:spPr>
        <p:txBody>
          <a:bodyPr wrap="square" rtlCol="0">
            <a:spAutoFit/>
          </a:bodyPr>
          <a:lstStyle/>
          <a:p>
            <a:r>
              <a:rPr lang="en-US" altLang="zh-TW" sz="5400" b="1" dirty="0">
                <a:solidFill>
                  <a:schemeClr val="bg1"/>
                </a:solidFill>
                <a:cs typeface="Amiri" panose="00000500000000000000" charset="0"/>
              </a:rPr>
              <a:t>01</a:t>
            </a:r>
          </a:p>
          <a:p>
            <a:r>
              <a:rPr lang="zh-TW" altLang="en-US" sz="5400" b="1" dirty="0">
                <a:solidFill>
                  <a:schemeClr val="bg1"/>
                </a:solidFill>
                <a:cs typeface="Amiri" panose="00000500000000000000" charset="0"/>
              </a:rPr>
              <a:t> 研究動機及解決方法</a:t>
            </a:r>
            <a:endParaRPr lang="en-US" altLang="zh-CN" sz="5400" b="1"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1</a:t>
            </a:r>
            <a:endParaRPr lang="zh-CN" altLang="en-US" sz="4000" u="sng" dirty="0">
              <a:solidFill>
                <a:srgbClr val="1A9895"/>
              </a:solidFill>
              <a:cs typeface="Amiri" panose="00000500000000000000" charset="0"/>
            </a:endParaRPr>
          </a:p>
        </p:txBody>
      </p:sp>
      <p:sp>
        <p:nvSpPr>
          <p:cNvPr id="4" name="矩形 3"/>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研究動機及臨床需求</a:t>
            </a:r>
            <a:endParaRPr lang="zh-CN" altLang="en-US" sz="3600" dirty="0">
              <a:cs typeface="Amiri" panose="00000500000000000000" charset="0"/>
            </a:endParaRPr>
          </a:p>
        </p:txBody>
      </p:sp>
      <p:sp>
        <p:nvSpPr>
          <p:cNvPr id="6" name="文本框 5"/>
          <p:cNvSpPr txBox="1"/>
          <p:nvPr/>
        </p:nvSpPr>
        <p:spPr>
          <a:xfrm>
            <a:off x="8159804" y="841892"/>
            <a:ext cx="3246402" cy="1569660"/>
          </a:xfrm>
          <a:prstGeom prst="rect">
            <a:avLst/>
          </a:prstGeom>
          <a:noFill/>
        </p:spPr>
        <p:txBody>
          <a:bodyPr wrap="none" rtlCol="0">
            <a:spAutoFit/>
          </a:bodyPr>
          <a:lstStyle/>
          <a:p>
            <a:r>
              <a:rPr lang="en-US" altLang="zh-TW" sz="9600" dirty="0">
                <a:solidFill>
                  <a:srgbClr val="1A9895"/>
                </a:solidFill>
                <a:cs typeface="Amiri" panose="00000500000000000000" charset="0"/>
              </a:rPr>
              <a:t>38.7</a:t>
            </a:r>
            <a:r>
              <a:rPr lang="en-US" altLang="zh-CN" sz="9600" dirty="0">
                <a:solidFill>
                  <a:srgbClr val="1A9895"/>
                </a:solidFill>
                <a:cs typeface="Amiri" panose="00000500000000000000" charset="0"/>
              </a:rPr>
              <a:t>%</a:t>
            </a:r>
            <a:endParaRPr lang="zh-CN" altLang="en-US" sz="9600" dirty="0">
              <a:solidFill>
                <a:srgbClr val="1A9895"/>
              </a:solidFill>
              <a:cs typeface="Amiri" panose="00000500000000000000" charset="0"/>
            </a:endParaRPr>
          </a:p>
        </p:txBody>
      </p:sp>
      <p:sp>
        <p:nvSpPr>
          <p:cNvPr id="7" name="矩形 6"/>
          <p:cNvSpPr/>
          <p:nvPr/>
        </p:nvSpPr>
        <p:spPr>
          <a:xfrm>
            <a:off x="8209005" y="2192600"/>
            <a:ext cx="3433646" cy="1015663"/>
          </a:xfrm>
          <a:prstGeom prst="rect">
            <a:avLst/>
          </a:prstGeom>
        </p:spPr>
        <p:txBody>
          <a:bodyPr wrap="square">
            <a:spAutoFit/>
          </a:bodyPr>
          <a:lstStyle/>
          <a:p>
            <a:r>
              <a:rPr lang="zh-TW" altLang="en-US" sz="2000" b="1" dirty="0">
                <a:solidFill>
                  <a:srgbClr val="1A9895"/>
                </a:solidFill>
                <a:effectLst/>
                <a:ea typeface="標楷體" panose="03000509000000000000" pitchFamily="65" charset="-120"/>
                <a:cs typeface="Gungsuh" panose="02030600000101010101" pitchFamily="18" charset="-127"/>
              </a:rPr>
              <a:t>學齡前兒童視力矯正黃金期</a:t>
            </a:r>
            <a:endParaRPr lang="en-US" altLang="zh-TW" sz="2000" b="1" dirty="0">
              <a:solidFill>
                <a:srgbClr val="1A9895"/>
              </a:solidFill>
              <a:effectLst/>
              <a:ea typeface="標楷體" panose="03000509000000000000" pitchFamily="65" charset="-120"/>
              <a:cs typeface="Gungsuh" panose="02030600000101010101" pitchFamily="18" charset="-127"/>
            </a:endParaRPr>
          </a:p>
          <a:p>
            <a:r>
              <a:rPr lang="zh-TW" altLang="en-US" sz="2000" b="1" dirty="0">
                <a:solidFill>
                  <a:srgbClr val="1A9895"/>
                </a:solidFill>
                <a:ea typeface="標楷體" panose="03000509000000000000" pitchFamily="65" charset="-120"/>
                <a:cs typeface="Amiri" panose="00000500000000000000" charset="0"/>
              </a:rPr>
              <a:t>幼兒視力疾病須早期發現、早期治療</a:t>
            </a:r>
            <a:endParaRPr lang="zh-CN" altLang="en-US" sz="2000" b="1" dirty="0">
              <a:solidFill>
                <a:srgbClr val="231F20"/>
              </a:solidFill>
              <a:cs typeface="Amiri" panose="00000500000000000000" charset="0"/>
            </a:endParaRPr>
          </a:p>
        </p:txBody>
      </p:sp>
      <p:sp>
        <p:nvSpPr>
          <p:cNvPr id="8" name="矩形 7"/>
          <p:cNvSpPr/>
          <p:nvPr/>
        </p:nvSpPr>
        <p:spPr>
          <a:xfrm>
            <a:off x="8269878" y="3290777"/>
            <a:ext cx="3372773" cy="1862498"/>
          </a:xfrm>
          <a:prstGeom prst="rect">
            <a:avLst/>
          </a:prstGeom>
        </p:spPr>
        <p:txBody>
          <a:bodyPr wrap="square">
            <a:spAutoFit/>
          </a:bodyPr>
          <a:lstStyle/>
          <a:p>
            <a:pPr algn="just">
              <a:lnSpc>
                <a:spcPct val="130000"/>
              </a:lnSpc>
            </a:pPr>
            <a:r>
              <a:rPr lang="zh-TW" altLang="en-US" dirty="0">
                <a:ea typeface="標楷體" panose="03000509000000000000" pitchFamily="65" charset="-120"/>
                <a:cs typeface="Gungsuh" panose="02030600000101010101" pitchFamily="18" charset="-127"/>
              </a:rPr>
              <a:t>矯正視力黃金期為</a:t>
            </a:r>
            <a:r>
              <a:rPr lang="zh-TW" altLang="zh-TW" sz="1800" dirty="0">
                <a:effectLst/>
                <a:ea typeface="標楷體" panose="03000509000000000000" pitchFamily="65" charset="-120"/>
                <a:cs typeface="Gungsuh" panose="02030600000101010101" pitchFamily="18" charset="-127"/>
              </a:rPr>
              <a:t>6至9歲之間，</a:t>
            </a:r>
            <a:r>
              <a:rPr lang="zh-TW" altLang="en-US" sz="1800" dirty="0">
                <a:effectLst/>
                <a:ea typeface="標楷體" panose="03000509000000000000" pitchFamily="65" charset="-120"/>
                <a:cs typeface="Gungsuh" panose="02030600000101010101" pitchFamily="18" charset="-127"/>
              </a:rPr>
              <a:t>本</a:t>
            </a:r>
            <a:r>
              <a:rPr lang="zh-TW" altLang="zh-TW" sz="1800" dirty="0">
                <a:effectLst/>
                <a:ea typeface="標楷體" panose="03000509000000000000" pitchFamily="65" charset="-120"/>
                <a:cs typeface="Gungsuh" panose="02030600000101010101" pitchFamily="18" charset="-127"/>
              </a:rPr>
              <a:t>時期是視覺發展和神經可塑性最高的階段</a:t>
            </a:r>
            <a:r>
              <a:rPr lang="zh-TW" altLang="en-US" sz="1800" dirty="0">
                <a:effectLst/>
                <a:ea typeface="標楷體" panose="03000509000000000000" pitchFamily="65" charset="-120"/>
                <a:cs typeface="Gungsuh" panose="02030600000101010101" pitchFamily="18" charset="-127"/>
              </a:rPr>
              <a:t>，</a:t>
            </a:r>
            <a:r>
              <a:rPr lang="zh-TW" altLang="zh-TW" sz="1800" dirty="0">
                <a:effectLst/>
                <a:ea typeface="標楷體" panose="03000509000000000000" pitchFamily="65" charset="-120"/>
                <a:cs typeface="Gungsuh" panose="02030600000101010101" pitchFamily="18" charset="-127"/>
              </a:rPr>
              <a:t>早期診斷和及時治療是確保視覺系統正常發展的關鍵因素</a:t>
            </a:r>
            <a:endParaRPr sz="1100" dirty="0">
              <a:solidFill>
                <a:srgbClr val="231F20"/>
              </a:solidFill>
              <a:latin typeface="Amiri" panose="00000500000000000000" charset="0"/>
              <a:ea typeface="Amiri" panose="00000500000000000000" charset="0"/>
              <a:cs typeface="Amiri" panose="00000500000000000000" charset="0"/>
            </a:endParaRPr>
          </a:p>
        </p:txBody>
      </p:sp>
      <p:graphicFrame>
        <p:nvGraphicFramePr>
          <p:cNvPr id="9" name="圖表 8">
            <a:extLst>
              <a:ext uri="{FF2B5EF4-FFF2-40B4-BE49-F238E27FC236}">
                <a16:creationId xmlns:a16="http://schemas.microsoft.com/office/drawing/2014/main" id="{947580B0-466A-124F-7BD8-F476886AD7BC}"/>
              </a:ext>
            </a:extLst>
          </p:cNvPr>
          <p:cNvGraphicFramePr>
            <a:graphicFrameLocks/>
          </p:cNvGraphicFramePr>
          <p:nvPr>
            <p:extLst>
              <p:ext uri="{D42A27DB-BD31-4B8C-83A1-F6EECF244321}">
                <p14:modId xmlns:p14="http://schemas.microsoft.com/office/powerpoint/2010/main" val="2638993317"/>
              </p:ext>
            </p:extLst>
          </p:nvPr>
        </p:nvGraphicFramePr>
        <p:xfrm>
          <a:off x="1136451" y="1543078"/>
          <a:ext cx="6616461" cy="4177238"/>
        </p:xfrm>
        <a:graphic>
          <a:graphicData uri="http://schemas.openxmlformats.org/drawingml/2006/chart">
            <c:chart xmlns:c="http://schemas.openxmlformats.org/drawingml/2006/chart" xmlns:r="http://schemas.openxmlformats.org/officeDocument/2006/relationships" r:id="rId2"/>
          </a:graphicData>
        </a:graphic>
      </p:graphicFrame>
      <p:sp>
        <p:nvSpPr>
          <p:cNvPr id="10" name="文字方塊 9">
            <a:extLst>
              <a:ext uri="{FF2B5EF4-FFF2-40B4-BE49-F238E27FC236}">
                <a16:creationId xmlns:a16="http://schemas.microsoft.com/office/drawing/2014/main" id="{F7B6F620-78F2-E33C-89EC-8E363874FC50}"/>
              </a:ext>
            </a:extLst>
          </p:cNvPr>
          <p:cNvSpPr txBox="1"/>
          <p:nvPr/>
        </p:nvSpPr>
        <p:spPr>
          <a:xfrm>
            <a:off x="1403498" y="1765005"/>
            <a:ext cx="3570208" cy="461665"/>
          </a:xfrm>
          <a:prstGeom prst="rect">
            <a:avLst/>
          </a:prstGeom>
          <a:noFill/>
        </p:spPr>
        <p:txBody>
          <a:bodyPr wrap="none" rtlCol="0">
            <a:spAutoFit/>
          </a:bodyPr>
          <a:lstStyle/>
          <a:p>
            <a:r>
              <a:rPr lang="zh-TW" altLang="en-US" sz="2400" dirty="0">
                <a:solidFill>
                  <a:schemeClr val="bg1"/>
                </a:solidFill>
              </a:rPr>
              <a:t>兒童青少年視力監測調查</a:t>
            </a:r>
          </a:p>
        </p:txBody>
      </p:sp>
      <p:sp>
        <p:nvSpPr>
          <p:cNvPr id="11" name="文字方塊 10">
            <a:extLst>
              <a:ext uri="{FF2B5EF4-FFF2-40B4-BE49-F238E27FC236}">
                <a16:creationId xmlns:a16="http://schemas.microsoft.com/office/drawing/2014/main" id="{E8EDE108-1FA6-9BD5-C5F3-D52DEA989C5C}"/>
              </a:ext>
            </a:extLst>
          </p:cNvPr>
          <p:cNvSpPr txBox="1"/>
          <p:nvPr/>
        </p:nvSpPr>
        <p:spPr>
          <a:xfrm>
            <a:off x="5964865" y="5815151"/>
            <a:ext cx="1920719" cy="369332"/>
          </a:xfrm>
          <a:prstGeom prst="rect">
            <a:avLst/>
          </a:prstGeom>
          <a:noFill/>
        </p:spPr>
        <p:txBody>
          <a:bodyPr wrap="none" rtlCol="0">
            <a:spAutoFit/>
          </a:bodyPr>
          <a:lstStyle/>
          <a:p>
            <a:r>
              <a:rPr lang="en-US" altLang="zh-TW" dirty="0"/>
              <a:t>106</a:t>
            </a:r>
            <a:r>
              <a:rPr lang="zh-TW" altLang="en-US" dirty="0"/>
              <a:t>年國民健康署</a:t>
            </a:r>
          </a:p>
        </p:txBody>
      </p:sp>
    </p:spTree>
    <p:extLst>
      <p:ext uri="{BB962C8B-B14F-4D97-AF65-F5344CB8AC3E}">
        <p14:creationId xmlns:p14="http://schemas.microsoft.com/office/powerpoint/2010/main" val="170044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01</a:t>
            </a:r>
            <a:endParaRPr lang="zh-CN" altLang="en-US" sz="4000" u="sng" dirty="0">
              <a:solidFill>
                <a:srgbClr val="1A9895"/>
              </a:solidFill>
              <a:cs typeface="Amiri" panose="00000500000000000000" charset="0"/>
            </a:endParaRPr>
          </a:p>
        </p:txBody>
      </p:sp>
      <p:grpSp>
        <p:nvGrpSpPr>
          <p:cNvPr id="5" name="组合 4"/>
          <p:cNvGrpSpPr/>
          <p:nvPr/>
        </p:nvGrpSpPr>
        <p:grpSpPr>
          <a:xfrm>
            <a:off x="4114954" y="1660221"/>
            <a:ext cx="200891" cy="599943"/>
            <a:chOff x="2008778" y="2574004"/>
            <a:chExt cx="380273" cy="1135650"/>
          </a:xfrm>
          <a:solidFill>
            <a:srgbClr val="DADADA"/>
          </a:solidFill>
        </p:grpSpPr>
        <p:sp>
          <p:nvSpPr>
            <p:cNvPr id="6" name="圆角矩形 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7" name="Group 61"/>
            <p:cNvGrpSpPr/>
            <p:nvPr/>
          </p:nvGrpSpPr>
          <p:grpSpPr>
            <a:xfrm>
              <a:off x="2025107" y="2574004"/>
              <a:ext cx="347391" cy="392181"/>
              <a:chOff x="1368786" y="1195986"/>
              <a:chExt cx="1009650" cy="1139826"/>
            </a:xfrm>
            <a:grpFill/>
          </p:grpSpPr>
          <p:sp>
            <p:nvSpPr>
              <p:cNvPr id="1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8" name="圆角矩形 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9" name="圆角矩形 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 name="圆角矩形 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1" name="圆角矩形 1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5" name="组合 14"/>
          <p:cNvGrpSpPr/>
          <p:nvPr/>
        </p:nvGrpSpPr>
        <p:grpSpPr>
          <a:xfrm>
            <a:off x="2431110" y="2043422"/>
            <a:ext cx="269553" cy="804996"/>
            <a:chOff x="2008778" y="2574004"/>
            <a:chExt cx="380273" cy="1135650"/>
          </a:xfrm>
          <a:solidFill>
            <a:srgbClr val="DADADA"/>
          </a:solidFill>
        </p:grpSpPr>
        <p:sp>
          <p:nvSpPr>
            <p:cNvPr id="16" name="圆角矩形 1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7" name="Group 61"/>
            <p:cNvGrpSpPr/>
            <p:nvPr/>
          </p:nvGrpSpPr>
          <p:grpSpPr>
            <a:xfrm>
              <a:off x="2025107" y="2574004"/>
              <a:ext cx="347391" cy="392181"/>
              <a:chOff x="1368786" y="1195986"/>
              <a:chExt cx="1009650" cy="1139826"/>
            </a:xfrm>
            <a:grpFill/>
          </p:grpSpPr>
          <p:sp>
            <p:nvSpPr>
              <p:cNvPr id="2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8" name="圆角矩形 1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9" name="圆角矩形 1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0" name="圆角矩形 1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1" name="圆角矩形 2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5" name="组合 24"/>
          <p:cNvGrpSpPr/>
          <p:nvPr/>
        </p:nvGrpSpPr>
        <p:grpSpPr>
          <a:xfrm>
            <a:off x="4442502" y="2073438"/>
            <a:ext cx="226369" cy="676029"/>
            <a:chOff x="2008778" y="2574004"/>
            <a:chExt cx="380273" cy="1135650"/>
          </a:xfrm>
          <a:solidFill>
            <a:srgbClr val="DADADA"/>
          </a:solidFill>
        </p:grpSpPr>
        <p:sp>
          <p:nvSpPr>
            <p:cNvPr id="26" name="圆角矩形 2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7" name="Group 61"/>
            <p:cNvGrpSpPr/>
            <p:nvPr/>
          </p:nvGrpSpPr>
          <p:grpSpPr>
            <a:xfrm>
              <a:off x="2025107" y="2574004"/>
              <a:ext cx="347391" cy="392181"/>
              <a:chOff x="1368786" y="1195986"/>
              <a:chExt cx="1009650" cy="1139826"/>
            </a:xfrm>
            <a:grpFill/>
          </p:grpSpPr>
          <p:sp>
            <p:nvSpPr>
              <p:cNvPr id="3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8" name="圆角矩形 2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9" name="圆角矩形 2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0" name="圆角矩形 2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1" name="圆角矩形 3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35" name="组合 34"/>
          <p:cNvGrpSpPr/>
          <p:nvPr/>
        </p:nvGrpSpPr>
        <p:grpSpPr>
          <a:xfrm>
            <a:off x="4183886" y="2225102"/>
            <a:ext cx="268710" cy="802477"/>
            <a:chOff x="2008778" y="2574004"/>
            <a:chExt cx="380273" cy="1135650"/>
          </a:xfrm>
          <a:solidFill>
            <a:srgbClr val="A1D3D0"/>
          </a:solidFill>
        </p:grpSpPr>
        <p:sp>
          <p:nvSpPr>
            <p:cNvPr id="36" name="圆角矩形 3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7" name="Group 61"/>
            <p:cNvGrpSpPr/>
            <p:nvPr/>
          </p:nvGrpSpPr>
          <p:grpSpPr>
            <a:xfrm>
              <a:off x="2025107" y="2574004"/>
              <a:ext cx="347391" cy="392181"/>
              <a:chOff x="1368786" y="1195986"/>
              <a:chExt cx="1009650" cy="1139826"/>
            </a:xfrm>
            <a:grpFill/>
          </p:grpSpPr>
          <p:sp>
            <p:nvSpPr>
              <p:cNvPr id="4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4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4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38" name="圆角矩形 3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9" name="圆角矩形 3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40" name="圆角矩形 3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41" name="圆角矩形 4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45" name="组合 44"/>
          <p:cNvGrpSpPr/>
          <p:nvPr/>
        </p:nvGrpSpPr>
        <p:grpSpPr>
          <a:xfrm>
            <a:off x="4859995" y="2376638"/>
            <a:ext cx="273146" cy="815722"/>
            <a:chOff x="2008778" y="2574004"/>
            <a:chExt cx="380273" cy="1135650"/>
          </a:xfrm>
          <a:solidFill>
            <a:srgbClr val="A1D3D0"/>
          </a:solidFill>
        </p:grpSpPr>
        <p:sp>
          <p:nvSpPr>
            <p:cNvPr id="46" name="圆角矩形 4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47" name="Group 61"/>
            <p:cNvGrpSpPr/>
            <p:nvPr/>
          </p:nvGrpSpPr>
          <p:grpSpPr>
            <a:xfrm>
              <a:off x="2025107" y="2574004"/>
              <a:ext cx="347391" cy="392181"/>
              <a:chOff x="1368786" y="1195986"/>
              <a:chExt cx="1009650" cy="1139826"/>
            </a:xfrm>
            <a:grpFill/>
          </p:grpSpPr>
          <p:sp>
            <p:nvSpPr>
              <p:cNvPr id="5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5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5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48" name="圆角矩形 4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49" name="圆角矩形 4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50" name="圆角矩形 4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51" name="圆角矩形 5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55" name="组合 54"/>
          <p:cNvGrpSpPr/>
          <p:nvPr/>
        </p:nvGrpSpPr>
        <p:grpSpPr>
          <a:xfrm>
            <a:off x="1196821" y="2482306"/>
            <a:ext cx="301028" cy="898992"/>
            <a:chOff x="2008778" y="2574004"/>
            <a:chExt cx="380273" cy="1135650"/>
          </a:xfrm>
          <a:solidFill>
            <a:srgbClr val="A1D3D0"/>
          </a:solidFill>
        </p:grpSpPr>
        <p:sp>
          <p:nvSpPr>
            <p:cNvPr id="56" name="圆角矩形 5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57" name="Group 61"/>
            <p:cNvGrpSpPr/>
            <p:nvPr/>
          </p:nvGrpSpPr>
          <p:grpSpPr>
            <a:xfrm>
              <a:off x="2025107" y="2574004"/>
              <a:ext cx="347391" cy="392181"/>
              <a:chOff x="1368786" y="1195986"/>
              <a:chExt cx="1009650" cy="1139826"/>
            </a:xfrm>
            <a:grpFill/>
          </p:grpSpPr>
          <p:sp>
            <p:nvSpPr>
              <p:cNvPr id="6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6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6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58" name="圆角矩形 5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59" name="圆角矩形 5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60" name="圆角矩形 5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61" name="圆角矩形 6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65" name="组合 64"/>
          <p:cNvGrpSpPr/>
          <p:nvPr/>
        </p:nvGrpSpPr>
        <p:grpSpPr>
          <a:xfrm>
            <a:off x="1433066" y="3083158"/>
            <a:ext cx="383219" cy="1144451"/>
            <a:chOff x="2008778" y="2574004"/>
            <a:chExt cx="380273" cy="1135650"/>
          </a:xfrm>
          <a:solidFill>
            <a:srgbClr val="A1D3D0"/>
          </a:solidFill>
        </p:grpSpPr>
        <p:sp>
          <p:nvSpPr>
            <p:cNvPr id="66" name="圆角矩形 6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67" name="Group 61"/>
            <p:cNvGrpSpPr/>
            <p:nvPr/>
          </p:nvGrpSpPr>
          <p:grpSpPr>
            <a:xfrm>
              <a:off x="2025107" y="2574004"/>
              <a:ext cx="347391" cy="392181"/>
              <a:chOff x="1368786" y="1195986"/>
              <a:chExt cx="1009650" cy="1139826"/>
            </a:xfrm>
            <a:grpFill/>
          </p:grpSpPr>
          <p:sp>
            <p:nvSpPr>
              <p:cNvPr id="7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7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7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68" name="圆角矩形 6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69" name="圆角矩形 6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0" name="圆角矩形 6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1" name="圆角矩形 7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75" name="组合 74"/>
          <p:cNvGrpSpPr/>
          <p:nvPr/>
        </p:nvGrpSpPr>
        <p:grpSpPr>
          <a:xfrm>
            <a:off x="3425752" y="2413262"/>
            <a:ext cx="301028" cy="898992"/>
            <a:chOff x="2008778" y="2574004"/>
            <a:chExt cx="380273" cy="1135650"/>
          </a:xfrm>
          <a:solidFill>
            <a:srgbClr val="A1D3D0"/>
          </a:solidFill>
        </p:grpSpPr>
        <p:sp>
          <p:nvSpPr>
            <p:cNvPr id="76" name="圆角矩形 7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77" name="Group 61"/>
            <p:cNvGrpSpPr/>
            <p:nvPr/>
          </p:nvGrpSpPr>
          <p:grpSpPr>
            <a:xfrm>
              <a:off x="2025107" y="2574004"/>
              <a:ext cx="347391" cy="392181"/>
              <a:chOff x="1368786" y="1195986"/>
              <a:chExt cx="1009650" cy="1139826"/>
            </a:xfrm>
            <a:grpFill/>
          </p:grpSpPr>
          <p:sp>
            <p:nvSpPr>
              <p:cNvPr id="8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8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8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78" name="圆角矩形 7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9" name="圆角矩形 7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80" name="圆角矩形 7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81" name="圆角矩形 8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85" name="组合 84"/>
          <p:cNvGrpSpPr/>
          <p:nvPr/>
        </p:nvGrpSpPr>
        <p:grpSpPr>
          <a:xfrm>
            <a:off x="1688367" y="2356651"/>
            <a:ext cx="301028" cy="898992"/>
            <a:chOff x="2008778" y="2574004"/>
            <a:chExt cx="380273" cy="1135650"/>
          </a:xfrm>
          <a:solidFill>
            <a:srgbClr val="A1D3D0"/>
          </a:solidFill>
        </p:grpSpPr>
        <p:sp>
          <p:nvSpPr>
            <p:cNvPr id="86" name="圆角矩形 8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87" name="Group 61"/>
            <p:cNvGrpSpPr/>
            <p:nvPr/>
          </p:nvGrpSpPr>
          <p:grpSpPr>
            <a:xfrm>
              <a:off x="2025107" y="2574004"/>
              <a:ext cx="347391" cy="392181"/>
              <a:chOff x="1368786" y="1195986"/>
              <a:chExt cx="1009650" cy="1139826"/>
            </a:xfrm>
            <a:grpFill/>
          </p:grpSpPr>
          <p:sp>
            <p:nvSpPr>
              <p:cNvPr id="9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9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9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88" name="圆角矩形 8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89" name="圆角矩形 8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90" name="圆角矩形 8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91" name="圆角矩形 9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95" name="组合 94"/>
          <p:cNvGrpSpPr/>
          <p:nvPr/>
        </p:nvGrpSpPr>
        <p:grpSpPr>
          <a:xfrm>
            <a:off x="4421449" y="2731713"/>
            <a:ext cx="301028" cy="898992"/>
            <a:chOff x="2008778" y="2574004"/>
            <a:chExt cx="380273" cy="1135650"/>
          </a:xfrm>
          <a:solidFill>
            <a:srgbClr val="A1D3D0"/>
          </a:solidFill>
        </p:grpSpPr>
        <p:sp>
          <p:nvSpPr>
            <p:cNvPr id="96" name="圆角矩形 9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97" name="Group 61"/>
            <p:cNvGrpSpPr/>
            <p:nvPr/>
          </p:nvGrpSpPr>
          <p:grpSpPr>
            <a:xfrm>
              <a:off x="2025107" y="2574004"/>
              <a:ext cx="347391" cy="392181"/>
              <a:chOff x="1368786" y="1195986"/>
              <a:chExt cx="1009650" cy="1139826"/>
            </a:xfrm>
            <a:grpFill/>
          </p:grpSpPr>
          <p:sp>
            <p:nvSpPr>
              <p:cNvPr id="10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0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0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98" name="圆角矩形 9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99" name="圆角矩形 9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0" name="圆角矩形 9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1" name="圆角矩形 10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05" name="组合 104"/>
          <p:cNvGrpSpPr/>
          <p:nvPr/>
        </p:nvGrpSpPr>
        <p:grpSpPr>
          <a:xfrm>
            <a:off x="2007791" y="1974246"/>
            <a:ext cx="276736" cy="826445"/>
            <a:chOff x="2008778" y="2574004"/>
            <a:chExt cx="380273" cy="1135650"/>
          </a:xfrm>
          <a:solidFill>
            <a:srgbClr val="A1D3D0"/>
          </a:solidFill>
        </p:grpSpPr>
        <p:sp>
          <p:nvSpPr>
            <p:cNvPr id="106" name="圆角矩形 10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07" name="Group 61"/>
            <p:cNvGrpSpPr/>
            <p:nvPr/>
          </p:nvGrpSpPr>
          <p:grpSpPr>
            <a:xfrm>
              <a:off x="2025107" y="2574004"/>
              <a:ext cx="347391" cy="392181"/>
              <a:chOff x="1368786" y="1195986"/>
              <a:chExt cx="1009650" cy="1139826"/>
            </a:xfrm>
            <a:grpFill/>
          </p:grpSpPr>
          <p:sp>
            <p:nvSpPr>
              <p:cNvPr id="11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1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1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08" name="圆角矩形 10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9" name="圆角矩形 10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10" name="圆角矩形 10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11" name="圆角矩形 11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15" name="组合 114"/>
          <p:cNvGrpSpPr/>
          <p:nvPr/>
        </p:nvGrpSpPr>
        <p:grpSpPr>
          <a:xfrm>
            <a:off x="2567757" y="2418324"/>
            <a:ext cx="341396" cy="1019548"/>
            <a:chOff x="2008778" y="2574004"/>
            <a:chExt cx="380273" cy="1135650"/>
          </a:xfrm>
          <a:solidFill>
            <a:srgbClr val="A1D3D0"/>
          </a:solidFill>
        </p:grpSpPr>
        <p:sp>
          <p:nvSpPr>
            <p:cNvPr id="116" name="圆角矩形 11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17" name="Group 61"/>
            <p:cNvGrpSpPr/>
            <p:nvPr/>
          </p:nvGrpSpPr>
          <p:grpSpPr>
            <a:xfrm>
              <a:off x="2025107" y="2574004"/>
              <a:ext cx="347391" cy="392181"/>
              <a:chOff x="1368786" y="1195986"/>
              <a:chExt cx="1009650" cy="1139826"/>
            </a:xfrm>
            <a:grpFill/>
          </p:grpSpPr>
          <p:sp>
            <p:nvSpPr>
              <p:cNvPr id="12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2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2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18" name="圆角矩形 11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19" name="圆角矩形 11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20" name="圆角矩形 11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21" name="圆角矩形 12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25" name="组合 124"/>
          <p:cNvGrpSpPr/>
          <p:nvPr/>
        </p:nvGrpSpPr>
        <p:grpSpPr>
          <a:xfrm>
            <a:off x="3056192" y="2773401"/>
            <a:ext cx="383219" cy="1144451"/>
            <a:chOff x="2008778" y="2574004"/>
            <a:chExt cx="380273" cy="1135650"/>
          </a:xfrm>
          <a:solidFill>
            <a:srgbClr val="A1D3D0"/>
          </a:solidFill>
        </p:grpSpPr>
        <p:sp>
          <p:nvSpPr>
            <p:cNvPr id="126" name="圆角矩形 12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27" name="Group 61"/>
            <p:cNvGrpSpPr/>
            <p:nvPr/>
          </p:nvGrpSpPr>
          <p:grpSpPr>
            <a:xfrm>
              <a:off x="2025107" y="2574004"/>
              <a:ext cx="347391" cy="392181"/>
              <a:chOff x="1368786" y="1195986"/>
              <a:chExt cx="1009650" cy="1139826"/>
            </a:xfrm>
            <a:grpFill/>
          </p:grpSpPr>
          <p:sp>
            <p:nvSpPr>
              <p:cNvPr id="13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3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3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28" name="圆角矩形 12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29" name="圆角矩形 12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30" name="圆角矩形 12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31" name="圆角矩形 13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35" name="组合 134"/>
          <p:cNvGrpSpPr/>
          <p:nvPr/>
        </p:nvGrpSpPr>
        <p:grpSpPr>
          <a:xfrm>
            <a:off x="3884784" y="2596284"/>
            <a:ext cx="380992" cy="1137796"/>
            <a:chOff x="2008778" y="2574004"/>
            <a:chExt cx="380273" cy="1135650"/>
          </a:xfrm>
          <a:solidFill>
            <a:srgbClr val="1A9895"/>
          </a:solidFill>
        </p:grpSpPr>
        <p:sp>
          <p:nvSpPr>
            <p:cNvPr id="136" name="圆角矩形 13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37" name="Group 61"/>
            <p:cNvGrpSpPr/>
            <p:nvPr/>
          </p:nvGrpSpPr>
          <p:grpSpPr>
            <a:xfrm>
              <a:off x="2025107" y="2574004"/>
              <a:ext cx="347391" cy="392181"/>
              <a:chOff x="1368786" y="1195986"/>
              <a:chExt cx="1009650" cy="1139826"/>
            </a:xfrm>
            <a:grpFill/>
          </p:grpSpPr>
          <p:sp>
            <p:nvSpPr>
              <p:cNvPr id="14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4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4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38" name="圆角矩形 13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39" name="圆角矩形 13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40" name="圆角矩形 13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41" name="圆角矩形 14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45" name="组合 144"/>
          <p:cNvGrpSpPr/>
          <p:nvPr/>
        </p:nvGrpSpPr>
        <p:grpSpPr>
          <a:xfrm>
            <a:off x="1005877" y="3346089"/>
            <a:ext cx="380992" cy="1137796"/>
            <a:chOff x="2008778" y="2574004"/>
            <a:chExt cx="380273" cy="1135650"/>
          </a:xfrm>
          <a:solidFill>
            <a:srgbClr val="1A9895"/>
          </a:solidFill>
        </p:grpSpPr>
        <p:sp>
          <p:nvSpPr>
            <p:cNvPr id="146" name="圆角矩形 14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47" name="Group 61"/>
            <p:cNvGrpSpPr/>
            <p:nvPr/>
          </p:nvGrpSpPr>
          <p:grpSpPr>
            <a:xfrm>
              <a:off x="2025107" y="2574004"/>
              <a:ext cx="347391" cy="392181"/>
              <a:chOff x="1368786" y="1195986"/>
              <a:chExt cx="1009650" cy="1139826"/>
            </a:xfrm>
            <a:grpFill/>
          </p:grpSpPr>
          <p:sp>
            <p:nvSpPr>
              <p:cNvPr id="15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5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5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48" name="圆角矩形 14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49" name="圆角矩形 14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50" name="圆角矩形 14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51" name="圆角矩形 15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55" name="组合 154"/>
          <p:cNvGrpSpPr/>
          <p:nvPr/>
        </p:nvGrpSpPr>
        <p:grpSpPr>
          <a:xfrm>
            <a:off x="2147061" y="2708008"/>
            <a:ext cx="380992" cy="1137796"/>
            <a:chOff x="2008778" y="2574004"/>
            <a:chExt cx="380273" cy="1135650"/>
          </a:xfrm>
          <a:solidFill>
            <a:srgbClr val="1A9895"/>
          </a:solidFill>
        </p:grpSpPr>
        <p:sp>
          <p:nvSpPr>
            <p:cNvPr id="156" name="圆角矩形 15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57" name="Group 61"/>
            <p:cNvGrpSpPr/>
            <p:nvPr/>
          </p:nvGrpSpPr>
          <p:grpSpPr>
            <a:xfrm>
              <a:off x="2025107" y="2574004"/>
              <a:ext cx="347391" cy="392181"/>
              <a:chOff x="1368786" y="1195986"/>
              <a:chExt cx="1009650" cy="1139826"/>
            </a:xfrm>
            <a:grpFill/>
          </p:grpSpPr>
          <p:sp>
            <p:nvSpPr>
              <p:cNvPr id="16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6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6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58" name="圆角矩形 15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59" name="圆角矩形 15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60" name="圆角矩形 15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61" name="圆角矩形 16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65" name="组合 164"/>
          <p:cNvGrpSpPr/>
          <p:nvPr/>
        </p:nvGrpSpPr>
        <p:grpSpPr>
          <a:xfrm>
            <a:off x="2636912" y="3336341"/>
            <a:ext cx="444240" cy="1326683"/>
            <a:chOff x="2008778" y="2574004"/>
            <a:chExt cx="380273" cy="1135650"/>
          </a:xfrm>
          <a:solidFill>
            <a:srgbClr val="1A9895"/>
          </a:solidFill>
        </p:grpSpPr>
        <p:sp>
          <p:nvSpPr>
            <p:cNvPr id="166" name="圆角矩形 16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67" name="Group 61"/>
            <p:cNvGrpSpPr/>
            <p:nvPr/>
          </p:nvGrpSpPr>
          <p:grpSpPr>
            <a:xfrm>
              <a:off x="2025107" y="2574004"/>
              <a:ext cx="347391" cy="392181"/>
              <a:chOff x="1368786" y="1195986"/>
              <a:chExt cx="1009650" cy="1139826"/>
            </a:xfrm>
            <a:grpFill/>
          </p:grpSpPr>
          <p:sp>
            <p:nvSpPr>
              <p:cNvPr id="17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7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7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68" name="圆角矩形 16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69" name="圆角矩形 16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70" name="圆角矩形 16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71" name="圆角矩形 17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75" name="组合 174"/>
          <p:cNvGrpSpPr/>
          <p:nvPr/>
        </p:nvGrpSpPr>
        <p:grpSpPr>
          <a:xfrm>
            <a:off x="3469366" y="3529773"/>
            <a:ext cx="444240" cy="1326683"/>
            <a:chOff x="2008778" y="2574004"/>
            <a:chExt cx="380273" cy="1135650"/>
          </a:xfrm>
          <a:solidFill>
            <a:srgbClr val="1A9895"/>
          </a:solidFill>
        </p:grpSpPr>
        <p:sp>
          <p:nvSpPr>
            <p:cNvPr id="176" name="圆角矩形 17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77" name="Group 61"/>
            <p:cNvGrpSpPr/>
            <p:nvPr/>
          </p:nvGrpSpPr>
          <p:grpSpPr>
            <a:xfrm>
              <a:off x="2025107" y="2574004"/>
              <a:ext cx="347391" cy="392181"/>
              <a:chOff x="1368786" y="1195986"/>
              <a:chExt cx="1009650" cy="1139826"/>
            </a:xfrm>
            <a:grpFill/>
          </p:grpSpPr>
          <p:sp>
            <p:nvSpPr>
              <p:cNvPr id="18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8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8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78" name="圆角矩形 17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79" name="圆角矩形 17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80" name="圆角矩形 17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81" name="圆角矩形 18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85" name="组合 184"/>
          <p:cNvGrpSpPr/>
          <p:nvPr/>
        </p:nvGrpSpPr>
        <p:grpSpPr>
          <a:xfrm>
            <a:off x="4507951" y="3533427"/>
            <a:ext cx="422896" cy="1262941"/>
            <a:chOff x="2008778" y="2574004"/>
            <a:chExt cx="380273" cy="1135650"/>
          </a:xfrm>
          <a:solidFill>
            <a:srgbClr val="1A9895"/>
          </a:solidFill>
        </p:grpSpPr>
        <p:sp>
          <p:nvSpPr>
            <p:cNvPr id="186" name="圆角矩形 18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87" name="Group 61"/>
            <p:cNvGrpSpPr/>
            <p:nvPr/>
          </p:nvGrpSpPr>
          <p:grpSpPr>
            <a:xfrm>
              <a:off x="2025107" y="2574004"/>
              <a:ext cx="347391" cy="392181"/>
              <a:chOff x="1368786" y="1195986"/>
              <a:chExt cx="1009650" cy="1139826"/>
            </a:xfrm>
            <a:grpFill/>
          </p:grpSpPr>
          <p:sp>
            <p:nvSpPr>
              <p:cNvPr id="19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9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19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88" name="圆角矩形 18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89" name="圆角矩形 18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90" name="圆角矩形 18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91" name="圆角矩形 19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195" name="组合 194"/>
          <p:cNvGrpSpPr/>
          <p:nvPr/>
        </p:nvGrpSpPr>
        <p:grpSpPr>
          <a:xfrm>
            <a:off x="1732654" y="3424470"/>
            <a:ext cx="444449" cy="1327307"/>
            <a:chOff x="2008778" y="2574004"/>
            <a:chExt cx="380273" cy="1135650"/>
          </a:xfrm>
          <a:solidFill>
            <a:srgbClr val="1A9895"/>
          </a:solidFill>
        </p:grpSpPr>
        <p:sp>
          <p:nvSpPr>
            <p:cNvPr id="196" name="圆角矩形 19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197" name="Group 61"/>
            <p:cNvGrpSpPr/>
            <p:nvPr/>
          </p:nvGrpSpPr>
          <p:grpSpPr>
            <a:xfrm>
              <a:off x="2025107" y="2574004"/>
              <a:ext cx="347391" cy="392181"/>
              <a:chOff x="1368786" y="1195986"/>
              <a:chExt cx="1009650" cy="1139826"/>
            </a:xfrm>
            <a:grpFill/>
          </p:grpSpPr>
          <p:sp>
            <p:nvSpPr>
              <p:cNvPr id="20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0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0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198" name="圆角矩形 19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99" name="圆角矩形 19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00" name="圆角矩形 19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01" name="圆角矩形 20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05" name="组合 204"/>
          <p:cNvGrpSpPr/>
          <p:nvPr/>
        </p:nvGrpSpPr>
        <p:grpSpPr>
          <a:xfrm>
            <a:off x="2927132" y="4125410"/>
            <a:ext cx="607348" cy="1813787"/>
            <a:chOff x="2008778" y="2574004"/>
            <a:chExt cx="380273" cy="1135650"/>
          </a:xfrm>
          <a:solidFill>
            <a:srgbClr val="1A9895"/>
          </a:solidFill>
        </p:grpSpPr>
        <p:sp>
          <p:nvSpPr>
            <p:cNvPr id="206" name="圆角矩形 20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07" name="Group 61"/>
            <p:cNvGrpSpPr/>
            <p:nvPr/>
          </p:nvGrpSpPr>
          <p:grpSpPr>
            <a:xfrm>
              <a:off x="2025107" y="2574004"/>
              <a:ext cx="347391" cy="392181"/>
              <a:chOff x="1368786" y="1195986"/>
              <a:chExt cx="1009650" cy="1139826"/>
            </a:xfrm>
            <a:grpFill/>
          </p:grpSpPr>
          <p:sp>
            <p:nvSpPr>
              <p:cNvPr id="21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1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1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08" name="圆角矩形 20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09" name="圆角矩形 20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10" name="圆角矩形 20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11" name="圆角矩形 21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15" name="组合 214"/>
          <p:cNvGrpSpPr/>
          <p:nvPr/>
        </p:nvGrpSpPr>
        <p:grpSpPr>
          <a:xfrm>
            <a:off x="2201166" y="3939805"/>
            <a:ext cx="489396" cy="1461535"/>
            <a:chOff x="2008778" y="2574004"/>
            <a:chExt cx="380273" cy="1135650"/>
          </a:xfrm>
          <a:solidFill>
            <a:srgbClr val="1A9895"/>
          </a:solidFill>
        </p:grpSpPr>
        <p:sp>
          <p:nvSpPr>
            <p:cNvPr id="216" name="圆角矩形 21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17" name="Group 61"/>
            <p:cNvGrpSpPr/>
            <p:nvPr/>
          </p:nvGrpSpPr>
          <p:grpSpPr>
            <a:xfrm>
              <a:off x="2025107" y="2574004"/>
              <a:ext cx="347391" cy="392181"/>
              <a:chOff x="1368786" y="1195986"/>
              <a:chExt cx="1009650" cy="1139826"/>
            </a:xfrm>
            <a:grpFill/>
          </p:grpSpPr>
          <p:sp>
            <p:nvSpPr>
              <p:cNvPr id="22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2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2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18" name="圆角矩形 21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19" name="圆角矩形 21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20" name="圆角矩形 21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21" name="圆角矩形 22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25" name="组合 224"/>
          <p:cNvGrpSpPr/>
          <p:nvPr/>
        </p:nvGrpSpPr>
        <p:grpSpPr>
          <a:xfrm>
            <a:off x="3921859" y="4000977"/>
            <a:ext cx="489396" cy="1461535"/>
            <a:chOff x="2008778" y="2574004"/>
            <a:chExt cx="380273" cy="1135650"/>
          </a:xfrm>
          <a:solidFill>
            <a:srgbClr val="1A9895"/>
          </a:solidFill>
        </p:grpSpPr>
        <p:sp>
          <p:nvSpPr>
            <p:cNvPr id="226" name="圆角矩形 22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27" name="Group 61"/>
            <p:cNvGrpSpPr/>
            <p:nvPr/>
          </p:nvGrpSpPr>
          <p:grpSpPr>
            <a:xfrm>
              <a:off x="2025107" y="2574004"/>
              <a:ext cx="347391" cy="392181"/>
              <a:chOff x="1368786" y="1195986"/>
              <a:chExt cx="1009650" cy="1139826"/>
            </a:xfrm>
            <a:grpFill/>
          </p:grpSpPr>
          <p:sp>
            <p:nvSpPr>
              <p:cNvPr id="23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3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3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28" name="圆角矩形 22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29" name="圆角矩形 22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30" name="圆角矩形 22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31" name="圆角矩形 23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35" name="组合 234"/>
          <p:cNvGrpSpPr/>
          <p:nvPr/>
        </p:nvGrpSpPr>
        <p:grpSpPr>
          <a:xfrm>
            <a:off x="2998915" y="1944878"/>
            <a:ext cx="269553" cy="804996"/>
            <a:chOff x="2008778" y="2574004"/>
            <a:chExt cx="380273" cy="1135650"/>
          </a:xfrm>
          <a:solidFill>
            <a:srgbClr val="DADADA"/>
          </a:solidFill>
        </p:grpSpPr>
        <p:sp>
          <p:nvSpPr>
            <p:cNvPr id="236" name="圆角矩形 23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37" name="Group 61"/>
            <p:cNvGrpSpPr/>
            <p:nvPr/>
          </p:nvGrpSpPr>
          <p:grpSpPr>
            <a:xfrm>
              <a:off x="2025107" y="2574004"/>
              <a:ext cx="347391" cy="392181"/>
              <a:chOff x="1368786" y="1195986"/>
              <a:chExt cx="1009650" cy="1139826"/>
            </a:xfrm>
            <a:grpFill/>
          </p:grpSpPr>
          <p:sp>
            <p:nvSpPr>
              <p:cNvPr id="24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4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4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38" name="圆角矩形 23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39" name="圆角矩形 23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40" name="圆角矩形 23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41" name="圆角矩形 24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45" name="组合 244"/>
          <p:cNvGrpSpPr/>
          <p:nvPr/>
        </p:nvGrpSpPr>
        <p:grpSpPr>
          <a:xfrm>
            <a:off x="3736880" y="1791860"/>
            <a:ext cx="226369" cy="676029"/>
            <a:chOff x="2008778" y="2574004"/>
            <a:chExt cx="380273" cy="1135650"/>
          </a:xfrm>
          <a:solidFill>
            <a:srgbClr val="DADADA"/>
          </a:solidFill>
        </p:grpSpPr>
        <p:sp>
          <p:nvSpPr>
            <p:cNvPr id="246" name="圆角矩形 24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47" name="Group 61"/>
            <p:cNvGrpSpPr/>
            <p:nvPr/>
          </p:nvGrpSpPr>
          <p:grpSpPr>
            <a:xfrm>
              <a:off x="2025107" y="2574004"/>
              <a:ext cx="347391" cy="392181"/>
              <a:chOff x="1368786" y="1195986"/>
              <a:chExt cx="1009650" cy="1139826"/>
            </a:xfrm>
            <a:grpFill/>
          </p:grpSpPr>
          <p:sp>
            <p:nvSpPr>
              <p:cNvPr id="25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5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5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48" name="圆角矩形 24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49" name="圆角矩形 24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50" name="圆角矩形 24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51" name="圆角矩形 25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55" name="组合 254"/>
          <p:cNvGrpSpPr/>
          <p:nvPr/>
        </p:nvGrpSpPr>
        <p:grpSpPr>
          <a:xfrm>
            <a:off x="1450647" y="1871223"/>
            <a:ext cx="214840" cy="641601"/>
            <a:chOff x="2008778" y="2574004"/>
            <a:chExt cx="380273" cy="1135650"/>
          </a:xfrm>
          <a:solidFill>
            <a:srgbClr val="DADADA"/>
          </a:solidFill>
        </p:grpSpPr>
        <p:sp>
          <p:nvSpPr>
            <p:cNvPr id="256" name="圆角矩形 25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57" name="Group 61"/>
            <p:cNvGrpSpPr/>
            <p:nvPr/>
          </p:nvGrpSpPr>
          <p:grpSpPr>
            <a:xfrm>
              <a:off x="2025107" y="2574004"/>
              <a:ext cx="347391" cy="392181"/>
              <a:chOff x="1368786" y="1195986"/>
              <a:chExt cx="1009650" cy="1139826"/>
            </a:xfrm>
            <a:grpFill/>
          </p:grpSpPr>
          <p:sp>
            <p:nvSpPr>
              <p:cNvPr id="26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6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6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58" name="圆角矩形 25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59" name="圆角矩形 25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60" name="圆角矩形 25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61" name="圆角矩形 26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65" name="组合 264"/>
          <p:cNvGrpSpPr/>
          <p:nvPr/>
        </p:nvGrpSpPr>
        <p:grpSpPr>
          <a:xfrm>
            <a:off x="4691855" y="1759882"/>
            <a:ext cx="200891" cy="599943"/>
            <a:chOff x="2008778" y="2574004"/>
            <a:chExt cx="380273" cy="1135650"/>
          </a:xfrm>
          <a:solidFill>
            <a:srgbClr val="DADADA"/>
          </a:solidFill>
        </p:grpSpPr>
        <p:sp>
          <p:nvSpPr>
            <p:cNvPr id="266" name="圆角矩形 26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67" name="Group 61"/>
            <p:cNvGrpSpPr/>
            <p:nvPr/>
          </p:nvGrpSpPr>
          <p:grpSpPr>
            <a:xfrm>
              <a:off x="2025107" y="2574004"/>
              <a:ext cx="347391" cy="392181"/>
              <a:chOff x="1368786" y="1195986"/>
              <a:chExt cx="1009650" cy="1139826"/>
            </a:xfrm>
            <a:grpFill/>
          </p:grpSpPr>
          <p:sp>
            <p:nvSpPr>
              <p:cNvPr id="27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7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7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68" name="圆角矩形 26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69" name="圆角矩形 26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70" name="圆角矩形 26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71" name="圆角矩形 27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75" name="组合 274"/>
          <p:cNvGrpSpPr/>
          <p:nvPr/>
        </p:nvGrpSpPr>
        <p:grpSpPr>
          <a:xfrm>
            <a:off x="5204975" y="1838042"/>
            <a:ext cx="200891" cy="599943"/>
            <a:chOff x="2008778" y="2574004"/>
            <a:chExt cx="380273" cy="1135650"/>
          </a:xfrm>
          <a:solidFill>
            <a:srgbClr val="DADADA"/>
          </a:solidFill>
        </p:grpSpPr>
        <p:sp>
          <p:nvSpPr>
            <p:cNvPr id="276" name="圆角矩形 27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77" name="Group 61"/>
            <p:cNvGrpSpPr/>
            <p:nvPr/>
          </p:nvGrpSpPr>
          <p:grpSpPr>
            <a:xfrm>
              <a:off x="2025107" y="2574004"/>
              <a:ext cx="347391" cy="392181"/>
              <a:chOff x="1368786" y="1195986"/>
              <a:chExt cx="1009650" cy="1139826"/>
            </a:xfrm>
            <a:grpFill/>
          </p:grpSpPr>
          <p:sp>
            <p:nvSpPr>
              <p:cNvPr id="28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8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8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78" name="圆角矩形 27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79" name="圆角矩形 27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80" name="圆角矩形 27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81" name="圆角矩形 28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85" name="组合 284"/>
          <p:cNvGrpSpPr/>
          <p:nvPr/>
        </p:nvGrpSpPr>
        <p:grpSpPr>
          <a:xfrm>
            <a:off x="979938" y="1997271"/>
            <a:ext cx="191489" cy="571866"/>
            <a:chOff x="2008778" y="2574004"/>
            <a:chExt cx="380273" cy="1135650"/>
          </a:xfrm>
          <a:solidFill>
            <a:srgbClr val="DADADA"/>
          </a:solidFill>
        </p:grpSpPr>
        <p:sp>
          <p:nvSpPr>
            <p:cNvPr id="286" name="圆角矩形 28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87" name="Group 61"/>
            <p:cNvGrpSpPr/>
            <p:nvPr/>
          </p:nvGrpSpPr>
          <p:grpSpPr>
            <a:xfrm>
              <a:off x="2025107" y="2574004"/>
              <a:ext cx="347391" cy="392181"/>
              <a:chOff x="1368786" y="1195986"/>
              <a:chExt cx="1009650" cy="1139826"/>
            </a:xfrm>
            <a:grpFill/>
          </p:grpSpPr>
          <p:sp>
            <p:nvSpPr>
              <p:cNvPr id="29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9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29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88" name="圆角矩形 28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89" name="圆角矩形 28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90" name="圆角矩形 28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91" name="圆角矩形 29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295" name="组合 294"/>
          <p:cNvGrpSpPr/>
          <p:nvPr/>
        </p:nvGrpSpPr>
        <p:grpSpPr>
          <a:xfrm>
            <a:off x="5028641" y="3067220"/>
            <a:ext cx="380992" cy="1137796"/>
            <a:chOff x="2008778" y="2574004"/>
            <a:chExt cx="380273" cy="1135650"/>
          </a:xfrm>
          <a:solidFill>
            <a:srgbClr val="1A9895"/>
          </a:solidFill>
        </p:grpSpPr>
        <p:sp>
          <p:nvSpPr>
            <p:cNvPr id="296" name="圆角矩形 29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297" name="Group 61"/>
            <p:cNvGrpSpPr/>
            <p:nvPr/>
          </p:nvGrpSpPr>
          <p:grpSpPr>
            <a:xfrm>
              <a:off x="2025107" y="2574004"/>
              <a:ext cx="347391" cy="392181"/>
              <a:chOff x="1368786" y="1195986"/>
              <a:chExt cx="1009650" cy="1139826"/>
            </a:xfrm>
            <a:grpFill/>
          </p:grpSpPr>
          <p:sp>
            <p:nvSpPr>
              <p:cNvPr id="30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0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0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298" name="圆角矩形 29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299" name="圆角矩形 29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00" name="圆角矩形 29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01" name="圆角矩形 30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305" name="组合 304"/>
          <p:cNvGrpSpPr/>
          <p:nvPr/>
        </p:nvGrpSpPr>
        <p:grpSpPr>
          <a:xfrm>
            <a:off x="748648" y="2632988"/>
            <a:ext cx="301028" cy="898992"/>
            <a:chOff x="2008778" y="2574004"/>
            <a:chExt cx="380273" cy="1135650"/>
          </a:xfrm>
          <a:solidFill>
            <a:srgbClr val="A1D3D0"/>
          </a:solidFill>
        </p:grpSpPr>
        <p:sp>
          <p:nvSpPr>
            <p:cNvPr id="306" name="圆角矩形 30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07" name="Group 61"/>
            <p:cNvGrpSpPr/>
            <p:nvPr/>
          </p:nvGrpSpPr>
          <p:grpSpPr>
            <a:xfrm>
              <a:off x="2025107" y="2574004"/>
              <a:ext cx="347391" cy="392181"/>
              <a:chOff x="1368786" y="1195986"/>
              <a:chExt cx="1009650" cy="1139826"/>
            </a:xfrm>
            <a:grpFill/>
          </p:grpSpPr>
          <p:sp>
            <p:nvSpPr>
              <p:cNvPr id="31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1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1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308" name="圆角矩形 30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09" name="圆角矩形 30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10" name="圆角矩形 30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11" name="圆角矩形 31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315" name="组合 314"/>
          <p:cNvGrpSpPr/>
          <p:nvPr/>
        </p:nvGrpSpPr>
        <p:grpSpPr>
          <a:xfrm>
            <a:off x="3366464" y="1691722"/>
            <a:ext cx="232368" cy="693944"/>
            <a:chOff x="2008778" y="2574004"/>
            <a:chExt cx="380273" cy="1135650"/>
          </a:xfrm>
          <a:solidFill>
            <a:srgbClr val="DADADA"/>
          </a:solidFill>
        </p:grpSpPr>
        <p:sp>
          <p:nvSpPr>
            <p:cNvPr id="316" name="圆角矩形 31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17" name="Group 61"/>
            <p:cNvGrpSpPr/>
            <p:nvPr/>
          </p:nvGrpSpPr>
          <p:grpSpPr>
            <a:xfrm>
              <a:off x="2025107" y="2574004"/>
              <a:ext cx="347391" cy="392181"/>
              <a:chOff x="1368786" y="1195986"/>
              <a:chExt cx="1009650" cy="1139826"/>
            </a:xfrm>
            <a:grpFill/>
          </p:grpSpPr>
          <p:sp>
            <p:nvSpPr>
              <p:cNvPr id="32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2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2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318" name="圆角矩形 31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19" name="圆角矩形 31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20" name="圆角矩形 31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21" name="圆角矩形 32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325" name="组合 324"/>
          <p:cNvGrpSpPr/>
          <p:nvPr/>
        </p:nvGrpSpPr>
        <p:grpSpPr>
          <a:xfrm>
            <a:off x="1749696" y="1680383"/>
            <a:ext cx="174978" cy="522555"/>
            <a:chOff x="2008778" y="2574004"/>
            <a:chExt cx="380273" cy="1135650"/>
          </a:xfrm>
          <a:solidFill>
            <a:srgbClr val="DADADA"/>
          </a:solidFill>
        </p:grpSpPr>
        <p:sp>
          <p:nvSpPr>
            <p:cNvPr id="326" name="圆角矩形 32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27" name="Group 61"/>
            <p:cNvGrpSpPr/>
            <p:nvPr/>
          </p:nvGrpSpPr>
          <p:grpSpPr>
            <a:xfrm>
              <a:off x="2025107" y="2574004"/>
              <a:ext cx="347391" cy="392181"/>
              <a:chOff x="1368786" y="1195986"/>
              <a:chExt cx="1009650" cy="1139826"/>
            </a:xfrm>
            <a:grpFill/>
          </p:grpSpPr>
          <p:sp>
            <p:nvSpPr>
              <p:cNvPr id="33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3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3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328" name="圆角矩形 32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29" name="圆角矩形 32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30" name="圆角矩形 32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31" name="圆角矩形 33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grpSp>
        <p:nvGrpSpPr>
          <p:cNvPr id="335" name="组合 334"/>
          <p:cNvGrpSpPr/>
          <p:nvPr/>
        </p:nvGrpSpPr>
        <p:grpSpPr>
          <a:xfrm>
            <a:off x="5387718" y="2414010"/>
            <a:ext cx="237403" cy="708981"/>
            <a:chOff x="2008778" y="2574004"/>
            <a:chExt cx="380273" cy="1135650"/>
          </a:xfrm>
          <a:solidFill>
            <a:srgbClr val="A1D3D0"/>
          </a:solidFill>
        </p:grpSpPr>
        <p:sp>
          <p:nvSpPr>
            <p:cNvPr id="336" name="圆角矩形 335"/>
            <p:cNvSpPr/>
            <p:nvPr/>
          </p:nvSpPr>
          <p:spPr>
            <a:xfrm>
              <a:off x="2081583" y="2935539"/>
              <a:ext cx="234440" cy="255846"/>
            </a:xfrm>
            <a:prstGeom prst="roundRect">
              <a:avLst>
                <a:gd name="adj" fmla="val 349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nvGrpSpPr>
            <p:cNvPr id="337" name="Group 61"/>
            <p:cNvGrpSpPr/>
            <p:nvPr/>
          </p:nvGrpSpPr>
          <p:grpSpPr>
            <a:xfrm>
              <a:off x="2025107" y="2574004"/>
              <a:ext cx="347391" cy="392181"/>
              <a:chOff x="1368786" y="1195986"/>
              <a:chExt cx="1009650" cy="1139826"/>
            </a:xfrm>
            <a:grpFill/>
          </p:grpSpPr>
          <p:sp>
            <p:nvSpPr>
              <p:cNvPr id="342" name="Freeform 6"/>
              <p:cNvSpPr>
                <a:spLocks noEditPoints="1"/>
              </p:cNvSpPr>
              <p:nvPr/>
            </p:nvSpPr>
            <p:spPr bwMode="auto">
              <a:xfrm>
                <a:off x="1643423" y="1195986"/>
                <a:ext cx="460375" cy="598488"/>
              </a:xfrm>
              <a:custGeom>
                <a:avLst/>
                <a:gdLst>
                  <a:gd name="T0" fmla="*/ 41 w 122"/>
                  <a:gd name="T1" fmla="*/ 4 h 159"/>
                  <a:gd name="T2" fmla="*/ 97 w 122"/>
                  <a:gd name="T3" fmla="*/ 12 h 159"/>
                  <a:gd name="T4" fmla="*/ 120 w 122"/>
                  <a:gd name="T5" fmla="*/ 58 h 159"/>
                  <a:gd name="T6" fmla="*/ 121 w 122"/>
                  <a:gd name="T7" fmla="*/ 94 h 159"/>
                  <a:gd name="T8" fmla="*/ 103 w 122"/>
                  <a:gd name="T9" fmla="*/ 126 h 159"/>
                  <a:gd name="T10" fmla="*/ 63 w 122"/>
                  <a:gd name="T11" fmla="*/ 157 h 159"/>
                  <a:gd name="T12" fmla="*/ 19 w 122"/>
                  <a:gd name="T13" fmla="*/ 126 h 159"/>
                  <a:gd name="T14" fmla="*/ 1 w 122"/>
                  <a:gd name="T15" fmla="*/ 94 h 159"/>
                  <a:gd name="T16" fmla="*/ 3 w 122"/>
                  <a:gd name="T17" fmla="*/ 46 h 159"/>
                  <a:gd name="T18" fmla="*/ 41 w 122"/>
                  <a:gd name="T19" fmla="*/ 4 h 159"/>
                  <a:gd name="T20" fmla="*/ 19 w 122"/>
                  <a:gd name="T21" fmla="*/ 80 h 159"/>
                  <a:gd name="T22" fmla="*/ 41 w 122"/>
                  <a:gd name="T23" fmla="*/ 136 h 159"/>
                  <a:gd name="T24" fmla="*/ 77 w 122"/>
                  <a:gd name="T25" fmla="*/ 140 h 159"/>
                  <a:gd name="T26" fmla="*/ 104 w 122"/>
                  <a:gd name="T27" fmla="*/ 73 h 159"/>
                  <a:gd name="T28" fmla="*/ 79 w 122"/>
                  <a:gd name="T29" fmla="*/ 54 h 159"/>
                  <a:gd name="T30" fmla="*/ 19 w 122"/>
                  <a:gd name="T31"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59">
                    <a:moveTo>
                      <a:pt x="41" y="4"/>
                    </a:moveTo>
                    <a:cubicBezTo>
                      <a:pt x="59" y="0"/>
                      <a:pt x="80" y="2"/>
                      <a:pt x="97" y="12"/>
                    </a:cubicBezTo>
                    <a:cubicBezTo>
                      <a:pt x="112" y="22"/>
                      <a:pt x="121" y="40"/>
                      <a:pt x="120" y="58"/>
                    </a:cubicBezTo>
                    <a:cubicBezTo>
                      <a:pt x="119" y="70"/>
                      <a:pt x="122" y="82"/>
                      <a:pt x="121" y="94"/>
                    </a:cubicBezTo>
                    <a:cubicBezTo>
                      <a:pt x="117" y="106"/>
                      <a:pt x="108" y="115"/>
                      <a:pt x="103" y="126"/>
                    </a:cubicBezTo>
                    <a:cubicBezTo>
                      <a:pt x="96" y="142"/>
                      <a:pt x="82" y="157"/>
                      <a:pt x="63" y="157"/>
                    </a:cubicBezTo>
                    <a:cubicBezTo>
                      <a:pt x="43" y="159"/>
                      <a:pt x="27" y="143"/>
                      <a:pt x="19" y="126"/>
                    </a:cubicBezTo>
                    <a:cubicBezTo>
                      <a:pt x="14" y="115"/>
                      <a:pt x="5" y="105"/>
                      <a:pt x="1" y="94"/>
                    </a:cubicBezTo>
                    <a:cubicBezTo>
                      <a:pt x="1" y="78"/>
                      <a:pt x="0" y="62"/>
                      <a:pt x="3" y="46"/>
                    </a:cubicBezTo>
                    <a:cubicBezTo>
                      <a:pt x="7" y="27"/>
                      <a:pt x="21" y="9"/>
                      <a:pt x="41" y="4"/>
                    </a:cubicBezTo>
                    <a:close/>
                    <a:moveTo>
                      <a:pt x="19" y="80"/>
                    </a:moveTo>
                    <a:cubicBezTo>
                      <a:pt x="22" y="100"/>
                      <a:pt x="27" y="121"/>
                      <a:pt x="41" y="136"/>
                    </a:cubicBezTo>
                    <a:cubicBezTo>
                      <a:pt x="50" y="145"/>
                      <a:pt x="66" y="148"/>
                      <a:pt x="77" y="140"/>
                    </a:cubicBezTo>
                    <a:cubicBezTo>
                      <a:pt x="97" y="124"/>
                      <a:pt x="101" y="97"/>
                      <a:pt x="104" y="73"/>
                    </a:cubicBezTo>
                    <a:cubicBezTo>
                      <a:pt x="95" y="68"/>
                      <a:pt x="86" y="62"/>
                      <a:pt x="79" y="54"/>
                    </a:cubicBezTo>
                    <a:cubicBezTo>
                      <a:pt x="62" y="69"/>
                      <a:pt x="41" y="78"/>
                      <a:pt x="1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43" name="Freeform 8"/>
              <p:cNvSpPr>
                <a:spLocks noEditPoints="1"/>
              </p:cNvSpPr>
              <p:nvPr/>
            </p:nvSpPr>
            <p:spPr bwMode="auto">
              <a:xfrm>
                <a:off x="1368786" y="1753199"/>
                <a:ext cx="1009650" cy="582613"/>
              </a:xfrm>
              <a:custGeom>
                <a:avLst/>
                <a:gdLst>
                  <a:gd name="T0" fmla="*/ 51 w 268"/>
                  <a:gd name="T1" fmla="*/ 17 h 155"/>
                  <a:gd name="T2" fmla="*/ 92 w 268"/>
                  <a:gd name="T3" fmla="*/ 0 h 155"/>
                  <a:gd name="T4" fmla="*/ 98 w 268"/>
                  <a:gd name="T5" fmla="*/ 10 h 155"/>
                  <a:gd name="T6" fmla="*/ 89 w 268"/>
                  <a:gd name="T7" fmla="*/ 16 h 155"/>
                  <a:gd name="T8" fmla="*/ 122 w 268"/>
                  <a:gd name="T9" fmla="*/ 130 h 155"/>
                  <a:gd name="T10" fmla="*/ 127 w 268"/>
                  <a:gd name="T11" fmla="*/ 55 h 155"/>
                  <a:gd name="T12" fmla="*/ 142 w 268"/>
                  <a:gd name="T13" fmla="*/ 54 h 155"/>
                  <a:gd name="T14" fmla="*/ 146 w 268"/>
                  <a:gd name="T15" fmla="*/ 130 h 155"/>
                  <a:gd name="T16" fmla="*/ 180 w 268"/>
                  <a:gd name="T17" fmla="*/ 16 h 155"/>
                  <a:gd name="T18" fmla="*/ 175 w 268"/>
                  <a:gd name="T19" fmla="*/ 1 h 155"/>
                  <a:gd name="T20" fmla="*/ 239 w 268"/>
                  <a:gd name="T21" fmla="*/ 35 h 155"/>
                  <a:gd name="T22" fmla="*/ 265 w 268"/>
                  <a:gd name="T23" fmla="*/ 114 h 155"/>
                  <a:gd name="T24" fmla="*/ 220 w 268"/>
                  <a:gd name="T25" fmla="*/ 133 h 155"/>
                  <a:gd name="T26" fmla="*/ 124 w 268"/>
                  <a:gd name="T27" fmla="*/ 154 h 155"/>
                  <a:gd name="T28" fmla="*/ 50 w 268"/>
                  <a:gd name="T29" fmla="*/ 133 h 155"/>
                  <a:gd name="T30" fmla="*/ 3 w 268"/>
                  <a:gd name="T31" fmla="*/ 110 h 155"/>
                  <a:gd name="T32" fmla="*/ 51 w 268"/>
                  <a:gd name="T33" fmla="*/ 17 h 155"/>
                  <a:gd name="T34" fmla="*/ 167 w 268"/>
                  <a:gd name="T35" fmla="*/ 107 h 155"/>
                  <a:gd name="T36" fmla="*/ 170 w 268"/>
                  <a:gd name="T37" fmla="*/ 113 h 155"/>
                  <a:gd name="T38" fmla="*/ 205 w 268"/>
                  <a:gd name="T39" fmla="*/ 109 h 155"/>
                  <a:gd name="T40" fmla="*/ 213 w 268"/>
                  <a:gd name="T41" fmla="*/ 100 h 155"/>
                  <a:gd name="T42" fmla="*/ 167 w 268"/>
                  <a:gd name="T43" fmla="*/ 10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8" h="155">
                    <a:moveTo>
                      <a:pt x="51" y="17"/>
                    </a:moveTo>
                    <a:cubicBezTo>
                      <a:pt x="64" y="9"/>
                      <a:pt x="78" y="6"/>
                      <a:pt x="92" y="0"/>
                    </a:cubicBezTo>
                    <a:cubicBezTo>
                      <a:pt x="94" y="3"/>
                      <a:pt x="96" y="8"/>
                      <a:pt x="98" y="10"/>
                    </a:cubicBezTo>
                    <a:cubicBezTo>
                      <a:pt x="95" y="12"/>
                      <a:pt x="91" y="15"/>
                      <a:pt x="89" y="16"/>
                    </a:cubicBezTo>
                    <a:cubicBezTo>
                      <a:pt x="100" y="54"/>
                      <a:pt x="112" y="92"/>
                      <a:pt x="122" y="130"/>
                    </a:cubicBezTo>
                    <a:cubicBezTo>
                      <a:pt x="124" y="105"/>
                      <a:pt x="126" y="80"/>
                      <a:pt x="127" y="55"/>
                    </a:cubicBezTo>
                    <a:cubicBezTo>
                      <a:pt x="132" y="54"/>
                      <a:pt x="137" y="54"/>
                      <a:pt x="142" y="54"/>
                    </a:cubicBezTo>
                    <a:cubicBezTo>
                      <a:pt x="142" y="80"/>
                      <a:pt x="144" y="105"/>
                      <a:pt x="146" y="130"/>
                    </a:cubicBezTo>
                    <a:cubicBezTo>
                      <a:pt x="157" y="92"/>
                      <a:pt x="170" y="54"/>
                      <a:pt x="180" y="16"/>
                    </a:cubicBezTo>
                    <a:cubicBezTo>
                      <a:pt x="170" y="14"/>
                      <a:pt x="172" y="7"/>
                      <a:pt x="175" y="1"/>
                    </a:cubicBezTo>
                    <a:cubicBezTo>
                      <a:pt x="199" y="7"/>
                      <a:pt x="223" y="16"/>
                      <a:pt x="239" y="35"/>
                    </a:cubicBezTo>
                    <a:cubicBezTo>
                      <a:pt x="259" y="56"/>
                      <a:pt x="268" y="86"/>
                      <a:pt x="265" y="114"/>
                    </a:cubicBezTo>
                    <a:cubicBezTo>
                      <a:pt x="256" y="130"/>
                      <a:pt x="236" y="132"/>
                      <a:pt x="220" y="133"/>
                    </a:cubicBezTo>
                    <a:cubicBezTo>
                      <a:pt x="191" y="151"/>
                      <a:pt x="157" y="155"/>
                      <a:pt x="124" y="154"/>
                    </a:cubicBezTo>
                    <a:cubicBezTo>
                      <a:pt x="98" y="153"/>
                      <a:pt x="71" y="149"/>
                      <a:pt x="50" y="133"/>
                    </a:cubicBezTo>
                    <a:cubicBezTo>
                      <a:pt x="32" y="132"/>
                      <a:pt x="9" y="130"/>
                      <a:pt x="3" y="110"/>
                    </a:cubicBezTo>
                    <a:cubicBezTo>
                      <a:pt x="0" y="73"/>
                      <a:pt x="19" y="36"/>
                      <a:pt x="51" y="17"/>
                    </a:cubicBezTo>
                    <a:close/>
                    <a:moveTo>
                      <a:pt x="167" y="107"/>
                    </a:moveTo>
                    <a:cubicBezTo>
                      <a:pt x="168" y="109"/>
                      <a:pt x="169" y="111"/>
                      <a:pt x="170" y="113"/>
                    </a:cubicBezTo>
                    <a:cubicBezTo>
                      <a:pt x="182" y="114"/>
                      <a:pt x="194" y="112"/>
                      <a:pt x="205" y="109"/>
                    </a:cubicBezTo>
                    <a:cubicBezTo>
                      <a:pt x="210" y="108"/>
                      <a:pt x="212" y="104"/>
                      <a:pt x="213" y="100"/>
                    </a:cubicBezTo>
                    <a:cubicBezTo>
                      <a:pt x="198" y="105"/>
                      <a:pt x="182" y="107"/>
                      <a:pt x="1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sp>
            <p:nvSpPr>
              <p:cNvPr id="344" name="Freeform 9"/>
              <p:cNvSpPr/>
              <p:nvPr/>
            </p:nvSpPr>
            <p:spPr bwMode="auto">
              <a:xfrm>
                <a:off x="1816461" y="1850036"/>
                <a:ext cx="117475" cy="87313"/>
              </a:xfrm>
              <a:custGeom>
                <a:avLst/>
                <a:gdLst>
                  <a:gd name="T0" fmla="*/ 4 w 31"/>
                  <a:gd name="T1" fmla="*/ 3 h 23"/>
                  <a:gd name="T2" fmla="*/ 26 w 31"/>
                  <a:gd name="T3" fmla="*/ 3 h 23"/>
                  <a:gd name="T4" fmla="*/ 24 w 31"/>
                  <a:gd name="T5" fmla="*/ 23 h 23"/>
                  <a:gd name="T6" fmla="*/ 6 w 31"/>
                  <a:gd name="T7" fmla="*/ 23 h 23"/>
                  <a:gd name="T8" fmla="*/ 4 w 31"/>
                  <a:gd name="T9" fmla="*/ 3 h 23"/>
                </a:gdLst>
                <a:ahLst/>
                <a:cxnLst>
                  <a:cxn ang="0">
                    <a:pos x="T0" y="T1"/>
                  </a:cxn>
                  <a:cxn ang="0">
                    <a:pos x="T2" y="T3"/>
                  </a:cxn>
                  <a:cxn ang="0">
                    <a:pos x="T4" y="T5"/>
                  </a:cxn>
                  <a:cxn ang="0">
                    <a:pos x="T6" y="T7"/>
                  </a:cxn>
                  <a:cxn ang="0">
                    <a:pos x="T8" y="T9"/>
                  </a:cxn>
                </a:cxnLst>
                <a:rect l="0" t="0" r="r" b="b"/>
                <a:pathLst>
                  <a:path w="31" h="23">
                    <a:moveTo>
                      <a:pt x="4" y="3"/>
                    </a:moveTo>
                    <a:cubicBezTo>
                      <a:pt x="11" y="1"/>
                      <a:pt x="19" y="0"/>
                      <a:pt x="26" y="3"/>
                    </a:cubicBezTo>
                    <a:cubicBezTo>
                      <a:pt x="31" y="10"/>
                      <a:pt x="27" y="16"/>
                      <a:pt x="24" y="23"/>
                    </a:cubicBezTo>
                    <a:cubicBezTo>
                      <a:pt x="18" y="23"/>
                      <a:pt x="12" y="23"/>
                      <a:pt x="6" y="23"/>
                    </a:cubicBezTo>
                    <a:cubicBezTo>
                      <a:pt x="3" y="16"/>
                      <a:pt x="0" y="9"/>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Amiri" panose="00000500000000000000" charset="0"/>
                </a:endParaRPr>
              </a:p>
            </p:txBody>
          </p:sp>
        </p:grpSp>
        <p:sp>
          <p:nvSpPr>
            <p:cNvPr id="338" name="圆角矩形 337"/>
            <p:cNvSpPr/>
            <p:nvPr/>
          </p:nvSpPr>
          <p:spPr>
            <a:xfrm rot="457219">
              <a:off x="2008778" y="2863402"/>
              <a:ext cx="66422" cy="36724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39" name="圆角矩形 338"/>
            <p:cNvSpPr/>
            <p:nvPr/>
          </p:nvSpPr>
          <p:spPr>
            <a:xfrm rot="21142781" flipH="1">
              <a:off x="2322629" y="2863385"/>
              <a:ext cx="66422" cy="3706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40" name="圆角矩形 339"/>
            <p:cNvSpPr/>
            <p:nvPr/>
          </p:nvSpPr>
          <p:spPr>
            <a:xfrm rot="21437231" flipH="1">
              <a:off x="2220559"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41" name="圆角矩形 340"/>
            <p:cNvSpPr/>
            <p:nvPr/>
          </p:nvSpPr>
          <p:spPr>
            <a:xfrm rot="162769">
              <a:off x="2068697" y="3124632"/>
              <a:ext cx="105773" cy="58502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350" name="文本框 349"/>
          <p:cNvSpPr txBox="1"/>
          <p:nvPr/>
        </p:nvSpPr>
        <p:spPr>
          <a:xfrm>
            <a:off x="6282607" y="2252087"/>
            <a:ext cx="4555837" cy="830995"/>
          </a:xfrm>
          <a:prstGeom prst="rect">
            <a:avLst/>
          </a:prstGeom>
          <a:noFill/>
        </p:spPr>
        <p:txBody>
          <a:bodyPr wrap="square" lIns="91438" tIns="45719" rIns="91438" bIns="45719" rtlCol="0">
            <a:spAutoFit/>
          </a:bodyPr>
          <a:lstStyle/>
          <a:p>
            <a:r>
              <a:rPr lang="zh-TW" altLang="en-US" sz="2400" dirty="0">
                <a:solidFill>
                  <a:schemeClr val="tx1">
                    <a:lumMod val="85000"/>
                    <a:lumOff val="15000"/>
                  </a:schemeClr>
                </a:solidFill>
                <a:latin typeface="+mj-ea"/>
                <a:ea typeface="+mj-ea"/>
                <a:cs typeface="Amiri" panose="00000500000000000000" charset="0"/>
              </a:rPr>
              <a:t>提供幼兒日常用眼評估與提醒之精準眼睛保健工具</a:t>
            </a:r>
            <a:endParaRPr lang="en-US" altLang="zh-CN" sz="2400" dirty="0">
              <a:solidFill>
                <a:schemeClr val="tx1">
                  <a:lumMod val="85000"/>
                  <a:lumOff val="15000"/>
                </a:schemeClr>
              </a:solidFill>
              <a:latin typeface="+mj-ea"/>
              <a:ea typeface="+mj-ea"/>
              <a:cs typeface="Amiri" panose="00000500000000000000" charset="0"/>
            </a:endParaRPr>
          </a:p>
        </p:txBody>
      </p:sp>
      <p:sp>
        <p:nvSpPr>
          <p:cNvPr id="353" name="矩形 352"/>
          <p:cNvSpPr/>
          <p:nvPr/>
        </p:nvSpPr>
        <p:spPr>
          <a:xfrm>
            <a:off x="6402357" y="3083158"/>
            <a:ext cx="2992995" cy="455014"/>
          </a:xfrm>
          <a:prstGeom prst="rect">
            <a:avLst/>
          </a:prstGeom>
          <a:solidFill>
            <a:srgbClr val="1A9895"/>
          </a:solidFill>
          <a:ln>
            <a:noFill/>
          </a:ln>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kumimoji="1" lang="zh-CN" altLang="en-US">
              <a:solidFill>
                <a:schemeClr val="bg1"/>
              </a:solidFill>
              <a:latin typeface="+mj-ea"/>
              <a:ea typeface="+mj-ea"/>
              <a:cs typeface="Amiri" panose="00000500000000000000" charset="0"/>
            </a:endParaRPr>
          </a:p>
        </p:txBody>
      </p:sp>
      <p:sp>
        <p:nvSpPr>
          <p:cNvPr id="355" name="矩形 354"/>
          <p:cNvSpPr/>
          <p:nvPr/>
        </p:nvSpPr>
        <p:spPr>
          <a:xfrm>
            <a:off x="6497031" y="3113922"/>
            <a:ext cx="2749467" cy="400108"/>
          </a:xfrm>
          <a:prstGeom prst="rect">
            <a:avLst/>
          </a:prstGeom>
        </p:spPr>
        <p:txBody>
          <a:bodyPr wrap="none" lIns="91438" tIns="45719" rIns="91438" bIns="45719">
            <a:spAutoFit/>
          </a:bodyPr>
          <a:lstStyle/>
          <a:p>
            <a:r>
              <a:rPr lang="zh-TW" altLang="en-US" sz="2000" dirty="0">
                <a:solidFill>
                  <a:schemeClr val="bg1"/>
                </a:solidFill>
                <a:latin typeface="+mj-ea"/>
                <a:ea typeface="+mj-ea"/>
                <a:cs typeface="Amiri" panose="00000500000000000000" charset="0"/>
                <a:sym typeface="Amiri" panose="00000500000000000000" charset="0"/>
              </a:rPr>
              <a:t>斜視、屈光不正、弱視</a:t>
            </a:r>
            <a:endParaRPr lang="zh-CN" altLang="en-US" sz="2000" dirty="0">
              <a:solidFill>
                <a:schemeClr val="bg1"/>
              </a:solidFill>
              <a:latin typeface="+mj-ea"/>
              <a:ea typeface="+mj-ea"/>
              <a:cs typeface="Amiri" panose="00000500000000000000" charset="0"/>
              <a:sym typeface="Amiri" panose="00000500000000000000" charset="0"/>
            </a:endParaRPr>
          </a:p>
        </p:txBody>
      </p:sp>
      <p:grpSp>
        <p:nvGrpSpPr>
          <p:cNvPr id="356" name="Group 121"/>
          <p:cNvGrpSpPr>
            <a:grpSpLocks noChangeAspect="1"/>
          </p:cNvGrpSpPr>
          <p:nvPr/>
        </p:nvGrpSpPr>
        <p:grpSpPr bwMode="auto">
          <a:xfrm>
            <a:off x="6440860" y="1346488"/>
            <a:ext cx="1106959" cy="942164"/>
            <a:chOff x="515" y="3088"/>
            <a:chExt cx="665" cy="566"/>
          </a:xfrm>
          <a:solidFill>
            <a:srgbClr val="1A9895"/>
          </a:solidFill>
        </p:grpSpPr>
        <p:sp>
          <p:nvSpPr>
            <p:cNvPr id="357" name="Freeform 122"/>
            <p:cNvSpPr/>
            <p:nvPr/>
          </p:nvSpPr>
          <p:spPr bwMode="auto">
            <a:xfrm>
              <a:off x="706" y="3550"/>
              <a:ext cx="283" cy="104"/>
            </a:xfrm>
            <a:custGeom>
              <a:avLst/>
              <a:gdLst>
                <a:gd name="T0" fmla="*/ 269 w 340"/>
                <a:gd name="T1" fmla="*/ 71 h 125"/>
                <a:gd name="T2" fmla="*/ 269 w 340"/>
                <a:gd name="T3" fmla="*/ 12 h 125"/>
                <a:gd name="T4" fmla="*/ 266 w 340"/>
                <a:gd name="T5" fmla="*/ 3 h 125"/>
                <a:gd name="T6" fmla="*/ 257 w 340"/>
                <a:gd name="T7" fmla="*/ 0 h 125"/>
                <a:gd name="T8" fmla="*/ 83 w 340"/>
                <a:gd name="T9" fmla="*/ 0 h 125"/>
                <a:gd name="T10" fmla="*/ 74 w 340"/>
                <a:gd name="T11" fmla="*/ 3 h 125"/>
                <a:gd name="T12" fmla="*/ 71 w 340"/>
                <a:gd name="T13" fmla="*/ 12 h 125"/>
                <a:gd name="T14" fmla="*/ 71 w 340"/>
                <a:gd name="T15" fmla="*/ 71 h 125"/>
                <a:gd name="T16" fmla="*/ 2 w 340"/>
                <a:gd name="T17" fmla="*/ 108 h 125"/>
                <a:gd name="T18" fmla="*/ 1 w 340"/>
                <a:gd name="T19" fmla="*/ 110 h 125"/>
                <a:gd name="T20" fmla="*/ 0 w 340"/>
                <a:gd name="T21" fmla="*/ 112 h 125"/>
                <a:gd name="T22" fmla="*/ 0 w 340"/>
                <a:gd name="T23" fmla="*/ 120 h 125"/>
                <a:gd name="T24" fmla="*/ 1 w 340"/>
                <a:gd name="T25" fmla="*/ 124 h 125"/>
                <a:gd name="T26" fmla="*/ 5 w 340"/>
                <a:gd name="T27" fmla="*/ 125 h 125"/>
                <a:gd name="T28" fmla="*/ 335 w 340"/>
                <a:gd name="T29" fmla="*/ 125 h 125"/>
                <a:gd name="T30" fmla="*/ 339 w 340"/>
                <a:gd name="T31" fmla="*/ 124 h 125"/>
                <a:gd name="T32" fmla="*/ 340 w 340"/>
                <a:gd name="T33" fmla="*/ 120 h 125"/>
                <a:gd name="T34" fmla="*/ 340 w 340"/>
                <a:gd name="T35" fmla="*/ 112 h 125"/>
                <a:gd name="T36" fmla="*/ 339 w 340"/>
                <a:gd name="T37" fmla="*/ 110 h 125"/>
                <a:gd name="T38" fmla="*/ 338 w 340"/>
                <a:gd name="T39" fmla="*/ 108 h 125"/>
                <a:gd name="T40" fmla="*/ 269 w 340"/>
                <a:gd name="T41" fmla="*/ 7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125">
                  <a:moveTo>
                    <a:pt x="269" y="71"/>
                  </a:moveTo>
                  <a:cubicBezTo>
                    <a:pt x="269" y="12"/>
                    <a:pt x="269" y="12"/>
                    <a:pt x="269" y="12"/>
                  </a:cubicBezTo>
                  <a:cubicBezTo>
                    <a:pt x="269" y="9"/>
                    <a:pt x="268" y="6"/>
                    <a:pt x="266" y="3"/>
                  </a:cubicBezTo>
                  <a:cubicBezTo>
                    <a:pt x="263" y="1"/>
                    <a:pt x="260" y="0"/>
                    <a:pt x="257" y="0"/>
                  </a:cubicBezTo>
                  <a:cubicBezTo>
                    <a:pt x="83" y="0"/>
                    <a:pt x="83" y="0"/>
                    <a:pt x="83" y="0"/>
                  </a:cubicBezTo>
                  <a:cubicBezTo>
                    <a:pt x="80" y="0"/>
                    <a:pt x="77" y="1"/>
                    <a:pt x="74" y="3"/>
                  </a:cubicBezTo>
                  <a:cubicBezTo>
                    <a:pt x="72" y="6"/>
                    <a:pt x="71" y="9"/>
                    <a:pt x="71" y="12"/>
                  </a:cubicBezTo>
                  <a:cubicBezTo>
                    <a:pt x="71" y="71"/>
                    <a:pt x="71" y="71"/>
                    <a:pt x="71" y="71"/>
                  </a:cubicBezTo>
                  <a:cubicBezTo>
                    <a:pt x="2" y="108"/>
                    <a:pt x="2" y="108"/>
                    <a:pt x="2" y="108"/>
                  </a:cubicBezTo>
                  <a:cubicBezTo>
                    <a:pt x="2" y="109"/>
                    <a:pt x="1" y="109"/>
                    <a:pt x="1" y="110"/>
                  </a:cubicBezTo>
                  <a:cubicBezTo>
                    <a:pt x="0" y="111"/>
                    <a:pt x="0" y="111"/>
                    <a:pt x="0" y="112"/>
                  </a:cubicBezTo>
                  <a:cubicBezTo>
                    <a:pt x="0" y="120"/>
                    <a:pt x="0" y="120"/>
                    <a:pt x="0" y="120"/>
                  </a:cubicBezTo>
                  <a:cubicBezTo>
                    <a:pt x="0" y="122"/>
                    <a:pt x="1" y="123"/>
                    <a:pt x="1" y="124"/>
                  </a:cubicBezTo>
                  <a:cubicBezTo>
                    <a:pt x="2" y="124"/>
                    <a:pt x="3" y="125"/>
                    <a:pt x="5" y="125"/>
                  </a:cubicBezTo>
                  <a:cubicBezTo>
                    <a:pt x="335" y="125"/>
                    <a:pt x="335" y="125"/>
                    <a:pt x="335" y="125"/>
                  </a:cubicBezTo>
                  <a:cubicBezTo>
                    <a:pt x="337" y="125"/>
                    <a:pt x="338" y="124"/>
                    <a:pt x="339" y="124"/>
                  </a:cubicBezTo>
                  <a:cubicBezTo>
                    <a:pt x="339" y="123"/>
                    <a:pt x="340" y="122"/>
                    <a:pt x="340" y="120"/>
                  </a:cubicBezTo>
                  <a:cubicBezTo>
                    <a:pt x="340" y="112"/>
                    <a:pt x="340" y="112"/>
                    <a:pt x="340" y="112"/>
                  </a:cubicBezTo>
                  <a:cubicBezTo>
                    <a:pt x="340" y="111"/>
                    <a:pt x="340" y="111"/>
                    <a:pt x="339" y="110"/>
                  </a:cubicBezTo>
                  <a:cubicBezTo>
                    <a:pt x="339" y="109"/>
                    <a:pt x="338" y="109"/>
                    <a:pt x="338" y="108"/>
                  </a:cubicBezTo>
                  <a:lnTo>
                    <a:pt x="269"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58" name="Freeform 123"/>
            <p:cNvSpPr>
              <a:spLocks noEditPoints="1"/>
            </p:cNvSpPr>
            <p:nvPr/>
          </p:nvSpPr>
          <p:spPr bwMode="auto">
            <a:xfrm>
              <a:off x="515" y="3088"/>
              <a:ext cx="665" cy="449"/>
            </a:xfrm>
            <a:custGeom>
              <a:avLst/>
              <a:gdLst>
                <a:gd name="T0" fmla="*/ 791 w 800"/>
                <a:gd name="T1" fmla="*/ 9 h 539"/>
                <a:gd name="T2" fmla="*/ 770 w 800"/>
                <a:gd name="T3" fmla="*/ 0 h 539"/>
                <a:gd name="T4" fmla="*/ 30 w 800"/>
                <a:gd name="T5" fmla="*/ 0 h 539"/>
                <a:gd name="T6" fmla="*/ 9 w 800"/>
                <a:gd name="T7" fmla="*/ 9 h 539"/>
                <a:gd name="T8" fmla="*/ 0 w 800"/>
                <a:gd name="T9" fmla="*/ 30 h 539"/>
                <a:gd name="T10" fmla="*/ 0 w 800"/>
                <a:gd name="T11" fmla="*/ 509 h 539"/>
                <a:gd name="T12" fmla="*/ 9 w 800"/>
                <a:gd name="T13" fmla="*/ 530 h 539"/>
                <a:gd name="T14" fmla="*/ 30 w 800"/>
                <a:gd name="T15" fmla="*/ 539 h 539"/>
                <a:gd name="T16" fmla="*/ 770 w 800"/>
                <a:gd name="T17" fmla="*/ 539 h 539"/>
                <a:gd name="T18" fmla="*/ 791 w 800"/>
                <a:gd name="T19" fmla="*/ 530 h 539"/>
                <a:gd name="T20" fmla="*/ 800 w 800"/>
                <a:gd name="T21" fmla="*/ 509 h 539"/>
                <a:gd name="T22" fmla="*/ 800 w 800"/>
                <a:gd name="T23" fmla="*/ 30 h 539"/>
                <a:gd name="T24" fmla="*/ 791 w 800"/>
                <a:gd name="T25" fmla="*/ 9 h 539"/>
                <a:gd name="T26" fmla="*/ 400 w 800"/>
                <a:gd name="T27" fmla="*/ 526 h 539"/>
                <a:gd name="T28" fmla="*/ 387 w 800"/>
                <a:gd name="T29" fmla="*/ 513 h 539"/>
                <a:gd name="T30" fmla="*/ 400 w 800"/>
                <a:gd name="T31" fmla="*/ 500 h 539"/>
                <a:gd name="T32" fmla="*/ 413 w 800"/>
                <a:gd name="T33" fmla="*/ 513 h 539"/>
                <a:gd name="T34" fmla="*/ 400 w 800"/>
                <a:gd name="T35" fmla="*/ 526 h 539"/>
                <a:gd name="T36" fmla="*/ 748 w 800"/>
                <a:gd name="T37" fmla="*/ 487 h 539"/>
                <a:gd name="T38" fmla="*/ 52 w 800"/>
                <a:gd name="T39" fmla="*/ 487 h 539"/>
                <a:gd name="T40" fmla="*/ 52 w 800"/>
                <a:gd name="T41" fmla="*/ 52 h 539"/>
                <a:gd name="T42" fmla="*/ 748 w 800"/>
                <a:gd name="T43" fmla="*/ 52 h 539"/>
                <a:gd name="T44" fmla="*/ 748 w 800"/>
                <a:gd name="T45" fmla="*/ 487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0" h="539">
                  <a:moveTo>
                    <a:pt x="791" y="9"/>
                  </a:moveTo>
                  <a:cubicBezTo>
                    <a:pt x="785" y="3"/>
                    <a:pt x="778" y="0"/>
                    <a:pt x="770" y="0"/>
                  </a:cubicBezTo>
                  <a:cubicBezTo>
                    <a:pt x="30" y="0"/>
                    <a:pt x="30" y="0"/>
                    <a:pt x="30" y="0"/>
                  </a:cubicBezTo>
                  <a:cubicBezTo>
                    <a:pt x="22" y="0"/>
                    <a:pt x="15" y="3"/>
                    <a:pt x="9" y="9"/>
                  </a:cubicBezTo>
                  <a:cubicBezTo>
                    <a:pt x="3" y="15"/>
                    <a:pt x="0" y="23"/>
                    <a:pt x="0" y="30"/>
                  </a:cubicBezTo>
                  <a:cubicBezTo>
                    <a:pt x="0" y="509"/>
                    <a:pt x="0" y="509"/>
                    <a:pt x="0" y="509"/>
                  </a:cubicBezTo>
                  <a:cubicBezTo>
                    <a:pt x="0" y="517"/>
                    <a:pt x="3" y="525"/>
                    <a:pt x="9" y="530"/>
                  </a:cubicBezTo>
                  <a:cubicBezTo>
                    <a:pt x="15" y="536"/>
                    <a:pt x="22" y="539"/>
                    <a:pt x="30" y="539"/>
                  </a:cubicBezTo>
                  <a:cubicBezTo>
                    <a:pt x="770" y="539"/>
                    <a:pt x="770" y="539"/>
                    <a:pt x="770" y="539"/>
                  </a:cubicBezTo>
                  <a:cubicBezTo>
                    <a:pt x="778" y="539"/>
                    <a:pt x="785" y="536"/>
                    <a:pt x="791" y="530"/>
                  </a:cubicBezTo>
                  <a:cubicBezTo>
                    <a:pt x="797" y="525"/>
                    <a:pt x="800" y="517"/>
                    <a:pt x="800" y="509"/>
                  </a:cubicBezTo>
                  <a:cubicBezTo>
                    <a:pt x="800" y="30"/>
                    <a:pt x="800" y="30"/>
                    <a:pt x="800" y="30"/>
                  </a:cubicBezTo>
                  <a:cubicBezTo>
                    <a:pt x="800" y="23"/>
                    <a:pt x="797" y="15"/>
                    <a:pt x="791" y="9"/>
                  </a:cubicBezTo>
                  <a:close/>
                  <a:moveTo>
                    <a:pt x="400" y="526"/>
                  </a:moveTo>
                  <a:cubicBezTo>
                    <a:pt x="393" y="526"/>
                    <a:pt x="387" y="521"/>
                    <a:pt x="387" y="513"/>
                  </a:cubicBezTo>
                  <a:cubicBezTo>
                    <a:pt x="387" y="506"/>
                    <a:pt x="393" y="500"/>
                    <a:pt x="400" y="500"/>
                  </a:cubicBezTo>
                  <a:cubicBezTo>
                    <a:pt x="407" y="500"/>
                    <a:pt x="413" y="506"/>
                    <a:pt x="413" y="513"/>
                  </a:cubicBezTo>
                  <a:cubicBezTo>
                    <a:pt x="413" y="521"/>
                    <a:pt x="407" y="526"/>
                    <a:pt x="400" y="526"/>
                  </a:cubicBezTo>
                  <a:close/>
                  <a:moveTo>
                    <a:pt x="748" y="487"/>
                  </a:moveTo>
                  <a:cubicBezTo>
                    <a:pt x="52" y="487"/>
                    <a:pt x="52" y="487"/>
                    <a:pt x="52" y="487"/>
                  </a:cubicBezTo>
                  <a:cubicBezTo>
                    <a:pt x="52" y="52"/>
                    <a:pt x="52" y="52"/>
                    <a:pt x="52" y="52"/>
                  </a:cubicBezTo>
                  <a:cubicBezTo>
                    <a:pt x="748" y="52"/>
                    <a:pt x="748" y="52"/>
                    <a:pt x="748" y="52"/>
                  </a:cubicBezTo>
                  <a:lnTo>
                    <a:pt x="748" y="4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59" name="Freeform 124"/>
            <p:cNvSpPr/>
            <p:nvPr/>
          </p:nvSpPr>
          <p:spPr bwMode="auto">
            <a:xfrm>
              <a:off x="646" y="3459"/>
              <a:ext cx="56" cy="9"/>
            </a:xfrm>
            <a:custGeom>
              <a:avLst/>
              <a:gdLst>
                <a:gd name="T0" fmla="*/ 6 w 67"/>
                <a:gd name="T1" fmla="*/ 0 h 11"/>
                <a:gd name="T2" fmla="*/ 2 w 67"/>
                <a:gd name="T3" fmla="*/ 2 h 11"/>
                <a:gd name="T4" fmla="*/ 0 w 67"/>
                <a:gd name="T5" fmla="*/ 6 h 11"/>
                <a:gd name="T6" fmla="*/ 0 w 67"/>
                <a:gd name="T7" fmla="*/ 11 h 11"/>
                <a:gd name="T8" fmla="*/ 67 w 67"/>
                <a:gd name="T9" fmla="*/ 11 h 11"/>
                <a:gd name="T10" fmla="*/ 67 w 67"/>
                <a:gd name="T11" fmla="*/ 6 h 11"/>
                <a:gd name="T12" fmla="*/ 65 w 67"/>
                <a:gd name="T13" fmla="*/ 2 h 11"/>
                <a:gd name="T14" fmla="*/ 61 w 67"/>
                <a:gd name="T15" fmla="*/ 0 h 11"/>
                <a:gd name="T16" fmla="*/ 6 w 67"/>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1">
                  <a:moveTo>
                    <a:pt x="6" y="0"/>
                  </a:moveTo>
                  <a:cubicBezTo>
                    <a:pt x="4" y="0"/>
                    <a:pt x="3" y="1"/>
                    <a:pt x="2" y="2"/>
                  </a:cubicBezTo>
                  <a:cubicBezTo>
                    <a:pt x="0" y="3"/>
                    <a:pt x="0" y="5"/>
                    <a:pt x="0" y="6"/>
                  </a:cubicBezTo>
                  <a:cubicBezTo>
                    <a:pt x="0" y="11"/>
                    <a:pt x="0" y="11"/>
                    <a:pt x="0" y="11"/>
                  </a:cubicBezTo>
                  <a:cubicBezTo>
                    <a:pt x="67" y="11"/>
                    <a:pt x="67" y="11"/>
                    <a:pt x="67" y="11"/>
                  </a:cubicBezTo>
                  <a:cubicBezTo>
                    <a:pt x="67" y="6"/>
                    <a:pt x="67" y="6"/>
                    <a:pt x="67" y="6"/>
                  </a:cubicBezTo>
                  <a:cubicBezTo>
                    <a:pt x="67" y="5"/>
                    <a:pt x="66" y="3"/>
                    <a:pt x="65" y="2"/>
                  </a:cubicBezTo>
                  <a:cubicBezTo>
                    <a:pt x="64" y="1"/>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0" name="Freeform 125"/>
            <p:cNvSpPr/>
            <p:nvPr/>
          </p:nvSpPr>
          <p:spPr bwMode="auto">
            <a:xfrm>
              <a:off x="715" y="3395"/>
              <a:ext cx="55" cy="73"/>
            </a:xfrm>
            <a:custGeom>
              <a:avLst/>
              <a:gdLst>
                <a:gd name="T0" fmla="*/ 6 w 67"/>
                <a:gd name="T1" fmla="*/ 0 h 88"/>
                <a:gd name="T2" fmla="*/ 2 w 67"/>
                <a:gd name="T3" fmla="*/ 1 h 88"/>
                <a:gd name="T4" fmla="*/ 0 w 67"/>
                <a:gd name="T5" fmla="*/ 6 h 88"/>
                <a:gd name="T6" fmla="*/ 0 w 67"/>
                <a:gd name="T7" fmla="*/ 88 h 88"/>
                <a:gd name="T8" fmla="*/ 67 w 67"/>
                <a:gd name="T9" fmla="*/ 88 h 88"/>
                <a:gd name="T10" fmla="*/ 67 w 67"/>
                <a:gd name="T11" fmla="*/ 6 h 88"/>
                <a:gd name="T12" fmla="*/ 65 w 67"/>
                <a:gd name="T13" fmla="*/ 1 h 88"/>
                <a:gd name="T14" fmla="*/ 61 w 67"/>
                <a:gd name="T15" fmla="*/ 0 h 88"/>
                <a:gd name="T16" fmla="*/ 6 w 67"/>
                <a:gd name="T1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88">
                  <a:moveTo>
                    <a:pt x="6" y="0"/>
                  </a:moveTo>
                  <a:cubicBezTo>
                    <a:pt x="4" y="0"/>
                    <a:pt x="3" y="0"/>
                    <a:pt x="2" y="1"/>
                  </a:cubicBezTo>
                  <a:cubicBezTo>
                    <a:pt x="0" y="3"/>
                    <a:pt x="0" y="4"/>
                    <a:pt x="0" y="6"/>
                  </a:cubicBezTo>
                  <a:cubicBezTo>
                    <a:pt x="0" y="88"/>
                    <a:pt x="0" y="88"/>
                    <a:pt x="0" y="88"/>
                  </a:cubicBezTo>
                  <a:cubicBezTo>
                    <a:pt x="67" y="88"/>
                    <a:pt x="67" y="88"/>
                    <a:pt x="67" y="88"/>
                  </a:cubicBezTo>
                  <a:cubicBezTo>
                    <a:pt x="67" y="6"/>
                    <a:pt x="67" y="6"/>
                    <a:pt x="67" y="6"/>
                  </a:cubicBezTo>
                  <a:cubicBezTo>
                    <a:pt x="67" y="4"/>
                    <a:pt x="66" y="3"/>
                    <a:pt x="65" y="1"/>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1" name="Freeform 126"/>
            <p:cNvSpPr/>
            <p:nvPr/>
          </p:nvSpPr>
          <p:spPr bwMode="auto">
            <a:xfrm>
              <a:off x="783" y="3368"/>
              <a:ext cx="55" cy="100"/>
            </a:xfrm>
            <a:custGeom>
              <a:avLst/>
              <a:gdLst>
                <a:gd name="T0" fmla="*/ 6 w 67"/>
                <a:gd name="T1" fmla="*/ 0 h 120"/>
                <a:gd name="T2" fmla="*/ 2 w 67"/>
                <a:gd name="T3" fmla="*/ 2 h 120"/>
                <a:gd name="T4" fmla="*/ 0 w 67"/>
                <a:gd name="T5" fmla="*/ 6 h 120"/>
                <a:gd name="T6" fmla="*/ 0 w 67"/>
                <a:gd name="T7" fmla="*/ 120 h 120"/>
                <a:gd name="T8" fmla="*/ 67 w 67"/>
                <a:gd name="T9" fmla="*/ 120 h 120"/>
                <a:gd name="T10" fmla="*/ 67 w 67"/>
                <a:gd name="T11" fmla="*/ 6 h 120"/>
                <a:gd name="T12" fmla="*/ 65 w 67"/>
                <a:gd name="T13" fmla="*/ 2 h 120"/>
                <a:gd name="T14" fmla="*/ 61 w 67"/>
                <a:gd name="T15" fmla="*/ 0 h 120"/>
                <a:gd name="T16" fmla="*/ 6 w 67"/>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20">
                  <a:moveTo>
                    <a:pt x="6" y="0"/>
                  </a:moveTo>
                  <a:cubicBezTo>
                    <a:pt x="4" y="0"/>
                    <a:pt x="3" y="0"/>
                    <a:pt x="2" y="2"/>
                  </a:cubicBezTo>
                  <a:cubicBezTo>
                    <a:pt x="0" y="3"/>
                    <a:pt x="0" y="4"/>
                    <a:pt x="0" y="6"/>
                  </a:cubicBezTo>
                  <a:cubicBezTo>
                    <a:pt x="0" y="120"/>
                    <a:pt x="0" y="120"/>
                    <a:pt x="0" y="120"/>
                  </a:cubicBezTo>
                  <a:cubicBezTo>
                    <a:pt x="67" y="120"/>
                    <a:pt x="67" y="120"/>
                    <a:pt x="67" y="120"/>
                  </a:cubicBezTo>
                  <a:cubicBezTo>
                    <a:pt x="67" y="6"/>
                    <a:pt x="67" y="6"/>
                    <a:pt x="67" y="6"/>
                  </a:cubicBezTo>
                  <a:cubicBezTo>
                    <a:pt x="67" y="4"/>
                    <a:pt x="66" y="3"/>
                    <a:pt x="65" y="2"/>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2" name="Freeform 127"/>
            <p:cNvSpPr/>
            <p:nvPr/>
          </p:nvSpPr>
          <p:spPr bwMode="auto">
            <a:xfrm>
              <a:off x="851" y="3379"/>
              <a:ext cx="56" cy="89"/>
            </a:xfrm>
            <a:custGeom>
              <a:avLst/>
              <a:gdLst>
                <a:gd name="T0" fmla="*/ 6 w 67"/>
                <a:gd name="T1" fmla="*/ 0 h 107"/>
                <a:gd name="T2" fmla="*/ 2 w 67"/>
                <a:gd name="T3" fmla="*/ 2 h 107"/>
                <a:gd name="T4" fmla="*/ 0 w 67"/>
                <a:gd name="T5" fmla="*/ 6 h 107"/>
                <a:gd name="T6" fmla="*/ 0 w 67"/>
                <a:gd name="T7" fmla="*/ 107 h 107"/>
                <a:gd name="T8" fmla="*/ 67 w 67"/>
                <a:gd name="T9" fmla="*/ 107 h 107"/>
                <a:gd name="T10" fmla="*/ 67 w 67"/>
                <a:gd name="T11" fmla="*/ 6 h 107"/>
                <a:gd name="T12" fmla="*/ 65 w 67"/>
                <a:gd name="T13" fmla="*/ 2 h 107"/>
                <a:gd name="T14" fmla="*/ 61 w 67"/>
                <a:gd name="T15" fmla="*/ 0 h 107"/>
                <a:gd name="T16" fmla="*/ 6 w 67"/>
                <a:gd name="T17"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07">
                  <a:moveTo>
                    <a:pt x="6" y="0"/>
                  </a:moveTo>
                  <a:cubicBezTo>
                    <a:pt x="5" y="0"/>
                    <a:pt x="3" y="0"/>
                    <a:pt x="2" y="2"/>
                  </a:cubicBezTo>
                  <a:cubicBezTo>
                    <a:pt x="0" y="3"/>
                    <a:pt x="0" y="5"/>
                    <a:pt x="0" y="6"/>
                  </a:cubicBezTo>
                  <a:cubicBezTo>
                    <a:pt x="0" y="107"/>
                    <a:pt x="0" y="107"/>
                    <a:pt x="0" y="107"/>
                  </a:cubicBezTo>
                  <a:cubicBezTo>
                    <a:pt x="67" y="107"/>
                    <a:pt x="67" y="107"/>
                    <a:pt x="67" y="107"/>
                  </a:cubicBezTo>
                  <a:cubicBezTo>
                    <a:pt x="67" y="6"/>
                    <a:pt x="67" y="6"/>
                    <a:pt x="67" y="6"/>
                  </a:cubicBezTo>
                  <a:cubicBezTo>
                    <a:pt x="67" y="5"/>
                    <a:pt x="66" y="3"/>
                    <a:pt x="65" y="2"/>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3" name="Freeform 128"/>
            <p:cNvSpPr/>
            <p:nvPr/>
          </p:nvSpPr>
          <p:spPr bwMode="auto">
            <a:xfrm>
              <a:off x="919" y="3337"/>
              <a:ext cx="56" cy="131"/>
            </a:xfrm>
            <a:custGeom>
              <a:avLst/>
              <a:gdLst>
                <a:gd name="T0" fmla="*/ 6 w 67"/>
                <a:gd name="T1" fmla="*/ 0 h 158"/>
                <a:gd name="T2" fmla="*/ 2 w 67"/>
                <a:gd name="T3" fmla="*/ 1 h 158"/>
                <a:gd name="T4" fmla="*/ 0 w 67"/>
                <a:gd name="T5" fmla="*/ 6 h 158"/>
                <a:gd name="T6" fmla="*/ 0 w 67"/>
                <a:gd name="T7" fmla="*/ 158 h 158"/>
                <a:gd name="T8" fmla="*/ 67 w 67"/>
                <a:gd name="T9" fmla="*/ 158 h 158"/>
                <a:gd name="T10" fmla="*/ 67 w 67"/>
                <a:gd name="T11" fmla="*/ 6 h 158"/>
                <a:gd name="T12" fmla="*/ 65 w 67"/>
                <a:gd name="T13" fmla="*/ 1 h 158"/>
                <a:gd name="T14" fmla="*/ 61 w 67"/>
                <a:gd name="T15" fmla="*/ 0 h 158"/>
                <a:gd name="T16" fmla="*/ 6 w 67"/>
                <a:gd name="T17"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58">
                  <a:moveTo>
                    <a:pt x="6" y="0"/>
                  </a:moveTo>
                  <a:cubicBezTo>
                    <a:pt x="5" y="0"/>
                    <a:pt x="3" y="0"/>
                    <a:pt x="2" y="1"/>
                  </a:cubicBezTo>
                  <a:cubicBezTo>
                    <a:pt x="0" y="3"/>
                    <a:pt x="0" y="4"/>
                    <a:pt x="0" y="6"/>
                  </a:cubicBezTo>
                  <a:cubicBezTo>
                    <a:pt x="0" y="158"/>
                    <a:pt x="0" y="158"/>
                    <a:pt x="0" y="158"/>
                  </a:cubicBezTo>
                  <a:cubicBezTo>
                    <a:pt x="67" y="158"/>
                    <a:pt x="67" y="158"/>
                    <a:pt x="67" y="158"/>
                  </a:cubicBezTo>
                  <a:cubicBezTo>
                    <a:pt x="67" y="6"/>
                    <a:pt x="67" y="6"/>
                    <a:pt x="67" y="6"/>
                  </a:cubicBezTo>
                  <a:cubicBezTo>
                    <a:pt x="67" y="4"/>
                    <a:pt x="66" y="3"/>
                    <a:pt x="65" y="1"/>
                  </a:cubicBezTo>
                  <a:cubicBezTo>
                    <a:pt x="64" y="0"/>
                    <a:pt x="62" y="0"/>
                    <a:pt x="61" y="0"/>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4" name="Freeform 129"/>
            <p:cNvSpPr/>
            <p:nvPr/>
          </p:nvSpPr>
          <p:spPr bwMode="auto">
            <a:xfrm>
              <a:off x="987" y="3284"/>
              <a:ext cx="56" cy="184"/>
            </a:xfrm>
            <a:custGeom>
              <a:avLst/>
              <a:gdLst>
                <a:gd name="T0" fmla="*/ 6 w 67"/>
                <a:gd name="T1" fmla="*/ 0 h 222"/>
                <a:gd name="T2" fmla="*/ 2 w 67"/>
                <a:gd name="T3" fmla="*/ 1 h 222"/>
                <a:gd name="T4" fmla="*/ 0 w 67"/>
                <a:gd name="T5" fmla="*/ 6 h 222"/>
                <a:gd name="T6" fmla="*/ 0 w 67"/>
                <a:gd name="T7" fmla="*/ 222 h 222"/>
                <a:gd name="T8" fmla="*/ 67 w 67"/>
                <a:gd name="T9" fmla="*/ 222 h 222"/>
                <a:gd name="T10" fmla="*/ 67 w 67"/>
                <a:gd name="T11" fmla="*/ 6 h 222"/>
                <a:gd name="T12" fmla="*/ 65 w 67"/>
                <a:gd name="T13" fmla="*/ 1 h 222"/>
                <a:gd name="T14" fmla="*/ 61 w 67"/>
                <a:gd name="T15" fmla="*/ 0 h 222"/>
                <a:gd name="T16" fmla="*/ 6 w 67"/>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22">
                  <a:moveTo>
                    <a:pt x="6" y="0"/>
                  </a:moveTo>
                  <a:cubicBezTo>
                    <a:pt x="5" y="0"/>
                    <a:pt x="3" y="0"/>
                    <a:pt x="2" y="1"/>
                  </a:cubicBezTo>
                  <a:cubicBezTo>
                    <a:pt x="1" y="3"/>
                    <a:pt x="0" y="4"/>
                    <a:pt x="0" y="6"/>
                  </a:cubicBezTo>
                  <a:cubicBezTo>
                    <a:pt x="0" y="222"/>
                    <a:pt x="0" y="222"/>
                    <a:pt x="0" y="222"/>
                  </a:cubicBezTo>
                  <a:cubicBezTo>
                    <a:pt x="67" y="222"/>
                    <a:pt x="67" y="222"/>
                    <a:pt x="67" y="222"/>
                  </a:cubicBezTo>
                  <a:cubicBezTo>
                    <a:pt x="67" y="6"/>
                    <a:pt x="67" y="6"/>
                    <a:pt x="67" y="6"/>
                  </a:cubicBezTo>
                  <a:cubicBezTo>
                    <a:pt x="67" y="4"/>
                    <a:pt x="66" y="3"/>
                    <a:pt x="65" y="1"/>
                  </a:cubicBezTo>
                  <a:cubicBezTo>
                    <a:pt x="64" y="0"/>
                    <a:pt x="62" y="0"/>
                    <a:pt x="61" y="0"/>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sp>
          <p:nvSpPr>
            <p:cNvPr id="365" name="Freeform 130"/>
            <p:cNvSpPr/>
            <p:nvPr/>
          </p:nvSpPr>
          <p:spPr bwMode="auto">
            <a:xfrm>
              <a:off x="610" y="3178"/>
              <a:ext cx="475" cy="289"/>
            </a:xfrm>
            <a:custGeom>
              <a:avLst/>
              <a:gdLst>
                <a:gd name="T0" fmla="*/ 572 w 572"/>
                <a:gd name="T1" fmla="*/ 7 h 347"/>
                <a:gd name="T2" fmla="*/ 571 w 572"/>
                <a:gd name="T3" fmla="*/ 2 h 347"/>
                <a:gd name="T4" fmla="*/ 567 w 572"/>
                <a:gd name="T5" fmla="*/ 1 h 347"/>
                <a:gd name="T6" fmla="*/ 500 w 572"/>
                <a:gd name="T7" fmla="*/ 20 h 347"/>
                <a:gd name="T8" fmla="*/ 497 w 572"/>
                <a:gd name="T9" fmla="*/ 23 h 347"/>
                <a:gd name="T10" fmla="*/ 498 w 572"/>
                <a:gd name="T11" fmla="*/ 27 h 347"/>
                <a:gd name="T12" fmla="*/ 506 w 572"/>
                <a:gd name="T13" fmla="*/ 37 h 347"/>
                <a:gd name="T14" fmla="*/ 302 w 572"/>
                <a:gd name="T15" fmla="*/ 196 h 347"/>
                <a:gd name="T16" fmla="*/ 190 w 572"/>
                <a:gd name="T17" fmla="*/ 148 h 347"/>
                <a:gd name="T18" fmla="*/ 2 w 572"/>
                <a:gd name="T19" fmla="*/ 327 h 347"/>
                <a:gd name="T20" fmla="*/ 0 w 572"/>
                <a:gd name="T21" fmla="*/ 331 h 347"/>
                <a:gd name="T22" fmla="*/ 2 w 572"/>
                <a:gd name="T23" fmla="*/ 336 h 347"/>
                <a:gd name="T24" fmla="*/ 10 w 572"/>
                <a:gd name="T25" fmla="*/ 345 h 347"/>
                <a:gd name="T26" fmla="*/ 15 w 572"/>
                <a:gd name="T27" fmla="*/ 347 h 347"/>
                <a:gd name="T28" fmla="*/ 19 w 572"/>
                <a:gd name="T29" fmla="*/ 345 h 347"/>
                <a:gd name="T30" fmla="*/ 195 w 572"/>
                <a:gd name="T31" fmla="*/ 178 h 347"/>
                <a:gd name="T32" fmla="*/ 306 w 572"/>
                <a:gd name="T33" fmla="*/ 225 h 347"/>
                <a:gd name="T34" fmla="*/ 521 w 572"/>
                <a:gd name="T35" fmla="*/ 57 h 347"/>
                <a:gd name="T36" fmla="*/ 529 w 572"/>
                <a:gd name="T37" fmla="*/ 68 h 347"/>
                <a:gd name="T38" fmla="*/ 533 w 572"/>
                <a:gd name="T39" fmla="*/ 69 h 347"/>
                <a:gd name="T40" fmla="*/ 536 w 572"/>
                <a:gd name="T41" fmla="*/ 67 h 347"/>
                <a:gd name="T42" fmla="*/ 572 w 572"/>
                <a:gd name="T43" fmla="*/ 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72" h="347">
                  <a:moveTo>
                    <a:pt x="572" y="7"/>
                  </a:moveTo>
                  <a:cubicBezTo>
                    <a:pt x="572" y="5"/>
                    <a:pt x="572" y="4"/>
                    <a:pt x="571" y="2"/>
                  </a:cubicBezTo>
                  <a:cubicBezTo>
                    <a:pt x="570" y="1"/>
                    <a:pt x="568" y="0"/>
                    <a:pt x="567" y="1"/>
                  </a:cubicBezTo>
                  <a:cubicBezTo>
                    <a:pt x="500" y="20"/>
                    <a:pt x="500" y="20"/>
                    <a:pt x="500" y="20"/>
                  </a:cubicBezTo>
                  <a:cubicBezTo>
                    <a:pt x="498" y="21"/>
                    <a:pt x="497" y="22"/>
                    <a:pt x="497" y="23"/>
                  </a:cubicBezTo>
                  <a:cubicBezTo>
                    <a:pt x="496" y="25"/>
                    <a:pt x="497" y="26"/>
                    <a:pt x="498" y="27"/>
                  </a:cubicBezTo>
                  <a:cubicBezTo>
                    <a:pt x="506" y="37"/>
                    <a:pt x="506" y="37"/>
                    <a:pt x="506" y="37"/>
                  </a:cubicBezTo>
                  <a:cubicBezTo>
                    <a:pt x="302" y="196"/>
                    <a:pt x="302" y="196"/>
                    <a:pt x="302" y="196"/>
                  </a:cubicBezTo>
                  <a:cubicBezTo>
                    <a:pt x="190" y="148"/>
                    <a:pt x="190" y="148"/>
                    <a:pt x="190" y="148"/>
                  </a:cubicBezTo>
                  <a:cubicBezTo>
                    <a:pt x="2" y="327"/>
                    <a:pt x="2" y="327"/>
                    <a:pt x="2" y="327"/>
                  </a:cubicBezTo>
                  <a:cubicBezTo>
                    <a:pt x="1" y="328"/>
                    <a:pt x="0" y="329"/>
                    <a:pt x="0" y="331"/>
                  </a:cubicBezTo>
                  <a:cubicBezTo>
                    <a:pt x="0" y="333"/>
                    <a:pt x="0" y="334"/>
                    <a:pt x="2" y="336"/>
                  </a:cubicBezTo>
                  <a:cubicBezTo>
                    <a:pt x="10" y="345"/>
                    <a:pt x="10" y="345"/>
                    <a:pt x="10" y="345"/>
                  </a:cubicBezTo>
                  <a:cubicBezTo>
                    <a:pt x="11" y="346"/>
                    <a:pt x="13" y="347"/>
                    <a:pt x="15" y="347"/>
                  </a:cubicBezTo>
                  <a:cubicBezTo>
                    <a:pt x="16" y="347"/>
                    <a:pt x="18" y="346"/>
                    <a:pt x="19" y="345"/>
                  </a:cubicBezTo>
                  <a:cubicBezTo>
                    <a:pt x="195" y="178"/>
                    <a:pt x="195" y="178"/>
                    <a:pt x="195" y="178"/>
                  </a:cubicBezTo>
                  <a:cubicBezTo>
                    <a:pt x="306" y="225"/>
                    <a:pt x="306" y="225"/>
                    <a:pt x="306" y="225"/>
                  </a:cubicBezTo>
                  <a:cubicBezTo>
                    <a:pt x="521" y="57"/>
                    <a:pt x="521" y="57"/>
                    <a:pt x="521" y="57"/>
                  </a:cubicBezTo>
                  <a:cubicBezTo>
                    <a:pt x="529" y="68"/>
                    <a:pt x="529" y="68"/>
                    <a:pt x="529" y="68"/>
                  </a:cubicBezTo>
                  <a:cubicBezTo>
                    <a:pt x="530" y="69"/>
                    <a:pt x="531" y="69"/>
                    <a:pt x="533" y="69"/>
                  </a:cubicBezTo>
                  <a:cubicBezTo>
                    <a:pt x="534" y="69"/>
                    <a:pt x="535" y="68"/>
                    <a:pt x="536" y="67"/>
                  </a:cubicBezTo>
                  <a:lnTo>
                    <a:pt x="57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mj-ea"/>
                <a:ea typeface="+mj-ea"/>
                <a:cs typeface="Amiri" panose="00000500000000000000" charset="0"/>
              </a:endParaRPr>
            </a:p>
          </p:txBody>
        </p:sp>
      </p:grpSp>
      <p:sp>
        <p:nvSpPr>
          <p:cNvPr id="4" name="矩形 3">
            <a:extLst>
              <a:ext uri="{FF2B5EF4-FFF2-40B4-BE49-F238E27FC236}">
                <a16:creationId xmlns:a16="http://schemas.microsoft.com/office/drawing/2014/main" id="{95258F2D-72BF-4284-163D-6063C889EE08}"/>
              </a:ext>
            </a:extLst>
          </p:cNvPr>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研究動機及臨床需求</a:t>
            </a:r>
            <a:endParaRPr lang="zh-CN" altLang="en-US" sz="3600" dirty="0">
              <a:cs typeface="Amiri" panose="00000500000000000000" charset="0"/>
            </a:endParaRPr>
          </a:p>
        </p:txBody>
      </p:sp>
      <p:sp>
        <p:nvSpPr>
          <p:cNvPr id="346" name="文字方塊 345">
            <a:extLst>
              <a:ext uri="{FF2B5EF4-FFF2-40B4-BE49-F238E27FC236}">
                <a16:creationId xmlns:a16="http://schemas.microsoft.com/office/drawing/2014/main" id="{9C86D05D-708C-31BF-6E6B-ABA3F29CC405}"/>
              </a:ext>
            </a:extLst>
          </p:cNvPr>
          <p:cNvSpPr txBox="1"/>
          <p:nvPr/>
        </p:nvSpPr>
        <p:spPr>
          <a:xfrm>
            <a:off x="6282607" y="4504197"/>
            <a:ext cx="4726358" cy="923330"/>
          </a:xfrm>
          <a:prstGeom prst="rect">
            <a:avLst/>
          </a:prstGeom>
          <a:noFill/>
        </p:spPr>
        <p:txBody>
          <a:bodyPr wrap="square">
            <a:spAutoFit/>
          </a:bodyPr>
          <a:lstStyle/>
          <a:p>
            <a:r>
              <a:rPr lang="zh-TW" altLang="en-US" dirty="0"/>
              <a:t>當病人在醫院接受完診斷，回家後用眼習慣難以持續追蹤，目前市面上尚無較好的持續性照護。</a:t>
            </a:r>
          </a:p>
        </p:txBody>
      </p:sp>
      <p:sp>
        <p:nvSpPr>
          <p:cNvPr id="366" name="文字方塊 365">
            <a:extLst>
              <a:ext uri="{FF2B5EF4-FFF2-40B4-BE49-F238E27FC236}">
                <a16:creationId xmlns:a16="http://schemas.microsoft.com/office/drawing/2014/main" id="{640C0DC6-EAD8-C37A-7EC8-96344A004502}"/>
              </a:ext>
            </a:extLst>
          </p:cNvPr>
          <p:cNvSpPr txBox="1"/>
          <p:nvPr/>
        </p:nvSpPr>
        <p:spPr>
          <a:xfrm>
            <a:off x="6282607" y="3647928"/>
            <a:ext cx="4555837" cy="646331"/>
          </a:xfrm>
          <a:prstGeom prst="rect">
            <a:avLst/>
          </a:prstGeom>
          <a:noFill/>
        </p:spPr>
        <p:txBody>
          <a:bodyPr wrap="square">
            <a:spAutoFit/>
          </a:bodyPr>
          <a:lstStyle/>
          <a:p>
            <a:r>
              <a:rPr lang="zh-TW" altLang="en-US" dirty="0"/>
              <a:t>幼兒日常用眼評估與提醒的精準眼睛保健工具，以進行早期發現和治療。</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127" y="2557690"/>
            <a:ext cx="6358298" cy="1754326"/>
          </a:xfrm>
          <a:prstGeom prst="rect">
            <a:avLst/>
          </a:prstGeom>
          <a:noFill/>
        </p:spPr>
        <p:txBody>
          <a:bodyPr wrap="square" rtlCol="0">
            <a:spAutoFit/>
          </a:bodyPr>
          <a:lstStyle/>
          <a:p>
            <a:r>
              <a:rPr lang="en-US" altLang="zh-TW" sz="5400" b="1" dirty="0">
                <a:solidFill>
                  <a:schemeClr val="bg1"/>
                </a:solidFill>
                <a:cs typeface="Amiri" panose="00000500000000000000" charset="0"/>
              </a:rPr>
              <a:t>02</a:t>
            </a:r>
          </a:p>
          <a:p>
            <a:r>
              <a:rPr lang="zh-TW" altLang="en-US" sz="5400" b="1" dirty="0">
                <a:solidFill>
                  <a:schemeClr val="bg1"/>
                </a:solidFill>
                <a:cs typeface="Amiri" panose="00000500000000000000" charset="0"/>
              </a:rPr>
              <a:t>研究問題及研究方法</a:t>
            </a:r>
            <a:endParaRPr lang="en-US" altLang="zh-CN" sz="5400" b="1"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2</a:t>
            </a:r>
            <a:endParaRPr lang="zh-CN" altLang="en-US" sz="4000" u="sng" dirty="0">
              <a:solidFill>
                <a:srgbClr val="1A9895"/>
              </a:solidFill>
              <a:cs typeface="Amiri" panose="00000500000000000000" charset="0"/>
            </a:endParaRPr>
          </a:p>
        </p:txBody>
      </p:sp>
      <p:sp>
        <p:nvSpPr>
          <p:cNvPr id="3" name="矩形 2"/>
          <p:cNvSpPr/>
          <p:nvPr/>
        </p:nvSpPr>
        <p:spPr>
          <a:xfrm>
            <a:off x="1651000" y="433705"/>
            <a:ext cx="6544945" cy="646331"/>
          </a:xfrm>
          <a:prstGeom prst="rect">
            <a:avLst/>
          </a:prstGeom>
        </p:spPr>
        <p:txBody>
          <a:bodyPr wrap="square">
            <a:spAutoFit/>
          </a:bodyPr>
          <a:lstStyle/>
          <a:p>
            <a:r>
              <a:rPr lang="zh-TW" altLang="en-US" sz="3600" dirty="0">
                <a:cs typeface="Amiri" panose="00000500000000000000" charset="0"/>
              </a:rPr>
              <a:t>研究動機及解決方法</a:t>
            </a:r>
            <a:endParaRPr lang="zh-CN" altLang="en-US" sz="3600" dirty="0">
              <a:cs typeface="Amiri" panose="00000500000000000000" charset="0"/>
            </a:endParaRPr>
          </a:p>
        </p:txBody>
      </p:sp>
      <p:sp>
        <p:nvSpPr>
          <p:cNvPr id="5" name="矩形 4"/>
          <p:cNvSpPr/>
          <p:nvPr/>
        </p:nvSpPr>
        <p:spPr>
          <a:xfrm>
            <a:off x="667658" y="1329892"/>
            <a:ext cx="1415772"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研究問題</a:t>
            </a:r>
            <a:endParaRPr lang="zh-CN" altLang="en-US" sz="2400" b="1" dirty="0">
              <a:solidFill>
                <a:schemeClr val="tx1">
                  <a:lumMod val="75000"/>
                  <a:lumOff val="25000"/>
                </a:schemeClr>
              </a:solidFill>
              <a:cs typeface="Amiri" panose="00000500000000000000" charset="0"/>
            </a:endParaRPr>
          </a:p>
        </p:txBody>
      </p:sp>
      <p:sp>
        <p:nvSpPr>
          <p:cNvPr id="6" name="矩形 5"/>
          <p:cNvSpPr/>
          <p:nvPr/>
        </p:nvSpPr>
        <p:spPr>
          <a:xfrm>
            <a:off x="785794" y="1802351"/>
            <a:ext cx="9731419" cy="1659044"/>
          </a:xfrm>
          <a:prstGeom prst="rect">
            <a:avLst/>
          </a:prstGeom>
        </p:spPr>
        <p:txBody>
          <a:bodyPr wrap="square">
            <a:spAutoFit/>
          </a:bodyPr>
          <a:lstStyle/>
          <a:p>
            <a:pPr>
              <a:lnSpc>
                <a:spcPct val="130000"/>
              </a:lnSpc>
            </a:pPr>
            <a:r>
              <a:rPr lang="zh-TW" altLang="zh-TW" sz="2000" dirty="0">
                <a:solidFill>
                  <a:srgbClr val="404040"/>
                </a:solidFill>
                <a:effectLst/>
                <a:ea typeface="標楷體" panose="03000509000000000000" pitchFamily="65" charset="-120"/>
                <a:cs typeface="Gungsuh" panose="02030600000101010101" pitchFamily="18" charset="-127"/>
              </a:rPr>
              <a:t>與較少接觸屏幕的兒童相比，長時間使用電子屏幕的兒童更容易出現視力問題，</a:t>
            </a:r>
            <a:endParaRPr lang="en-US" altLang="zh-TW" sz="2000" dirty="0">
              <a:solidFill>
                <a:srgbClr val="404040"/>
              </a:solidFill>
              <a:effectLst/>
              <a:ea typeface="標楷體" panose="03000509000000000000" pitchFamily="65" charset="-120"/>
              <a:cs typeface="Gungsuh" panose="02030600000101010101" pitchFamily="18" charset="-127"/>
            </a:endParaRPr>
          </a:p>
          <a:p>
            <a:pPr>
              <a:lnSpc>
                <a:spcPct val="130000"/>
              </a:lnSpc>
            </a:pPr>
            <a:r>
              <a:rPr lang="zh-TW" altLang="zh-TW" sz="2000" dirty="0">
                <a:solidFill>
                  <a:srgbClr val="404040"/>
                </a:solidFill>
                <a:effectLst/>
                <a:ea typeface="標楷體" panose="03000509000000000000" pitchFamily="65" charset="-120"/>
                <a:cs typeface="Gungsuh" panose="02030600000101010101" pitchFamily="18" charset="-127"/>
              </a:rPr>
              <a:t>如</a:t>
            </a:r>
            <a:r>
              <a:rPr lang="zh-TW" altLang="zh-TW" sz="2000" b="1" dirty="0">
                <a:solidFill>
                  <a:srgbClr val="1A9895"/>
                </a:solidFill>
                <a:effectLst/>
                <a:ea typeface="標楷體" panose="03000509000000000000" pitchFamily="65" charset="-120"/>
                <a:cs typeface="Gungsuh" panose="02030600000101010101" pitchFamily="18" charset="-127"/>
              </a:rPr>
              <a:t>近視發展、視力疲勞和調節功能障礙</a:t>
            </a:r>
            <a:r>
              <a:rPr lang="zh-TW" altLang="en-US" sz="2000" dirty="0">
                <a:solidFill>
                  <a:srgbClr val="00272C"/>
                </a:solidFill>
                <a:effectLst/>
                <a:ea typeface="標楷體" panose="03000509000000000000" pitchFamily="65" charset="-120"/>
                <a:cs typeface="Gungsuh" panose="02030600000101010101" pitchFamily="18" charset="-127"/>
              </a:rPr>
              <a:t>。</a:t>
            </a:r>
            <a:endParaRPr lang="en-US" altLang="zh-TW" sz="2000" dirty="0">
              <a:solidFill>
                <a:srgbClr val="00272C"/>
              </a:solidFill>
              <a:effectLst/>
              <a:ea typeface="標楷體" panose="03000509000000000000" pitchFamily="65" charset="-120"/>
              <a:cs typeface="Gungsuh" panose="02030600000101010101" pitchFamily="18" charset="-127"/>
            </a:endParaRPr>
          </a:p>
          <a:p>
            <a:pPr>
              <a:lnSpc>
                <a:spcPct val="130000"/>
              </a:lnSpc>
            </a:pPr>
            <a:r>
              <a:rPr lang="zh-TW" altLang="zh-TW" sz="1800" dirty="0">
                <a:solidFill>
                  <a:srgbClr val="404040"/>
                </a:solidFill>
                <a:effectLst/>
                <a:ea typeface="標楷體" panose="03000509000000000000" pitchFamily="65" charset="-120"/>
                <a:cs typeface="Gungsuh" panose="02030600000101010101" pitchFamily="18" charset="-127"/>
              </a:rPr>
              <a:t>Mutti et al.（2002）的研究確認了</a:t>
            </a:r>
            <a:r>
              <a:rPr lang="zh-TW" altLang="zh-TW" sz="2000" dirty="0">
                <a:solidFill>
                  <a:srgbClr val="404040"/>
                </a:solidFill>
                <a:effectLst/>
                <a:ea typeface="標楷體" panose="03000509000000000000" pitchFamily="65" charset="-120"/>
                <a:cs typeface="Gungsuh" panose="02030600000101010101" pitchFamily="18" charset="-127"/>
              </a:rPr>
              <a:t>近距離工作（包括屏幕時間）與兒童近視發展之間的相關性，並指出家庭近視史可能加劇這一風險。</a:t>
            </a:r>
            <a:endParaRPr lang="en-US" altLang="zh-TW" sz="2000" b="1" dirty="0">
              <a:solidFill>
                <a:srgbClr val="1A9895"/>
              </a:solidFill>
              <a:effectLst/>
              <a:ea typeface="標楷體" panose="03000509000000000000" pitchFamily="65" charset="-120"/>
              <a:cs typeface="Gungsuh" panose="02030600000101010101" pitchFamily="18" charset="-127"/>
            </a:endParaRPr>
          </a:p>
        </p:txBody>
      </p:sp>
      <p:sp>
        <p:nvSpPr>
          <p:cNvPr id="7" name="矩形 6"/>
          <p:cNvSpPr/>
          <p:nvPr/>
        </p:nvSpPr>
        <p:spPr>
          <a:xfrm>
            <a:off x="667658" y="3476851"/>
            <a:ext cx="1415772"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解決辦法</a:t>
            </a:r>
            <a:endParaRPr lang="zh-CN" altLang="en-US" sz="2400" b="1" dirty="0">
              <a:solidFill>
                <a:schemeClr val="tx1">
                  <a:lumMod val="75000"/>
                  <a:lumOff val="25000"/>
                </a:schemeClr>
              </a:solidFill>
              <a:cs typeface="Amiri" panose="00000500000000000000" charset="0"/>
            </a:endParaRPr>
          </a:p>
        </p:txBody>
      </p:sp>
      <p:sp>
        <p:nvSpPr>
          <p:cNvPr id="14" name="矩形 13"/>
          <p:cNvSpPr/>
          <p:nvPr/>
        </p:nvSpPr>
        <p:spPr>
          <a:xfrm>
            <a:off x="584370" y="3967142"/>
            <a:ext cx="9824903" cy="877163"/>
          </a:xfrm>
          <a:prstGeom prst="rect">
            <a:avLst/>
          </a:prstGeom>
        </p:spPr>
        <p:txBody>
          <a:bodyPr wrap="square">
            <a:spAutoFit/>
          </a:bodyPr>
          <a:lstStyle/>
          <a:p>
            <a:pPr algn="r"/>
            <a:r>
              <a:rPr lang="zh-TW" altLang="en-US" sz="2000" dirty="0">
                <a:solidFill>
                  <a:srgbClr val="0D0D0D"/>
                </a:solidFill>
                <a:effectLst/>
                <a:ea typeface="標楷體" panose="03000509000000000000" pitchFamily="65" charset="-120"/>
                <a:cs typeface="Gungsuh" panose="02030600000101010101" pitchFamily="18" charset="-127"/>
              </a:rPr>
              <a:t>設計一個螢幕，可記錄幼兒用眼情況，如是否斜視、是否離螢幕愈來愈近、眨眼頻率</a:t>
            </a:r>
            <a:endParaRPr lang="en-US" altLang="zh-TW" sz="2000" dirty="0">
              <a:solidFill>
                <a:srgbClr val="0D0D0D"/>
              </a:solidFill>
              <a:effectLst/>
              <a:ea typeface="標楷體" panose="03000509000000000000" pitchFamily="65" charset="-120"/>
              <a:cs typeface="Gungsuh" panose="02030600000101010101" pitchFamily="18" charset="-127"/>
            </a:endParaRPr>
          </a:p>
          <a:p>
            <a:r>
              <a:rPr lang="zh-TW" altLang="en-US" sz="2000" dirty="0">
                <a:solidFill>
                  <a:srgbClr val="0D0D0D"/>
                </a:solidFill>
                <a:effectLst/>
                <a:ea typeface="標楷體" panose="03000509000000000000" pitchFamily="65" charset="-120"/>
                <a:cs typeface="Gungsuh" panose="02030600000101010101" pitchFamily="18" charset="-127"/>
              </a:rPr>
              <a:t>    等用眼日記，以提供醫師診斷參考</a:t>
            </a:r>
            <a:endParaRPr lang="zh-TW" altLang="en-US" sz="2000" dirty="0">
              <a:solidFill>
                <a:schemeClr val="tx1">
                  <a:lumMod val="75000"/>
                  <a:lumOff val="25000"/>
                </a:schemeClr>
              </a:solidFill>
              <a:ea typeface="Amiri" panose="00000500000000000000" charset="0"/>
              <a:cs typeface="Amiri" panose="00000500000000000000" charset="0"/>
            </a:endParaRPr>
          </a:p>
          <a:p>
            <a:pPr algn="r"/>
            <a:endParaRPr lang="en-US" altLang="zh-CN" sz="1100" dirty="0">
              <a:solidFill>
                <a:schemeClr val="tx1">
                  <a:lumMod val="85000"/>
                  <a:lumOff val="15000"/>
                </a:schemeClr>
              </a:solidFill>
              <a:cs typeface="Amiri" panose="00000500000000000000" charset="0"/>
            </a:endParaRPr>
          </a:p>
        </p:txBody>
      </p:sp>
      <p:grpSp>
        <p:nvGrpSpPr>
          <p:cNvPr id="21" name="Group 11"/>
          <p:cNvGrpSpPr>
            <a:grpSpLocks noChangeAspect="1"/>
          </p:cNvGrpSpPr>
          <p:nvPr/>
        </p:nvGrpSpPr>
        <p:grpSpPr bwMode="auto">
          <a:xfrm>
            <a:off x="2624952" y="5309960"/>
            <a:ext cx="907982" cy="644666"/>
            <a:chOff x="1407" y="1098"/>
            <a:chExt cx="800" cy="568"/>
          </a:xfrm>
          <a:solidFill>
            <a:srgbClr val="1A9895"/>
          </a:solidFill>
        </p:grpSpPr>
        <p:sp>
          <p:nvSpPr>
            <p:cNvPr id="22" name="Freeform 12"/>
            <p:cNvSpPr>
              <a:spLocks noEditPoints="1"/>
            </p:cNvSpPr>
            <p:nvPr/>
          </p:nvSpPr>
          <p:spPr bwMode="auto">
            <a:xfrm>
              <a:off x="1494" y="1098"/>
              <a:ext cx="626" cy="423"/>
            </a:xfrm>
            <a:custGeom>
              <a:avLst/>
              <a:gdLst>
                <a:gd name="T0" fmla="*/ 621 w 628"/>
                <a:gd name="T1" fmla="*/ 7 h 423"/>
                <a:gd name="T2" fmla="*/ 605 w 628"/>
                <a:gd name="T3" fmla="*/ 0 h 423"/>
                <a:gd name="T4" fmla="*/ 23 w 628"/>
                <a:gd name="T5" fmla="*/ 0 h 423"/>
                <a:gd name="T6" fmla="*/ 7 w 628"/>
                <a:gd name="T7" fmla="*/ 7 h 423"/>
                <a:gd name="T8" fmla="*/ 0 w 628"/>
                <a:gd name="T9" fmla="*/ 23 h 423"/>
                <a:gd name="T10" fmla="*/ 0 w 628"/>
                <a:gd name="T11" fmla="*/ 423 h 423"/>
                <a:gd name="T12" fmla="*/ 628 w 628"/>
                <a:gd name="T13" fmla="*/ 423 h 423"/>
                <a:gd name="T14" fmla="*/ 628 w 628"/>
                <a:gd name="T15" fmla="*/ 23 h 423"/>
                <a:gd name="T16" fmla="*/ 621 w 628"/>
                <a:gd name="T17" fmla="*/ 7 h 423"/>
                <a:gd name="T18" fmla="*/ 314 w 628"/>
                <a:gd name="T19" fmla="*/ 13 h 423"/>
                <a:gd name="T20" fmla="*/ 321 w 628"/>
                <a:gd name="T21" fmla="*/ 20 h 423"/>
                <a:gd name="T22" fmla="*/ 314 w 628"/>
                <a:gd name="T23" fmla="*/ 27 h 423"/>
                <a:gd name="T24" fmla="*/ 307 w 628"/>
                <a:gd name="T25" fmla="*/ 20 h 423"/>
                <a:gd name="T26" fmla="*/ 314 w 628"/>
                <a:gd name="T27" fmla="*/ 13 h 423"/>
                <a:gd name="T28" fmla="*/ 587 w 628"/>
                <a:gd name="T29" fmla="*/ 382 h 423"/>
                <a:gd name="T30" fmla="*/ 41 w 628"/>
                <a:gd name="T31" fmla="*/ 382 h 423"/>
                <a:gd name="T32" fmla="*/ 41 w 628"/>
                <a:gd name="T33" fmla="*/ 41 h 423"/>
                <a:gd name="T34" fmla="*/ 587 w 628"/>
                <a:gd name="T35" fmla="*/ 41 h 423"/>
                <a:gd name="T36" fmla="*/ 587 w 628"/>
                <a:gd name="T37" fmla="*/ 382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8" h="423">
                  <a:moveTo>
                    <a:pt x="621" y="7"/>
                  </a:moveTo>
                  <a:cubicBezTo>
                    <a:pt x="617" y="2"/>
                    <a:pt x="611" y="0"/>
                    <a:pt x="605" y="0"/>
                  </a:cubicBezTo>
                  <a:cubicBezTo>
                    <a:pt x="23" y="0"/>
                    <a:pt x="23" y="0"/>
                    <a:pt x="23" y="0"/>
                  </a:cubicBezTo>
                  <a:cubicBezTo>
                    <a:pt x="17" y="0"/>
                    <a:pt x="11" y="2"/>
                    <a:pt x="7" y="7"/>
                  </a:cubicBezTo>
                  <a:cubicBezTo>
                    <a:pt x="2" y="11"/>
                    <a:pt x="0" y="17"/>
                    <a:pt x="0" y="23"/>
                  </a:cubicBezTo>
                  <a:cubicBezTo>
                    <a:pt x="0" y="423"/>
                    <a:pt x="0" y="423"/>
                    <a:pt x="0" y="423"/>
                  </a:cubicBezTo>
                  <a:cubicBezTo>
                    <a:pt x="628" y="423"/>
                    <a:pt x="628" y="423"/>
                    <a:pt x="628" y="423"/>
                  </a:cubicBezTo>
                  <a:cubicBezTo>
                    <a:pt x="628" y="23"/>
                    <a:pt x="628" y="23"/>
                    <a:pt x="628" y="23"/>
                  </a:cubicBezTo>
                  <a:cubicBezTo>
                    <a:pt x="628" y="17"/>
                    <a:pt x="626" y="11"/>
                    <a:pt x="621" y="7"/>
                  </a:cubicBezTo>
                  <a:close/>
                  <a:moveTo>
                    <a:pt x="314" y="13"/>
                  </a:moveTo>
                  <a:cubicBezTo>
                    <a:pt x="318" y="13"/>
                    <a:pt x="321" y="16"/>
                    <a:pt x="321" y="20"/>
                  </a:cubicBezTo>
                  <a:cubicBezTo>
                    <a:pt x="321" y="24"/>
                    <a:pt x="318" y="27"/>
                    <a:pt x="314" y="27"/>
                  </a:cubicBezTo>
                  <a:cubicBezTo>
                    <a:pt x="310" y="27"/>
                    <a:pt x="307" y="24"/>
                    <a:pt x="307" y="20"/>
                  </a:cubicBezTo>
                  <a:cubicBezTo>
                    <a:pt x="307" y="16"/>
                    <a:pt x="310" y="13"/>
                    <a:pt x="314" y="13"/>
                  </a:cubicBezTo>
                  <a:close/>
                  <a:moveTo>
                    <a:pt x="587" y="382"/>
                  </a:moveTo>
                  <a:cubicBezTo>
                    <a:pt x="41" y="382"/>
                    <a:pt x="41" y="382"/>
                    <a:pt x="41" y="382"/>
                  </a:cubicBezTo>
                  <a:cubicBezTo>
                    <a:pt x="41" y="41"/>
                    <a:pt x="41" y="41"/>
                    <a:pt x="41" y="41"/>
                  </a:cubicBezTo>
                  <a:cubicBezTo>
                    <a:pt x="587" y="41"/>
                    <a:pt x="587" y="41"/>
                    <a:pt x="587" y="41"/>
                  </a:cubicBezTo>
                  <a:lnTo>
                    <a:pt x="587" y="3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3" name="Freeform 13"/>
            <p:cNvSpPr>
              <a:spLocks noEditPoints="1"/>
            </p:cNvSpPr>
            <p:nvPr/>
          </p:nvSpPr>
          <p:spPr bwMode="auto">
            <a:xfrm>
              <a:off x="1407" y="1538"/>
              <a:ext cx="800" cy="97"/>
            </a:xfrm>
            <a:custGeom>
              <a:avLst/>
              <a:gdLst>
                <a:gd name="T0" fmla="*/ 87 w 802"/>
                <a:gd name="T1" fmla="*/ 0 h 97"/>
                <a:gd name="T2" fmla="*/ 4 w 802"/>
                <a:gd name="T3" fmla="*/ 83 h 97"/>
                <a:gd name="T4" fmla="*/ 2 w 802"/>
                <a:gd name="T5" fmla="*/ 92 h 97"/>
                <a:gd name="T6" fmla="*/ 10 w 802"/>
                <a:gd name="T7" fmla="*/ 97 h 97"/>
                <a:gd name="T8" fmla="*/ 792 w 802"/>
                <a:gd name="T9" fmla="*/ 97 h 97"/>
                <a:gd name="T10" fmla="*/ 800 w 802"/>
                <a:gd name="T11" fmla="*/ 92 h 97"/>
                <a:gd name="T12" fmla="*/ 798 w 802"/>
                <a:gd name="T13" fmla="*/ 83 h 97"/>
                <a:gd name="T14" fmla="*/ 715 w 802"/>
                <a:gd name="T15" fmla="*/ 0 h 97"/>
                <a:gd name="T16" fmla="*/ 87 w 802"/>
                <a:gd name="T17" fmla="*/ 0 h 97"/>
                <a:gd name="T18" fmla="*/ 711 w 802"/>
                <a:gd name="T19" fmla="*/ 47 h 97"/>
                <a:gd name="T20" fmla="*/ 712 w 802"/>
                <a:gd name="T21" fmla="*/ 54 h 97"/>
                <a:gd name="T22" fmla="*/ 706 w 802"/>
                <a:gd name="T23" fmla="*/ 58 h 97"/>
                <a:gd name="T24" fmla="*/ 484 w 802"/>
                <a:gd name="T25" fmla="*/ 58 h 97"/>
                <a:gd name="T26" fmla="*/ 485 w 802"/>
                <a:gd name="T27" fmla="*/ 64 h 97"/>
                <a:gd name="T28" fmla="*/ 484 w 802"/>
                <a:gd name="T29" fmla="*/ 67 h 97"/>
                <a:gd name="T30" fmla="*/ 481 w 802"/>
                <a:gd name="T31" fmla="*/ 69 h 97"/>
                <a:gd name="T32" fmla="*/ 321 w 802"/>
                <a:gd name="T33" fmla="*/ 69 h 97"/>
                <a:gd name="T34" fmla="*/ 318 w 802"/>
                <a:gd name="T35" fmla="*/ 67 h 97"/>
                <a:gd name="T36" fmla="*/ 317 w 802"/>
                <a:gd name="T37" fmla="*/ 64 h 97"/>
                <a:gd name="T38" fmla="*/ 318 w 802"/>
                <a:gd name="T39" fmla="*/ 58 h 97"/>
                <a:gd name="T40" fmla="*/ 96 w 802"/>
                <a:gd name="T41" fmla="*/ 58 h 97"/>
                <a:gd name="T42" fmla="*/ 90 w 802"/>
                <a:gd name="T43" fmla="*/ 54 h 97"/>
                <a:gd name="T44" fmla="*/ 91 w 802"/>
                <a:gd name="T45" fmla="*/ 47 h 97"/>
                <a:gd name="T46" fmla="*/ 113 w 802"/>
                <a:gd name="T47" fmla="*/ 20 h 97"/>
                <a:gd name="T48" fmla="*/ 689 w 802"/>
                <a:gd name="T49" fmla="*/ 20 h 97"/>
                <a:gd name="T50" fmla="*/ 711 w 802"/>
                <a:gd name="T5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02" h="97">
                  <a:moveTo>
                    <a:pt x="87" y="0"/>
                  </a:moveTo>
                  <a:cubicBezTo>
                    <a:pt x="4" y="83"/>
                    <a:pt x="4" y="83"/>
                    <a:pt x="4" y="83"/>
                  </a:cubicBezTo>
                  <a:cubicBezTo>
                    <a:pt x="1" y="85"/>
                    <a:pt x="0" y="89"/>
                    <a:pt x="2" y="92"/>
                  </a:cubicBezTo>
                  <a:cubicBezTo>
                    <a:pt x="3" y="95"/>
                    <a:pt x="6" y="97"/>
                    <a:pt x="10" y="97"/>
                  </a:cubicBezTo>
                  <a:cubicBezTo>
                    <a:pt x="792" y="97"/>
                    <a:pt x="792" y="97"/>
                    <a:pt x="792" y="97"/>
                  </a:cubicBezTo>
                  <a:cubicBezTo>
                    <a:pt x="796" y="97"/>
                    <a:pt x="799" y="95"/>
                    <a:pt x="800" y="92"/>
                  </a:cubicBezTo>
                  <a:cubicBezTo>
                    <a:pt x="802" y="89"/>
                    <a:pt x="801" y="85"/>
                    <a:pt x="798" y="83"/>
                  </a:cubicBezTo>
                  <a:cubicBezTo>
                    <a:pt x="715" y="0"/>
                    <a:pt x="715" y="0"/>
                    <a:pt x="715" y="0"/>
                  </a:cubicBezTo>
                  <a:lnTo>
                    <a:pt x="87" y="0"/>
                  </a:lnTo>
                  <a:close/>
                  <a:moveTo>
                    <a:pt x="711" y="47"/>
                  </a:moveTo>
                  <a:cubicBezTo>
                    <a:pt x="713" y="49"/>
                    <a:pt x="713" y="51"/>
                    <a:pt x="712" y="54"/>
                  </a:cubicBezTo>
                  <a:cubicBezTo>
                    <a:pt x="711" y="56"/>
                    <a:pt x="709" y="58"/>
                    <a:pt x="706" y="58"/>
                  </a:cubicBezTo>
                  <a:cubicBezTo>
                    <a:pt x="484" y="58"/>
                    <a:pt x="484" y="58"/>
                    <a:pt x="484" y="58"/>
                  </a:cubicBezTo>
                  <a:cubicBezTo>
                    <a:pt x="485" y="64"/>
                    <a:pt x="485" y="64"/>
                    <a:pt x="485" y="64"/>
                  </a:cubicBezTo>
                  <a:cubicBezTo>
                    <a:pt x="485" y="65"/>
                    <a:pt x="485" y="66"/>
                    <a:pt x="484" y="67"/>
                  </a:cubicBezTo>
                  <a:cubicBezTo>
                    <a:pt x="483" y="68"/>
                    <a:pt x="482" y="69"/>
                    <a:pt x="481" y="69"/>
                  </a:cubicBezTo>
                  <a:cubicBezTo>
                    <a:pt x="321" y="69"/>
                    <a:pt x="321" y="69"/>
                    <a:pt x="321" y="69"/>
                  </a:cubicBezTo>
                  <a:cubicBezTo>
                    <a:pt x="320" y="69"/>
                    <a:pt x="319" y="68"/>
                    <a:pt x="318" y="67"/>
                  </a:cubicBezTo>
                  <a:cubicBezTo>
                    <a:pt x="317" y="66"/>
                    <a:pt x="317" y="65"/>
                    <a:pt x="317" y="64"/>
                  </a:cubicBezTo>
                  <a:cubicBezTo>
                    <a:pt x="318" y="58"/>
                    <a:pt x="318" y="58"/>
                    <a:pt x="318" y="58"/>
                  </a:cubicBezTo>
                  <a:cubicBezTo>
                    <a:pt x="96" y="58"/>
                    <a:pt x="96" y="58"/>
                    <a:pt x="96" y="58"/>
                  </a:cubicBezTo>
                  <a:cubicBezTo>
                    <a:pt x="93" y="58"/>
                    <a:pt x="91" y="56"/>
                    <a:pt x="90" y="54"/>
                  </a:cubicBezTo>
                  <a:cubicBezTo>
                    <a:pt x="89" y="51"/>
                    <a:pt x="89" y="49"/>
                    <a:pt x="91" y="47"/>
                  </a:cubicBezTo>
                  <a:cubicBezTo>
                    <a:pt x="113" y="20"/>
                    <a:pt x="113" y="20"/>
                    <a:pt x="113" y="20"/>
                  </a:cubicBezTo>
                  <a:cubicBezTo>
                    <a:pt x="689" y="20"/>
                    <a:pt x="689" y="20"/>
                    <a:pt x="689" y="20"/>
                  </a:cubicBezTo>
                  <a:lnTo>
                    <a:pt x="711" y="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4" name="Freeform 14"/>
            <p:cNvSpPr>
              <a:spLocks noEditPoints="1"/>
            </p:cNvSpPr>
            <p:nvPr/>
          </p:nvSpPr>
          <p:spPr bwMode="auto">
            <a:xfrm>
              <a:off x="1408" y="1637"/>
              <a:ext cx="798" cy="29"/>
            </a:xfrm>
            <a:custGeom>
              <a:avLst/>
              <a:gdLst>
                <a:gd name="T0" fmla="*/ 791 w 800"/>
                <a:gd name="T1" fmla="*/ 3 h 29"/>
                <a:gd name="T2" fmla="*/ 469 w 800"/>
                <a:gd name="T3" fmla="*/ 3 h 29"/>
                <a:gd name="T4" fmla="*/ 468 w 800"/>
                <a:gd name="T5" fmla="*/ 6 h 29"/>
                <a:gd name="T6" fmla="*/ 461 w 800"/>
                <a:gd name="T7" fmla="*/ 9 h 29"/>
                <a:gd name="T8" fmla="*/ 339 w 800"/>
                <a:gd name="T9" fmla="*/ 9 h 29"/>
                <a:gd name="T10" fmla="*/ 332 w 800"/>
                <a:gd name="T11" fmla="*/ 6 h 29"/>
                <a:gd name="T12" fmla="*/ 331 w 800"/>
                <a:gd name="T13" fmla="*/ 3 h 29"/>
                <a:gd name="T14" fmla="*/ 9 w 800"/>
                <a:gd name="T15" fmla="*/ 3 h 29"/>
                <a:gd name="T16" fmla="*/ 0 w 800"/>
                <a:gd name="T17" fmla="*/ 0 h 29"/>
                <a:gd name="T18" fmla="*/ 0 w 800"/>
                <a:gd name="T19" fmla="*/ 9 h 29"/>
                <a:gd name="T20" fmla="*/ 6 w 800"/>
                <a:gd name="T21" fmla="*/ 23 h 29"/>
                <a:gd name="T22" fmla="*/ 21 w 800"/>
                <a:gd name="T23" fmla="*/ 29 h 29"/>
                <a:gd name="T24" fmla="*/ 779 w 800"/>
                <a:gd name="T25" fmla="*/ 29 h 29"/>
                <a:gd name="T26" fmla="*/ 794 w 800"/>
                <a:gd name="T27" fmla="*/ 23 h 29"/>
                <a:gd name="T28" fmla="*/ 800 w 800"/>
                <a:gd name="T29" fmla="*/ 9 h 29"/>
                <a:gd name="T30" fmla="*/ 800 w 800"/>
                <a:gd name="T31" fmla="*/ 0 h 29"/>
                <a:gd name="T32" fmla="*/ 791 w 800"/>
                <a:gd name="T33" fmla="*/ 3 h 29"/>
                <a:gd name="T34" fmla="*/ 72 w 800"/>
                <a:gd name="T35" fmla="*/ 21 h 29"/>
                <a:gd name="T36" fmla="*/ 68 w 800"/>
                <a:gd name="T37" fmla="*/ 16 h 29"/>
                <a:gd name="T38" fmla="*/ 72 w 800"/>
                <a:gd name="T39" fmla="*/ 12 h 29"/>
                <a:gd name="T40" fmla="*/ 77 w 800"/>
                <a:gd name="T41" fmla="*/ 16 h 29"/>
                <a:gd name="T42" fmla="*/ 72 w 800"/>
                <a:gd name="T43" fmla="*/ 21 h 29"/>
                <a:gd name="T44" fmla="*/ 94 w 800"/>
                <a:gd name="T45" fmla="*/ 21 h 29"/>
                <a:gd name="T46" fmla="*/ 89 w 800"/>
                <a:gd name="T47" fmla="*/ 16 h 29"/>
                <a:gd name="T48" fmla="*/ 94 w 800"/>
                <a:gd name="T49" fmla="*/ 12 h 29"/>
                <a:gd name="T50" fmla="*/ 98 w 800"/>
                <a:gd name="T51" fmla="*/ 16 h 29"/>
                <a:gd name="T52" fmla="*/ 94 w 800"/>
                <a:gd name="T53" fmla="*/ 21 h 29"/>
                <a:gd name="T54" fmla="*/ 115 w 800"/>
                <a:gd name="T55" fmla="*/ 21 h 29"/>
                <a:gd name="T56" fmla="*/ 111 w 800"/>
                <a:gd name="T57" fmla="*/ 16 h 29"/>
                <a:gd name="T58" fmla="*/ 115 w 800"/>
                <a:gd name="T59" fmla="*/ 12 h 29"/>
                <a:gd name="T60" fmla="*/ 120 w 800"/>
                <a:gd name="T61" fmla="*/ 16 h 29"/>
                <a:gd name="T62" fmla="*/ 115 w 800"/>
                <a:gd name="T63" fmla="*/ 2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29">
                  <a:moveTo>
                    <a:pt x="791" y="3"/>
                  </a:moveTo>
                  <a:cubicBezTo>
                    <a:pt x="469" y="3"/>
                    <a:pt x="469" y="3"/>
                    <a:pt x="469" y="3"/>
                  </a:cubicBezTo>
                  <a:cubicBezTo>
                    <a:pt x="469" y="4"/>
                    <a:pt x="468" y="5"/>
                    <a:pt x="468" y="6"/>
                  </a:cubicBezTo>
                  <a:cubicBezTo>
                    <a:pt x="466" y="8"/>
                    <a:pt x="463" y="9"/>
                    <a:pt x="461" y="9"/>
                  </a:cubicBezTo>
                  <a:cubicBezTo>
                    <a:pt x="339" y="9"/>
                    <a:pt x="339" y="9"/>
                    <a:pt x="339" y="9"/>
                  </a:cubicBezTo>
                  <a:cubicBezTo>
                    <a:pt x="337" y="9"/>
                    <a:pt x="334" y="8"/>
                    <a:pt x="332" y="6"/>
                  </a:cubicBezTo>
                  <a:cubicBezTo>
                    <a:pt x="332" y="5"/>
                    <a:pt x="331" y="4"/>
                    <a:pt x="331" y="3"/>
                  </a:cubicBezTo>
                  <a:cubicBezTo>
                    <a:pt x="9" y="3"/>
                    <a:pt x="9" y="3"/>
                    <a:pt x="9" y="3"/>
                  </a:cubicBezTo>
                  <a:cubicBezTo>
                    <a:pt x="5" y="3"/>
                    <a:pt x="2" y="2"/>
                    <a:pt x="0" y="0"/>
                  </a:cubicBezTo>
                  <a:cubicBezTo>
                    <a:pt x="0" y="9"/>
                    <a:pt x="0" y="9"/>
                    <a:pt x="0" y="9"/>
                  </a:cubicBezTo>
                  <a:cubicBezTo>
                    <a:pt x="0" y="14"/>
                    <a:pt x="2" y="19"/>
                    <a:pt x="6" y="23"/>
                  </a:cubicBezTo>
                  <a:cubicBezTo>
                    <a:pt x="10" y="27"/>
                    <a:pt x="15" y="29"/>
                    <a:pt x="21" y="29"/>
                  </a:cubicBezTo>
                  <a:cubicBezTo>
                    <a:pt x="779" y="29"/>
                    <a:pt x="779" y="29"/>
                    <a:pt x="779" y="29"/>
                  </a:cubicBezTo>
                  <a:cubicBezTo>
                    <a:pt x="785" y="29"/>
                    <a:pt x="790" y="27"/>
                    <a:pt x="794" y="23"/>
                  </a:cubicBezTo>
                  <a:cubicBezTo>
                    <a:pt x="798" y="19"/>
                    <a:pt x="800" y="14"/>
                    <a:pt x="800" y="9"/>
                  </a:cubicBezTo>
                  <a:cubicBezTo>
                    <a:pt x="800" y="0"/>
                    <a:pt x="800" y="0"/>
                    <a:pt x="800" y="0"/>
                  </a:cubicBezTo>
                  <a:cubicBezTo>
                    <a:pt x="798" y="2"/>
                    <a:pt x="795" y="3"/>
                    <a:pt x="791" y="3"/>
                  </a:cubicBezTo>
                  <a:close/>
                  <a:moveTo>
                    <a:pt x="72" y="21"/>
                  </a:moveTo>
                  <a:cubicBezTo>
                    <a:pt x="70" y="21"/>
                    <a:pt x="68" y="19"/>
                    <a:pt x="68" y="16"/>
                  </a:cubicBezTo>
                  <a:cubicBezTo>
                    <a:pt x="68" y="14"/>
                    <a:pt x="70" y="12"/>
                    <a:pt x="72" y="12"/>
                  </a:cubicBezTo>
                  <a:cubicBezTo>
                    <a:pt x="75" y="12"/>
                    <a:pt x="77" y="14"/>
                    <a:pt x="77" y="16"/>
                  </a:cubicBezTo>
                  <a:cubicBezTo>
                    <a:pt x="77" y="19"/>
                    <a:pt x="75" y="21"/>
                    <a:pt x="72" y="21"/>
                  </a:cubicBezTo>
                  <a:close/>
                  <a:moveTo>
                    <a:pt x="94" y="21"/>
                  </a:moveTo>
                  <a:cubicBezTo>
                    <a:pt x="91" y="21"/>
                    <a:pt x="89" y="19"/>
                    <a:pt x="89" y="16"/>
                  </a:cubicBezTo>
                  <a:cubicBezTo>
                    <a:pt x="89" y="14"/>
                    <a:pt x="91" y="12"/>
                    <a:pt x="94" y="12"/>
                  </a:cubicBezTo>
                  <a:cubicBezTo>
                    <a:pt x="96" y="12"/>
                    <a:pt x="98" y="14"/>
                    <a:pt x="98" y="16"/>
                  </a:cubicBezTo>
                  <a:cubicBezTo>
                    <a:pt x="98" y="19"/>
                    <a:pt x="96" y="21"/>
                    <a:pt x="94" y="21"/>
                  </a:cubicBezTo>
                  <a:close/>
                  <a:moveTo>
                    <a:pt x="115" y="21"/>
                  </a:moveTo>
                  <a:cubicBezTo>
                    <a:pt x="113" y="21"/>
                    <a:pt x="111" y="19"/>
                    <a:pt x="111" y="16"/>
                  </a:cubicBezTo>
                  <a:cubicBezTo>
                    <a:pt x="111" y="14"/>
                    <a:pt x="113" y="12"/>
                    <a:pt x="115" y="12"/>
                  </a:cubicBezTo>
                  <a:cubicBezTo>
                    <a:pt x="118" y="12"/>
                    <a:pt x="120" y="14"/>
                    <a:pt x="120" y="16"/>
                  </a:cubicBezTo>
                  <a:cubicBezTo>
                    <a:pt x="120" y="19"/>
                    <a:pt x="118" y="21"/>
                    <a:pt x="115"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5" name="Freeform 15"/>
            <p:cNvSpPr/>
            <p:nvPr/>
          </p:nvSpPr>
          <p:spPr bwMode="auto">
            <a:xfrm>
              <a:off x="1624" y="1386"/>
              <a:ext cx="48" cy="56"/>
            </a:xfrm>
            <a:custGeom>
              <a:avLst/>
              <a:gdLst>
                <a:gd name="T0" fmla="*/ 48 w 48"/>
                <a:gd name="T1" fmla="*/ 56 h 56"/>
                <a:gd name="T2" fmla="*/ 0 w 48"/>
                <a:gd name="T3" fmla="*/ 56 h 56"/>
                <a:gd name="T4" fmla="*/ 0 w 48"/>
                <a:gd name="T5" fmla="*/ 5 h 56"/>
                <a:gd name="T6" fmla="*/ 2 w 48"/>
                <a:gd name="T7" fmla="*/ 2 h 56"/>
                <a:gd name="T8" fmla="*/ 5 w 48"/>
                <a:gd name="T9" fmla="*/ 0 h 56"/>
                <a:gd name="T10" fmla="*/ 43 w 48"/>
                <a:gd name="T11" fmla="*/ 0 h 56"/>
                <a:gd name="T12" fmla="*/ 47 w 48"/>
                <a:gd name="T13" fmla="*/ 2 h 56"/>
                <a:gd name="T14" fmla="*/ 48 w 48"/>
                <a:gd name="T15" fmla="*/ 5 h 56"/>
                <a:gd name="T16" fmla="*/ 48 w 48"/>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56">
                  <a:moveTo>
                    <a:pt x="48" y="56"/>
                  </a:moveTo>
                  <a:cubicBezTo>
                    <a:pt x="0" y="56"/>
                    <a:pt x="0" y="56"/>
                    <a:pt x="0" y="56"/>
                  </a:cubicBezTo>
                  <a:cubicBezTo>
                    <a:pt x="0" y="5"/>
                    <a:pt x="0" y="5"/>
                    <a:pt x="0" y="5"/>
                  </a:cubicBezTo>
                  <a:cubicBezTo>
                    <a:pt x="0" y="4"/>
                    <a:pt x="1" y="3"/>
                    <a:pt x="2" y="2"/>
                  </a:cubicBezTo>
                  <a:cubicBezTo>
                    <a:pt x="3" y="1"/>
                    <a:pt x="4" y="0"/>
                    <a:pt x="5" y="0"/>
                  </a:cubicBezTo>
                  <a:cubicBezTo>
                    <a:pt x="43" y="0"/>
                    <a:pt x="43" y="0"/>
                    <a:pt x="43" y="0"/>
                  </a:cubicBezTo>
                  <a:cubicBezTo>
                    <a:pt x="44" y="0"/>
                    <a:pt x="46" y="1"/>
                    <a:pt x="47" y="2"/>
                  </a:cubicBezTo>
                  <a:cubicBezTo>
                    <a:pt x="48" y="3"/>
                    <a:pt x="48" y="4"/>
                    <a:pt x="48" y="5"/>
                  </a:cubicBezTo>
                  <a:cubicBezTo>
                    <a:pt x="48" y="56"/>
                    <a:pt x="48" y="56"/>
                    <a:pt x="48"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6" name="Freeform 16"/>
            <p:cNvSpPr/>
            <p:nvPr/>
          </p:nvSpPr>
          <p:spPr bwMode="auto">
            <a:xfrm>
              <a:off x="1723" y="1314"/>
              <a:ext cx="47" cy="128"/>
            </a:xfrm>
            <a:custGeom>
              <a:avLst/>
              <a:gdLst>
                <a:gd name="T0" fmla="*/ 47 w 47"/>
                <a:gd name="T1" fmla="*/ 128 h 128"/>
                <a:gd name="T2" fmla="*/ 0 w 47"/>
                <a:gd name="T3" fmla="*/ 128 h 128"/>
                <a:gd name="T4" fmla="*/ 0 w 47"/>
                <a:gd name="T5" fmla="*/ 5 h 128"/>
                <a:gd name="T6" fmla="*/ 1 w 47"/>
                <a:gd name="T7" fmla="*/ 2 h 128"/>
                <a:gd name="T8" fmla="*/ 5 w 47"/>
                <a:gd name="T9" fmla="*/ 0 h 128"/>
                <a:gd name="T10" fmla="*/ 42 w 47"/>
                <a:gd name="T11" fmla="*/ 0 h 128"/>
                <a:gd name="T12" fmla="*/ 46 w 47"/>
                <a:gd name="T13" fmla="*/ 2 h 128"/>
                <a:gd name="T14" fmla="*/ 47 w 47"/>
                <a:gd name="T15" fmla="*/ 5 h 128"/>
                <a:gd name="T16" fmla="*/ 47 w 47"/>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28">
                  <a:moveTo>
                    <a:pt x="47" y="128"/>
                  </a:moveTo>
                  <a:cubicBezTo>
                    <a:pt x="0" y="128"/>
                    <a:pt x="0" y="128"/>
                    <a:pt x="0" y="128"/>
                  </a:cubicBezTo>
                  <a:cubicBezTo>
                    <a:pt x="0" y="5"/>
                    <a:pt x="0" y="5"/>
                    <a:pt x="0" y="5"/>
                  </a:cubicBezTo>
                  <a:cubicBezTo>
                    <a:pt x="0" y="4"/>
                    <a:pt x="0" y="3"/>
                    <a:pt x="1" y="2"/>
                  </a:cubicBezTo>
                  <a:cubicBezTo>
                    <a:pt x="2" y="1"/>
                    <a:pt x="3" y="0"/>
                    <a:pt x="5" y="0"/>
                  </a:cubicBezTo>
                  <a:cubicBezTo>
                    <a:pt x="42" y="0"/>
                    <a:pt x="42" y="0"/>
                    <a:pt x="42" y="0"/>
                  </a:cubicBezTo>
                  <a:cubicBezTo>
                    <a:pt x="44" y="0"/>
                    <a:pt x="45" y="1"/>
                    <a:pt x="46" y="2"/>
                  </a:cubicBezTo>
                  <a:cubicBezTo>
                    <a:pt x="47" y="3"/>
                    <a:pt x="47" y="4"/>
                    <a:pt x="47" y="5"/>
                  </a:cubicBezTo>
                  <a:lnTo>
                    <a:pt x="47"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7" name="Freeform 17"/>
            <p:cNvSpPr/>
            <p:nvPr/>
          </p:nvSpPr>
          <p:spPr bwMode="auto">
            <a:xfrm>
              <a:off x="1821" y="1353"/>
              <a:ext cx="48" cy="89"/>
            </a:xfrm>
            <a:custGeom>
              <a:avLst/>
              <a:gdLst>
                <a:gd name="T0" fmla="*/ 48 w 48"/>
                <a:gd name="T1" fmla="*/ 89 h 89"/>
                <a:gd name="T2" fmla="*/ 0 w 48"/>
                <a:gd name="T3" fmla="*/ 89 h 89"/>
                <a:gd name="T4" fmla="*/ 0 w 48"/>
                <a:gd name="T5" fmla="*/ 6 h 89"/>
                <a:gd name="T6" fmla="*/ 1 w 48"/>
                <a:gd name="T7" fmla="*/ 2 h 89"/>
                <a:gd name="T8" fmla="*/ 5 w 48"/>
                <a:gd name="T9" fmla="*/ 0 h 89"/>
                <a:gd name="T10" fmla="*/ 43 w 48"/>
                <a:gd name="T11" fmla="*/ 0 h 89"/>
                <a:gd name="T12" fmla="*/ 46 w 48"/>
                <a:gd name="T13" fmla="*/ 2 h 89"/>
                <a:gd name="T14" fmla="*/ 48 w 48"/>
                <a:gd name="T15" fmla="*/ 6 h 89"/>
                <a:gd name="T16" fmla="*/ 48 w 48"/>
                <a:gd name="T17"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89">
                  <a:moveTo>
                    <a:pt x="48" y="89"/>
                  </a:moveTo>
                  <a:cubicBezTo>
                    <a:pt x="0" y="89"/>
                    <a:pt x="0" y="89"/>
                    <a:pt x="0" y="89"/>
                  </a:cubicBezTo>
                  <a:cubicBezTo>
                    <a:pt x="0" y="6"/>
                    <a:pt x="0" y="6"/>
                    <a:pt x="0" y="6"/>
                  </a:cubicBezTo>
                  <a:cubicBezTo>
                    <a:pt x="0" y="4"/>
                    <a:pt x="0" y="3"/>
                    <a:pt x="1" y="2"/>
                  </a:cubicBezTo>
                  <a:cubicBezTo>
                    <a:pt x="2" y="1"/>
                    <a:pt x="4" y="0"/>
                    <a:pt x="5" y="0"/>
                  </a:cubicBezTo>
                  <a:cubicBezTo>
                    <a:pt x="43" y="0"/>
                    <a:pt x="43" y="0"/>
                    <a:pt x="43" y="0"/>
                  </a:cubicBezTo>
                  <a:cubicBezTo>
                    <a:pt x="44" y="0"/>
                    <a:pt x="45" y="1"/>
                    <a:pt x="46" y="2"/>
                  </a:cubicBezTo>
                  <a:cubicBezTo>
                    <a:pt x="47" y="3"/>
                    <a:pt x="48" y="4"/>
                    <a:pt x="48" y="6"/>
                  </a:cubicBezTo>
                  <a:cubicBezTo>
                    <a:pt x="48" y="89"/>
                    <a:pt x="48" y="89"/>
                    <a:pt x="48"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8" name="Freeform 18"/>
            <p:cNvSpPr/>
            <p:nvPr/>
          </p:nvSpPr>
          <p:spPr bwMode="auto">
            <a:xfrm>
              <a:off x="1901" y="1205"/>
              <a:ext cx="84" cy="237"/>
            </a:xfrm>
            <a:custGeom>
              <a:avLst/>
              <a:gdLst>
                <a:gd name="T0" fmla="*/ 79 w 84"/>
                <a:gd name="T1" fmla="*/ 64 h 237"/>
                <a:gd name="T2" fmla="*/ 84 w 84"/>
                <a:gd name="T3" fmla="*/ 62 h 237"/>
                <a:gd name="T4" fmla="*/ 83 w 84"/>
                <a:gd name="T5" fmla="*/ 56 h 237"/>
                <a:gd name="T6" fmla="*/ 46 w 84"/>
                <a:gd name="T7" fmla="*/ 2 h 237"/>
                <a:gd name="T8" fmla="*/ 42 w 84"/>
                <a:gd name="T9" fmla="*/ 0 h 237"/>
                <a:gd name="T10" fmla="*/ 38 w 84"/>
                <a:gd name="T11" fmla="*/ 2 h 237"/>
                <a:gd name="T12" fmla="*/ 1 w 84"/>
                <a:gd name="T13" fmla="*/ 56 h 237"/>
                <a:gd name="T14" fmla="*/ 1 w 84"/>
                <a:gd name="T15" fmla="*/ 62 h 237"/>
                <a:gd name="T16" fmla="*/ 5 w 84"/>
                <a:gd name="T17" fmla="*/ 64 h 237"/>
                <a:gd name="T18" fmla="*/ 18 w 84"/>
                <a:gd name="T19" fmla="*/ 64 h 237"/>
                <a:gd name="T20" fmla="*/ 18 w 84"/>
                <a:gd name="T21" fmla="*/ 237 h 237"/>
                <a:gd name="T22" fmla="*/ 66 w 84"/>
                <a:gd name="T23" fmla="*/ 237 h 237"/>
                <a:gd name="T24" fmla="*/ 66 w 84"/>
                <a:gd name="T25" fmla="*/ 64 h 237"/>
                <a:gd name="T26" fmla="*/ 79 w 84"/>
                <a:gd name="T27" fmla="*/ 6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237">
                  <a:moveTo>
                    <a:pt x="79" y="64"/>
                  </a:moveTo>
                  <a:cubicBezTo>
                    <a:pt x="81" y="64"/>
                    <a:pt x="83" y="63"/>
                    <a:pt x="84" y="62"/>
                  </a:cubicBezTo>
                  <a:cubicBezTo>
                    <a:pt x="84" y="60"/>
                    <a:pt x="84" y="58"/>
                    <a:pt x="83" y="56"/>
                  </a:cubicBezTo>
                  <a:cubicBezTo>
                    <a:pt x="46" y="2"/>
                    <a:pt x="46" y="2"/>
                    <a:pt x="46" y="2"/>
                  </a:cubicBezTo>
                  <a:cubicBezTo>
                    <a:pt x="45" y="1"/>
                    <a:pt x="44" y="0"/>
                    <a:pt x="42" y="0"/>
                  </a:cubicBezTo>
                  <a:cubicBezTo>
                    <a:pt x="40" y="0"/>
                    <a:pt x="39" y="1"/>
                    <a:pt x="38" y="2"/>
                  </a:cubicBezTo>
                  <a:cubicBezTo>
                    <a:pt x="1" y="56"/>
                    <a:pt x="1" y="56"/>
                    <a:pt x="1" y="56"/>
                  </a:cubicBezTo>
                  <a:cubicBezTo>
                    <a:pt x="0" y="58"/>
                    <a:pt x="0" y="60"/>
                    <a:pt x="1" y="62"/>
                  </a:cubicBezTo>
                  <a:cubicBezTo>
                    <a:pt x="1" y="63"/>
                    <a:pt x="3" y="64"/>
                    <a:pt x="5" y="64"/>
                  </a:cubicBezTo>
                  <a:cubicBezTo>
                    <a:pt x="18" y="64"/>
                    <a:pt x="18" y="64"/>
                    <a:pt x="18" y="64"/>
                  </a:cubicBezTo>
                  <a:cubicBezTo>
                    <a:pt x="18" y="237"/>
                    <a:pt x="18" y="237"/>
                    <a:pt x="18" y="237"/>
                  </a:cubicBezTo>
                  <a:cubicBezTo>
                    <a:pt x="66" y="237"/>
                    <a:pt x="66" y="237"/>
                    <a:pt x="66" y="237"/>
                  </a:cubicBezTo>
                  <a:cubicBezTo>
                    <a:pt x="66" y="64"/>
                    <a:pt x="66" y="64"/>
                    <a:pt x="66" y="64"/>
                  </a:cubicBezTo>
                  <a:lnTo>
                    <a:pt x="79"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29" name="Freeform 19"/>
            <p:cNvSpPr/>
            <p:nvPr/>
          </p:nvSpPr>
          <p:spPr bwMode="auto">
            <a:xfrm>
              <a:off x="1552" y="1187"/>
              <a:ext cx="510" cy="276"/>
            </a:xfrm>
            <a:custGeom>
              <a:avLst/>
              <a:gdLst>
                <a:gd name="T0" fmla="*/ 8 w 512"/>
                <a:gd name="T1" fmla="*/ 268 h 276"/>
                <a:gd name="T2" fmla="*/ 8 w 512"/>
                <a:gd name="T3" fmla="*/ 4 h 276"/>
                <a:gd name="T4" fmla="*/ 7 w 512"/>
                <a:gd name="T5" fmla="*/ 1 h 276"/>
                <a:gd name="T6" fmla="*/ 4 w 512"/>
                <a:gd name="T7" fmla="*/ 0 h 276"/>
                <a:gd name="T8" fmla="*/ 4 w 512"/>
                <a:gd name="T9" fmla="*/ 0 h 276"/>
                <a:gd name="T10" fmla="*/ 1 w 512"/>
                <a:gd name="T11" fmla="*/ 1 h 276"/>
                <a:gd name="T12" fmla="*/ 0 w 512"/>
                <a:gd name="T13" fmla="*/ 4 h 276"/>
                <a:gd name="T14" fmla="*/ 0 w 512"/>
                <a:gd name="T15" fmla="*/ 276 h 276"/>
                <a:gd name="T16" fmla="*/ 508 w 512"/>
                <a:gd name="T17" fmla="*/ 276 h 276"/>
                <a:gd name="T18" fmla="*/ 511 w 512"/>
                <a:gd name="T19" fmla="*/ 275 h 276"/>
                <a:gd name="T20" fmla="*/ 512 w 512"/>
                <a:gd name="T21" fmla="*/ 272 h 276"/>
                <a:gd name="T22" fmla="*/ 512 w 512"/>
                <a:gd name="T23" fmla="*/ 272 h 276"/>
                <a:gd name="T24" fmla="*/ 511 w 512"/>
                <a:gd name="T25" fmla="*/ 269 h 276"/>
                <a:gd name="T26" fmla="*/ 508 w 512"/>
                <a:gd name="T27" fmla="*/ 268 h 276"/>
                <a:gd name="T28" fmla="*/ 8 w 512"/>
                <a:gd name="T29" fmla="*/ 268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2" h="276">
                  <a:moveTo>
                    <a:pt x="8" y="268"/>
                  </a:moveTo>
                  <a:cubicBezTo>
                    <a:pt x="8" y="4"/>
                    <a:pt x="8" y="4"/>
                    <a:pt x="8" y="4"/>
                  </a:cubicBezTo>
                  <a:cubicBezTo>
                    <a:pt x="8" y="3"/>
                    <a:pt x="8" y="2"/>
                    <a:pt x="7" y="1"/>
                  </a:cubicBezTo>
                  <a:cubicBezTo>
                    <a:pt x="6" y="1"/>
                    <a:pt x="5" y="0"/>
                    <a:pt x="4" y="0"/>
                  </a:cubicBezTo>
                  <a:cubicBezTo>
                    <a:pt x="4" y="0"/>
                    <a:pt x="4" y="0"/>
                    <a:pt x="4" y="0"/>
                  </a:cubicBezTo>
                  <a:cubicBezTo>
                    <a:pt x="3" y="0"/>
                    <a:pt x="2" y="1"/>
                    <a:pt x="1" y="1"/>
                  </a:cubicBezTo>
                  <a:cubicBezTo>
                    <a:pt x="0" y="2"/>
                    <a:pt x="0" y="3"/>
                    <a:pt x="0" y="4"/>
                  </a:cubicBezTo>
                  <a:cubicBezTo>
                    <a:pt x="0" y="276"/>
                    <a:pt x="0" y="276"/>
                    <a:pt x="0" y="276"/>
                  </a:cubicBezTo>
                  <a:cubicBezTo>
                    <a:pt x="508" y="276"/>
                    <a:pt x="508" y="276"/>
                    <a:pt x="508" y="276"/>
                  </a:cubicBezTo>
                  <a:cubicBezTo>
                    <a:pt x="509" y="276"/>
                    <a:pt x="510" y="276"/>
                    <a:pt x="511" y="275"/>
                  </a:cubicBezTo>
                  <a:cubicBezTo>
                    <a:pt x="512" y="274"/>
                    <a:pt x="512" y="273"/>
                    <a:pt x="512" y="272"/>
                  </a:cubicBezTo>
                  <a:cubicBezTo>
                    <a:pt x="512" y="272"/>
                    <a:pt x="512" y="272"/>
                    <a:pt x="512" y="272"/>
                  </a:cubicBezTo>
                  <a:cubicBezTo>
                    <a:pt x="512" y="271"/>
                    <a:pt x="512" y="270"/>
                    <a:pt x="511" y="269"/>
                  </a:cubicBezTo>
                  <a:cubicBezTo>
                    <a:pt x="510" y="268"/>
                    <a:pt x="509" y="268"/>
                    <a:pt x="508" y="268"/>
                  </a:cubicBezTo>
                  <a:cubicBezTo>
                    <a:pt x="8" y="268"/>
                    <a:pt x="8" y="268"/>
                    <a:pt x="8" y="2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grpSp>
      <p:grpSp>
        <p:nvGrpSpPr>
          <p:cNvPr id="30" name="Group 32"/>
          <p:cNvGrpSpPr>
            <a:grpSpLocks noChangeAspect="1"/>
          </p:cNvGrpSpPr>
          <p:nvPr/>
        </p:nvGrpSpPr>
        <p:grpSpPr bwMode="auto">
          <a:xfrm>
            <a:off x="4644604" y="5309960"/>
            <a:ext cx="907980" cy="644666"/>
            <a:chOff x="4354" y="1098"/>
            <a:chExt cx="800" cy="568"/>
          </a:xfrm>
          <a:solidFill>
            <a:srgbClr val="1A9895"/>
          </a:solidFill>
        </p:grpSpPr>
        <p:sp>
          <p:nvSpPr>
            <p:cNvPr id="31" name="Freeform 33"/>
            <p:cNvSpPr>
              <a:spLocks noEditPoints="1"/>
            </p:cNvSpPr>
            <p:nvPr/>
          </p:nvSpPr>
          <p:spPr bwMode="auto">
            <a:xfrm>
              <a:off x="4441" y="1098"/>
              <a:ext cx="626" cy="423"/>
            </a:xfrm>
            <a:custGeom>
              <a:avLst/>
              <a:gdLst>
                <a:gd name="T0" fmla="*/ 621 w 628"/>
                <a:gd name="T1" fmla="*/ 7 h 423"/>
                <a:gd name="T2" fmla="*/ 605 w 628"/>
                <a:gd name="T3" fmla="*/ 0 h 423"/>
                <a:gd name="T4" fmla="*/ 24 w 628"/>
                <a:gd name="T5" fmla="*/ 0 h 423"/>
                <a:gd name="T6" fmla="*/ 7 w 628"/>
                <a:gd name="T7" fmla="*/ 7 h 423"/>
                <a:gd name="T8" fmla="*/ 0 w 628"/>
                <a:gd name="T9" fmla="*/ 23 h 423"/>
                <a:gd name="T10" fmla="*/ 0 w 628"/>
                <a:gd name="T11" fmla="*/ 423 h 423"/>
                <a:gd name="T12" fmla="*/ 628 w 628"/>
                <a:gd name="T13" fmla="*/ 423 h 423"/>
                <a:gd name="T14" fmla="*/ 628 w 628"/>
                <a:gd name="T15" fmla="*/ 23 h 423"/>
                <a:gd name="T16" fmla="*/ 621 w 628"/>
                <a:gd name="T17" fmla="*/ 7 h 423"/>
                <a:gd name="T18" fmla="*/ 314 w 628"/>
                <a:gd name="T19" fmla="*/ 13 h 423"/>
                <a:gd name="T20" fmla="*/ 321 w 628"/>
                <a:gd name="T21" fmla="*/ 20 h 423"/>
                <a:gd name="T22" fmla="*/ 314 w 628"/>
                <a:gd name="T23" fmla="*/ 27 h 423"/>
                <a:gd name="T24" fmla="*/ 307 w 628"/>
                <a:gd name="T25" fmla="*/ 20 h 423"/>
                <a:gd name="T26" fmla="*/ 314 w 628"/>
                <a:gd name="T27" fmla="*/ 13 h 423"/>
                <a:gd name="T28" fmla="*/ 587 w 628"/>
                <a:gd name="T29" fmla="*/ 382 h 423"/>
                <a:gd name="T30" fmla="*/ 41 w 628"/>
                <a:gd name="T31" fmla="*/ 382 h 423"/>
                <a:gd name="T32" fmla="*/ 41 w 628"/>
                <a:gd name="T33" fmla="*/ 41 h 423"/>
                <a:gd name="T34" fmla="*/ 587 w 628"/>
                <a:gd name="T35" fmla="*/ 41 h 423"/>
                <a:gd name="T36" fmla="*/ 587 w 628"/>
                <a:gd name="T37" fmla="*/ 382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8" h="423">
                  <a:moveTo>
                    <a:pt x="621" y="7"/>
                  </a:moveTo>
                  <a:cubicBezTo>
                    <a:pt x="617" y="2"/>
                    <a:pt x="611" y="0"/>
                    <a:pt x="605" y="0"/>
                  </a:cubicBezTo>
                  <a:cubicBezTo>
                    <a:pt x="24" y="0"/>
                    <a:pt x="24" y="0"/>
                    <a:pt x="24" y="0"/>
                  </a:cubicBezTo>
                  <a:cubicBezTo>
                    <a:pt x="17" y="0"/>
                    <a:pt x="11" y="2"/>
                    <a:pt x="7" y="7"/>
                  </a:cubicBezTo>
                  <a:cubicBezTo>
                    <a:pt x="2" y="11"/>
                    <a:pt x="0" y="17"/>
                    <a:pt x="0" y="23"/>
                  </a:cubicBezTo>
                  <a:cubicBezTo>
                    <a:pt x="0" y="423"/>
                    <a:pt x="0" y="423"/>
                    <a:pt x="0" y="423"/>
                  </a:cubicBezTo>
                  <a:cubicBezTo>
                    <a:pt x="628" y="423"/>
                    <a:pt x="628" y="423"/>
                    <a:pt x="628" y="423"/>
                  </a:cubicBezTo>
                  <a:cubicBezTo>
                    <a:pt x="628" y="23"/>
                    <a:pt x="628" y="23"/>
                    <a:pt x="628" y="23"/>
                  </a:cubicBezTo>
                  <a:cubicBezTo>
                    <a:pt x="628" y="17"/>
                    <a:pt x="626" y="11"/>
                    <a:pt x="621" y="7"/>
                  </a:cubicBezTo>
                  <a:close/>
                  <a:moveTo>
                    <a:pt x="314" y="13"/>
                  </a:moveTo>
                  <a:cubicBezTo>
                    <a:pt x="318" y="13"/>
                    <a:pt x="321" y="16"/>
                    <a:pt x="321" y="20"/>
                  </a:cubicBezTo>
                  <a:cubicBezTo>
                    <a:pt x="321" y="24"/>
                    <a:pt x="318" y="27"/>
                    <a:pt x="314" y="27"/>
                  </a:cubicBezTo>
                  <a:cubicBezTo>
                    <a:pt x="310" y="27"/>
                    <a:pt x="307" y="24"/>
                    <a:pt x="307" y="20"/>
                  </a:cubicBezTo>
                  <a:cubicBezTo>
                    <a:pt x="307" y="16"/>
                    <a:pt x="310" y="13"/>
                    <a:pt x="314" y="13"/>
                  </a:cubicBezTo>
                  <a:close/>
                  <a:moveTo>
                    <a:pt x="587" y="382"/>
                  </a:moveTo>
                  <a:cubicBezTo>
                    <a:pt x="41" y="382"/>
                    <a:pt x="41" y="382"/>
                    <a:pt x="41" y="382"/>
                  </a:cubicBezTo>
                  <a:cubicBezTo>
                    <a:pt x="41" y="41"/>
                    <a:pt x="41" y="41"/>
                    <a:pt x="41" y="41"/>
                  </a:cubicBezTo>
                  <a:cubicBezTo>
                    <a:pt x="587" y="41"/>
                    <a:pt x="587" y="41"/>
                    <a:pt x="587" y="41"/>
                  </a:cubicBezTo>
                  <a:lnTo>
                    <a:pt x="587" y="3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32" name="Freeform 34"/>
            <p:cNvSpPr>
              <a:spLocks noEditPoints="1"/>
            </p:cNvSpPr>
            <p:nvPr/>
          </p:nvSpPr>
          <p:spPr bwMode="auto">
            <a:xfrm>
              <a:off x="4354" y="1538"/>
              <a:ext cx="800" cy="97"/>
            </a:xfrm>
            <a:custGeom>
              <a:avLst/>
              <a:gdLst>
                <a:gd name="T0" fmla="*/ 87 w 802"/>
                <a:gd name="T1" fmla="*/ 0 h 97"/>
                <a:gd name="T2" fmla="*/ 4 w 802"/>
                <a:gd name="T3" fmla="*/ 83 h 97"/>
                <a:gd name="T4" fmla="*/ 2 w 802"/>
                <a:gd name="T5" fmla="*/ 92 h 97"/>
                <a:gd name="T6" fmla="*/ 10 w 802"/>
                <a:gd name="T7" fmla="*/ 97 h 97"/>
                <a:gd name="T8" fmla="*/ 792 w 802"/>
                <a:gd name="T9" fmla="*/ 97 h 97"/>
                <a:gd name="T10" fmla="*/ 800 w 802"/>
                <a:gd name="T11" fmla="*/ 92 h 97"/>
                <a:gd name="T12" fmla="*/ 798 w 802"/>
                <a:gd name="T13" fmla="*/ 83 h 97"/>
                <a:gd name="T14" fmla="*/ 715 w 802"/>
                <a:gd name="T15" fmla="*/ 0 h 97"/>
                <a:gd name="T16" fmla="*/ 87 w 802"/>
                <a:gd name="T17" fmla="*/ 0 h 97"/>
                <a:gd name="T18" fmla="*/ 711 w 802"/>
                <a:gd name="T19" fmla="*/ 47 h 97"/>
                <a:gd name="T20" fmla="*/ 712 w 802"/>
                <a:gd name="T21" fmla="*/ 54 h 97"/>
                <a:gd name="T22" fmla="*/ 706 w 802"/>
                <a:gd name="T23" fmla="*/ 58 h 97"/>
                <a:gd name="T24" fmla="*/ 484 w 802"/>
                <a:gd name="T25" fmla="*/ 58 h 97"/>
                <a:gd name="T26" fmla="*/ 485 w 802"/>
                <a:gd name="T27" fmla="*/ 64 h 97"/>
                <a:gd name="T28" fmla="*/ 484 w 802"/>
                <a:gd name="T29" fmla="*/ 67 h 97"/>
                <a:gd name="T30" fmla="*/ 481 w 802"/>
                <a:gd name="T31" fmla="*/ 69 h 97"/>
                <a:gd name="T32" fmla="*/ 321 w 802"/>
                <a:gd name="T33" fmla="*/ 69 h 97"/>
                <a:gd name="T34" fmla="*/ 318 w 802"/>
                <a:gd name="T35" fmla="*/ 67 h 97"/>
                <a:gd name="T36" fmla="*/ 317 w 802"/>
                <a:gd name="T37" fmla="*/ 64 h 97"/>
                <a:gd name="T38" fmla="*/ 318 w 802"/>
                <a:gd name="T39" fmla="*/ 58 h 97"/>
                <a:gd name="T40" fmla="*/ 96 w 802"/>
                <a:gd name="T41" fmla="*/ 58 h 97"/>
                <a:gd name="T42" fmla="*/ 90 w 802"/>
                <a:gd name="T43" fmla="*/ 54 h 97"/>
                <a:gd name="T44" fmla="*/ 91 w 802"/>
                <a:gd name="T45" fmla="*/ 47 h 97"/>
                <a:gd name="T46" fmla="*/ 113 w 802"/>
                <a:gd name="T47" fmla="*/ 20 h 97"/>
                <a:gd name="T48" fmla="*/ 689 w 802"/>
                <a:gd name="T49" fmla="*/ 20 h 97"/>
                <a:gd name="T50" fmla="*/ 711 w 802"/>
                <a:gd name="T5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02" h="97">
                  <a:moveTo>
                    <a:pt x="87" y="0"/>
                  </a:moveTo>
                  <a:cubicBezTo>
                    <a:pt x="4" y="83"/>
                    <a:pt x="4" y="83"/>
                    <a:pt x="4" y="83"/>
                  </a:cubicBezTo>
                  <a:cubicBezTo>
                    <a:pt x="1" y="85"/>
                    <a:pt x="0" y="89"/>
                    <a:pt x="2" y="92"/>
                  </a:cubicBezTo>
                  <a:cubicBezTo>
                    <a:pt x="3" y="95"/>
                    <a:pt x="6" y="97"/>
                    <a:pt x="10" y="97"/>
                  </a:cubicBezTo>
                  <a:cubicBezTo>
                    <a:pt x="792" y="97"/>
                    <a:pt x="792" y="97"/>
                    <a:pt x="792" y="97"/>
                  </a:cubicBezTo>
                  <a:cubicBezTo>
                    <a:pt x="796" y="97"/>
                    <a:pt x="799" y="95"/>
                    <a:pt x="800" y="92"/>
                  </a:cubicBezTo>
                  <a:cubicBezTo>
                    <a:pt x="802" y="89"/>
                    <a:pt x="801" y="85"/>
                    <a:pt x="798" y="83"/>
                  </a:cubicBezTo>
                  <a:cubicBezTo>
                    <a:pt x="715" y="0"/>
                    <a:pt x="715" y="0"/>
                    <a:pt x="715" y="0"/>
                  </a:cubicBezTo>
                  <a:lnTo>
                    <a:pt x="87" y="0"/>
                  </a:lnTo>
                  <a:close/>
                  <a:moveTo>
                    <a:pt x="711" y="47"/>
                  </a:moveTo>
                  <a:cubicBezTo>
                    <a:pt x="713" y="49"/>
                    <a:pt x="713" y="51"/>
                    <a:pt x="712" y="54"/>
                  </a:cubicBezTo>
                  <a:cubicBezTo>
                    <a:pt x="711" y="56"/>
                    <a:pt x="709" y="58"/>
                    <a:pt x="706" y="58"/>
                  </a:cubicBezTo>
                  <a:cubicBezTo>
                    <a:pt x="484" y="58"/>
                    <a:pt x="484" y="58"/>
                    <a:pt x="484" y="58"/>
                  </a:cubicBezTo>
                  <a:cubicBezTo>
                    <a:pt x="485" y="64"/>
                    <a:pt x="485" y="64"/>
                    <a:pt x="485" y="64"/>
                  </a:cubicBezTo>
                  <a:cubicBezTo>
                    <a:pt x="485" y="65"/>
                    <a:pt x="485" y="66"/>
                    <a:pt x="484" y="67"/>
                  </a:cubicBezTo>
                  <a:cubicBezTo>
                    <a:pt x="483" y="68"/>
                    <a:pt x="482" y="69"/>
                    <a:pt x="481" y="69"/>
                  </a:cubicBezTo>
                  <a:cubicBezTo>
                    <a:pt x="321" y="69"/>
                    <a:pt x="321" y="69"/>
                    <a:pt x="321" y="69"/>
                  </a:cubicBezTo>
                  <a:cubicBezTo>
                    <a:pt x="320" y="69"/>
                    <a:pt x="319" y="68"/>
                    <a:pt x="318" y="67"/>
                  </a:cubicBezTo>
                  <a:cubicBezTo>
                    <a:pt x="317" y="66"/>
                    <a:pt x="317" y="65"/>
                    <a:pt x="317" y="64"/>
                  </a:cubicBezTo>
                  <a:cubicBezTo>
                    <a:pt x="318" y="58"/>
                    <a:pt x="318" y="58"/>
                    <a:pt x="318" y="58"/>
                  </a:cubicBezTo>
                  <a:cubicBezTo>
                    <a:pt x="96" y="58"/>
                    <a:pt x="96" y="58"/>
                    <a:pt x="96" y="58"/>
                  </a:cubicBezTo>
                  <a:cubicBezTo>
                    <a:pt x="93" y="58"/>
                    <a:pt x="91" y="56"/>
                    <a:pt x="90" y="54"/>
                  </a:cubicBezTo>
                  <a:cubicBezTo>
                    <a:pt x="89" y="51"/>
                    <a:pt x="89" y="49"/>
                    <a:pt x="91" y="47"/>
                  </a:cubicBezTo>
                  <a:cubicBezTo>
                    <a:pt x="113" y="20"/>
                    <a:pt x="113" y="20"/>
                    <a:pt x="113" y="20"/>
                  </a:cubicBezTo>
                  <a:cubicBezTo>
                    <a:pt x="689" y="20"/>
                    <a:pt x="689" y="20"/>
                    <a:pt x="689" y="20"/>
                  </a:cubicBezTo>
                  <a:lnTo>
                    <a:pt x="711" y="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bg1"/>
                </a:solidFill>
                <a:cs typeface="Amiri" panose="00000500000000000000" charset="0"/>
              </a:endParaRPr>
            </a:p>
          </p:txBody>
        </p:sp>
        <p:sp>
          <p:nvSpPr>
            <p:cNvPr id="33" name="Freeform 35"/>
            <p:cNvSpPr>
              <a:spLocks noEditPoints="1"/>
            </p:cNvSpPr>
            <p:nvPr/>
          </p:nvSpPr>
          <p:spPr bwMode="auto">
            <a:xfrm>
              <a:off x="4355" y="1637"/>
              <a:ext cx="798" cy="29"/>
            </a:xfrm>
            <a:custGeom>
              <a:avLst/>
              <a:gdLst>
                <a:gd name="T0" fmla="*/ 791 w 800"/>
                <a:gd name="T1" fmla="*/ 3 h 29"/>
                <a:gd name="T2" fmla="*/ 469 w 800"/>
                <a:gd name="T3" fmla="*/ 3 h 29"/>
                <a:gd name="T4" fmla="*/ 468 w 800"/>
                <a:gd name="T5" fmla="*/ 6 h 29"/>
                <a:gd name="T6" fmla="*/ 461 w 800"/>
                <a:gd name="T7" fmla="*/ 9 h 29"/>
                <a:gd name="T8" fmla="*/ 339 w 800"/>
                <a:gd name="T9" fmla="*/ 9 h 29"/>
                <a:gd name="T10" fmla="*/ 332 w 800"/>
                <a:gd name="T11" fmla="*/ 6 h 29"/>
                <a:gd name="T12" fmla="*/ 331 w 800"/>
                <a:gd name="T13" fmla="*/ 3 h 29"/>
                <a:gd name="T14" fmla="*/ 9 w 800"/>
                <a:gd name="T15" fmla="*/ 3 h 29"/>
                <a:gd name="T16" fmla="*/ 0 w 800"/>
                <a:gd name="T17" fmla="*/ 0 h 29"/>
                <a:gd name="T18" fmla="*/ 0 w 800"/>
                <a:gd name="T19" fmla="*/ 9 h 29"/>
                <a:gd name="T20" fmla="*/ 6 w 800"/>
                <a:gd name="T21" fmla="*/ 23 h 29"/>
                <a:gd name="T22" fmla="*/ 21 w 800"/>
                <a:gd name="T23" fmla="*/ 29 h 29"/>
                <a:gd name="T24" fmla="*/ 779 w 800"/>
                <a:gd name="T25" fmla="*/ 29 h 29"/>
                <a:gd name="T26" fmla="*/ 794 w 800"/>
                <a:gd name="T27" fmla="*/ 23 h 29"/>
                <a:gd name="T28" fmla="*/ 800 w 800"/>
                <a:gd name="T29" fmla="*/ 9 h 29"/>
                <a:gd name="T30" fmla="*/ 800 w 800"/>
                <a:gd name="T31" fmla="*/ 0 h 29"/>
                <a:gd name="T32" fmla="*/ 791 w 800"/>
                <a:gd name="T33" fmla="*/ 3 h 29"/>
                <a:gd name="T34" fmla="*/ 72 w 800"/>
                <a:gd name="T35" fmla="*/ 21 h 29"/>
                <a:gd name="T36" fmla="*/ 68 w 800"/>
                <a:gd name="T37" fmla="*/ 16 h 29"/>
                <a:gd name="T38" fmla="*/ 72 w 800"/>
                <a:gd name="T39" fmla="*/ 12 h 29"/>
                <a:gd name="T40" fmla="*/ 77 w 800"/>
                <a:gd name="T41" fmla="*/ 16 h 29"/>
                <a:gd name="T42" fmla="*/ 72 w 800"/>
                <a:gd name="T43" fmla="*/ 21 h 29"/>
                <a:gd name="T44" fmla="*/ 94 w 800"/>
                <a:gd name="T45" fmla="*/ 21 h 29"/>
                <a:gd name="T46" fmla="*/ 89 w 800"/>
                <a:gd name="T47" fmla="*/ 16 h 29"/>
                <a:gd name="T48" fmla="*/ 94 w 800"/>
                <a:gd name="T49" fmla="*/ 12 h 29"/>
                <a:gd name="T50" fmla="*/ 98 w 800"/>
                <a:gd name="T51" fmla="*/ 16 h 29"/>
                <a:gd name="T52" fmla="*/ 94 w 800"/>
                <a:gd name="T53" fmla="*/ 21 h 29"/>
                <a:gd name="T54" fmla="*/ 115 w 800"/>
                <a:gd name="T55" fmla="*/ 21 h 29"/>
                <a:gd name="T56" fmla="*/ 111 w 800"/>
                <a:gd name="T57" fmla="*/ 16 h 29"/>
                <a:gd name="T58" fmla="*/ 115 w 800"/>
                <a:gd name="T59" fmla="*/ 12 h 29"/>
                <a:gd name="T60" fmla="*/ 120 w 800"/>
                <a:gd name="T61" fmla="*/ 16 h 29"/>
                <a:gd name="T62" fmla="*/ 115 w 800"/>
                <a:gd name="T63" fmla="*/ 2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29">
                  <a:moveTo>
                    <a:pt x="791" y="3"/>
                  </a:moveTo>
                  <a:cubicBezTo>
                    <a:pt x="469" y="3"/>
                    <a:pt x="469" y="3"/>
                    <a:pt x="469" y="3"/>
                  </a:cubicBezTo>
                  <a:cubicBezTo>
                    <a:pt x="469" y="4"/>
                    <a:pt x="468" y="5"/>
                    <a:pt x="468" y="6"/>
                  </a:cubicBezTo>
                  <a:cubicBezTo>
                    <a:pt x="466" y="8"/>
                    <a:pt x="463" y="9"/>
                    <a:pt x="461" y="9"/>
                  </a:cubicBezTo>
                  <a:cubicBezTo>
                    <a:pt x="339" y="9"/>
                    <a:pt x="339" y="9"/>
                    <a:pt x="339" y="9"/>
                  </a:cubicBezTo>
                  <a:cubicBezTo>
                    <a:pt x="337" y="9"/>
                    <a:pt x="334" y="8"/>
                    <a:pt x="332" y="6"/>
                  </a:cubicBezTo>
                  <a:cubicBezTo>
                    <a:pt x="332" y="5"/>
                    <a:pt x="331" y="4"/>
                    <a:pt x="331" y="3"/>
                  </a:cubicBezTo>
                  <a:cubicBezTo>
                    <a:pt x="9" y="3"/>
                    <a:pt x="9" y="3"/>
                    <a:pt x="9" y="3"/>
                  </a:cubicBezTo>
                  <a:cubicBezTo>
                    <a:pt x="5" y="3"/>
                    <a:pt x="2" y="2"/>
                    <a:pt x="0" y="0"/>
                  </a:cubicBezTo>
                  <a:cubicBezTo>
                    <a:pt x="0" y="9"/>
                    <a:pt x="0" y="9"/>
                    <a:pt x="0" y="9"/>
                  </a:cubicBezTo>
                  <a:cubicBezTo>
                    <a:pt x="0" y="14"/>
                    <a:pt x="2" y="19"/>
                    <a:pt x="6" y="23"/>
                  </a:cubicBezTo>
                  <a:cubicBezTo>
                    <a:pt x="10" y="27"/>
                    <a:pt x="15" y="29"/>
                    <a:pt x="21" y="29"/>
                  </a:cubicBezTo>
                  <a:cubicBezTo>
                    <a:pt x="779" y="29"/>
                    <a:pt x="779" y="29"/>
                    <a:pt x="779" y="29"/>
                  </a:cubicBezTo>
                  <a:cubicBezTo>
                    <a:pt x="785" y="29"/>
                    <a:pt x="790" y="27"/>
                    <a:pt x="794" y="23"/>
                  </a:cubicBezTo>
                  <a:cubicBezTo>
                    <a:pt x="798" y="19"/>
                    <a:pt x="800" y="14"/>
                    <a:pt x="800" y="9"/>
                  </a:cubicBezTo>
                  <a:cubicBezTo>
                    <a:pt x="800" y="0"/>
                    <a:pt x="800" y="0"/>
                    <a:pt x="800" y="0"/>
                  </a:cubicBezTo>
                  <a:cubicBezTo>
                    <a:pt x="798" y="2"/>
                    <a:pt x="795" y="3"/>
                    <a:pt x="791" y="3"/>
                  </a:cubicBezTo>
                  <a:close/>
                  <a:moveTo>
                    <a:pt x="72" y="21"/>
                  </a:moveTo>
                  <a:cubicBezTo>
                    <a:pt x="70" y="21"/>
                    <a:pt x="68" y="19"/>
                    <a:pt x="68" y="16"/>
                  </a:cubicBezTo>
                  <a:cubicBezTo>
                    <a:pt x="68" y="14"/>
                    <a:pt x="70" y="12"/>
                    <a:pt x="72" y="12"/>
                  </a:cubicBezTo>
                  <a:cubicBezTo>
                    <a:pt x="75" y="12"/>
                    <a:pt x="77" y="14"/>
                    <a:pt x="77" y="16"/>
                  </a:cubicBezTo>
                  <a:cubicBezTo>
                    <a:pt x="77" y="19"/>
                    <a:pt x="75" y="21"/>
                    <a:pt x="72" y="21"/>
                  </a:cubicBezTo>
                  <a:close/>
                  <a:moveTo>
                    <a:pt x="94" y="21"/>
                  </a:moveTo>
                  <a:cubicBezTo>
                    <a:pt x="91" y="21"/>
                    <a:pt x="89" y="19"/>
                    <a:pt x="89" y="16"/>
                  </a:cubicBezTo>
                  <a:cubicBezTo>
                    <a:pt x="89" y="14"/>
                    <a:pt x="91" y="12"/>
                    <a:pt x="94" y="12"/>
                  </a:cubicBezTo>
                  <a:cubicBezTo>
                    <a:pt x="96" y="12"/>
                    <a:pt x="98" y="14"/>
                    <a:pt x="98" y="16"/>
                  </a:cubicBezTo>
                  <a:cubicBezTo>
                    <a:pt x="98" y="19"/>
                    <a:pt x="96" y="21"/>
                    <a:pt x="94" y="21"/>
                  </a:cubicBezTo>
                  <a:close/>
                  <a:moveTo>
                    <a:pt x="115" y="21"/>
                  </a:moveTo>
                  <a:cubicBezTo>
                    <a:pt x="113" y="21"/>
                    <a:pt x="111" y="19"/>
                    <a:pt x="111" y="16"/>
                  </a:cubicBezTo>
                  <a:cubicBezTo>
                    <a:pt x="111" y="14"/>
                    <a:pt x="113" y="12"/>
                    <a:pt x="115" y="12"/>
                  </a:cubicBezTo>
                  <a:cubicBezTo>
                    <a:pt x="118" y="12"/>
                    <a:pt x="120" y="14"/>
                    <a:pt x="120" y="16"/>
                  </a:cubicBezTo>
                  <a:cubicBezTo>
                    <a:pt x="120" y="19"/>
                    <a:pt x="118" y="21"/>
                    <a:pt x="115"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34" name="Freeform 36"/>
            <p:cNvSpPr/>
            <p:nvPr/>
          </p:nvSpPr>
          <p:spPr bwMode="auto">
            <a:xfrm>
              <a:off x="4702" y="1225"/>
              <a:ext cx="50" cy="48"/>
            </a:xfrm>
            <a:custGeom>
              <a:avLst/>
              <a:gdLst>
                <a:gd name="T0" fmla="*/ 50 w 50"/>
                <a:gd name="T1" fmla="*/ 24 h 48"/>
                <a:gd name="T2" fmla="*/ 47 w 50"/>
                <a:gd name="T3" fmla="*/ 36 h 48"/>
                <a:gd name="T4" fmla="*/ 40 w 50"/>
                <a:gd name="T5" fmla="*/ 30 h 48"/>
                <a:gd name="T6" fmla="*/ 41 w 50"/>
                <a:gd name="T7" fmla="*/ 24 h 48"/>
                <a:gd name="T8" fmla="*/ 25 w 50"/>
                <a:gd name="T9" fmla="*/ 8 h 48"/>
                <a:gd name="T10" fmla="*/ 9 w 50"/>
                <a:gd name="T11" fmla="*/ 24 h 48"/>
                <a:gd name="T12" fmla="*/ 19 w 50"/>
                <a:gd name="T13" fmla="*/ 40 h 48"/>
                <a:gd name="T14" fmla="*/ 19 w 50"/>
                <a:gd name="T15" fmla="*/ 48 h 48"/>
                <a:gd name="T16" fmla="*/ 0 w 50"/>
                <a:gd name="T17" fmla="*/ 24 h 48"/>
                <a:gd name="T18" fmla="*/ 25 w 50"/>
                <a:gd name="T19" fmla="*/ 0 h 48"/>
                <a:gd name="T20" fmla="*/ 50 w 50"/>
                <a:gd name="T21"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48">
                  <a:moveTo>
                    <a:pt x="50" y="24"/>
                  </a:moveTo>
                  <a:cubicBezTo>
                    <a:pt x="50" y="29"/>
                    <a:pt x="48" y="33"/>
                    <a:pt x="47" y="36"/>
                  </a:cubicBezTo>
                  <a:cubicBezTo>
                    <a:pt x="40" y="30"/>
                    <a:pt x="40" y="30"/>
                    <a:pt x="40" y="30"/>
                  </a:cubicBezTo>
                  <a:cubicBezTo>
                    <a:pt x="41" y="28"/>
                    <a:pt x="41" y="26"/>
                    <a:pt x="41" y="24"/>
                  </a:cubicBezTo>
                  <a:cubicBezTo>
                    <a:pt x="41" y="15"/>
                    <a:pt x="34" y="8"/>
                    <a:pt x="25" y="8"/>
                  </a:cubicBezTo>
                  <a:cubicBezTo>
                    <a:pt x="16" y="8"/>
                    <a:pt x="9" y="15"/>
                    <a:pt x="9" y="24"/>
                  </a:cubicBezTo>
                  <a:cubicBezTo>
                    <a:pt x="9" y="31"/>
                    <a:pt x="13" y="37"/>
                    <a:pt x="19" y="40"/>
                  </a:cubicBezTo>
                  <a:cubicBezTo>
                    <a:pt x="19" y="48"/>
                    <a:pt x="19" y="48"/>
                    <a:pt x="19" y="48"/>
                  </a:cubicBezTo>
                  <a:cubicBezTo>
                    <a:pt x="8" y="45"/>
                    <a:pt x="0" y="36"/>
                    <a:pt x="0" y="24"/>
                  </a:cubicBezTo>
                  <a:cubicBezTo>
                    <a:pt x="0" y="11"/>
                    <a:pt x="11" y="0"/>
                    <a:pt x="25" y="0"/>
                  </a:cubicBezTo>
                  <a:cubicBezTo>
                    <a:pt x="39" y="0"/>
                    <a:pt x="50" y="11"/>
                    <a:pt x="5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35" name="Freeform 37"/>
            <p:cNvSpPr/>
            <p:nvPr/>
          </p:nvSpPr>
          <p:spPr bwMode="auto">
            <a:xfrm>
              <a:off x="4682" y="1204"/>
              <a:ext cx="90" cy="90"/>
            </a:xfrm>
            <a:custGeom>
              <a:avLst/>
              <a:gdLst>
                <a:gd name="T0" fmla="*/ 45 w 90"/>
                <a:gd name="T1" fmla="*/ 0 h 90"/>
                <a:gd name="T2" fmla="*/ 0 w 90"/>
                <a:gd name="T3" fmla="*/ 45 h 90"/>
                <a:gd name="T4" fmla="*/ 39 w 90"/>
                <a:gd name="T5" fmla="*/ 90 h 90"/>
                <a:gd name="T6" fmla="*/ 39 w 90"/>
                <a:gd name="T7" fmla="*/ 82 h 90"/>
                <a:gd name="T8" fmla="*/ 8 w 90"/>
                <a:gd name="T9" fmla="*/ 45 h 90"/>
                <a:gd name="T10" fmla="*/ 45 w 90"/>
                <a:gd name="T11" fmla="*/ 9 h 90"/>
                <a:gd name="T12" fmla="*/ 82 w 90"/>
                <a:gd name="T13" fmla="*/ 45 h 90"/>
                <a:gd name="T14" fmla="*/ 75 w 90"/>
                <a:gd name="T15" fmla="*/ 66 h 90"/>
                <a:gd name="T16" fmla="*/ 81 w 90"/>
                <a:gd name="T17" fmla="*/ 72 h 90"/>
                <a:gd name="T18" fmla="*/ 90 w 90"/>
                <a:gd name="T19" fmla="*/ 45 h 90"/>
                <a:gd name="T20" fmla="*/ 45 w 90"/>
                <a:gd name="T21"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0">
                  <a:moveTo>
                    <a:pt x="45" y="0"/>
                  </a:moveTo>
                  <a:cubicBezTo>
                    <a:pt x="20" y="0"/>
                    <a:pt x="0" y="21"/>
                    <a:pt x="0" y="45"/>
                  </a:cubicBezTo>
                  <a:cubicBezTo>
                    <a:pt x="0" y="68"/>
                    <a:pt x="17" y="87"/>
                    <a:pt x="39" y="90"/>
                  </a:cubicBezTo>
                  <a:cubicBezTo>
                    <a:pt x="39" y="82"/>
                    <a:pt x="39" y="82"/>
                    <a:pt x="39" y="82"/>
                  </a:cubicBezTo>
                  <a:cubicBezTo>
                    <a:pt x="21" y="79"/>
                    <a:pt x="8" y="64"/>
                    <a:pt x="8" y="45"/>
                  </a:cubicBezTo>
                  <a:cubicBezTo>
                    <a:pt x="8" y="25"/>
                    <a:pt x="25" y="9"/>
                    <a:pt x="45" y="9"/>
                  </a:cubicBezTo>
                  <a:cubicBezTo>
                    <a:pt x="65" y="9"/>
                    <a:pt x="82" y="25"/>
                    <a:pt x="82" y="45"/>
                  </a:cubicBezTo>
                  <a:cubicBezTo>
                    <a:pt x="82" y="53"/>
                    <a:pt x="79" y="60"/>
                    <a:pt x="75" y="66"/>
                  </a:cubicBezTo>
                  <a:cubicBezTo>
                    <a:pt x="81" y="72"/>
                    <a:pt x="81" y="72"/>
                    <a:pt x="81" y="72"/>
                  </a:cubicBezTo>
                  <a:cubicBezTo>
                    <a:pt x="87" y="65"/>
                    <a:pt x="90" y="55"/>
                    <a:pt x="90" y="45"/>
                  </a:cubicBezTo>
                  <a:cubicBezTo>
                    <a:pt x="90" y="21"/>
                    <a:pt x="70" y="0"/>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36" name="Freeform 38"/>
            <p:cNvSpPr/>
            <p:nvPr/>
          </p:nvSpPr>
          <p:spPr bwMode="auto">
            <a:xfrm>
              <a:off x="4727" y="1248"/>
              <a:ext cx="99" cy="167"/>
            </a:xfrm>
            <a:custGeom>
              <a:avLst/>
              <a:gdLst>
                <a:gd name="T0" fmla="*/ 0 w 99"/>
                <a:gd name="T1" fmla="*/ 1 h 167"/>
                <a:gd name="T2" fmla="*/ 0 w 99"/>
                <a:gd name="T3" fmla="*/ 1 h 167"/>
                <a:gd name="T4" fmla="*/ 0 w 99"/>
                <a:gd name="T5" fmla="*/ 143 h 167"/>
                <a:gd name="T6" fmla="*/ 0 w 99"/>
                <a:gd name="T7" fmla="*/ 143 h 167"/>
                <a:gd name="T8" fmla="*/ 1 w 99"/>
                <a:gd name="T9" fmla="*/ 143 h 167"/>
                <a:gd name="T10" fmla="*/ 1 w 99"/>
                <a:gd name="T11" fmla="*/ 143 h 167"/>
                <a:gd name="T12" fmla="*/ 29 w 99"/>
                <a:gd name="T13" fmla="*/ 119 h 167"/>
                <a:gd name="T14" fmla="*/ 29 w 99"/>
                <a:gd name="T15" fmla="*/ 119 h 167"/>
                <a:gd name="T16" fmla="*/ 29 w 99"/>
                <a:gd name="T17" fmla="*/ 119 h 167"/>
                <a:gd name="T18" fmla="*/ 30 w 99"/>
                <a:gd name="T19" fmla="*/ 119 h 167"/>
                <a:gd name="T20" fmla="*/ 47 w 99"/>
                <a:gd name="T21" fmla="*/ 163 h 167"/>
                <a:gd name="T22" fmla="*/ 50 w 99"/>
                <a:gd name="T23" fmla="*/ 166 h 167"/>
                <a:gd name="T24" fmla="*/ 54 w 99"/>
                <a:gd name="T25" fmla="*/ 166 h 167"/>
                <a:gd name="T26" fmla="*/ 76 w 99"/>
                <a:gd name="T27" fmla="*/ 157 h 167"/>
                <a:gd name="T28" fmla="*/ 79 w 99"/>
                <a:gd name="T29" fmla="*/ 155 h 167"/>
                <a:gd name="T30" fmla="*/ 79 w 99"/>
                <a:gd name="T31" fmla="*/ 151 h 167"/>
                <a:gd name="T32" fmla="*/ 61 w 99"/>
                <a:gd name="T33" fmla="*/ 107 h 167"/>
                <a:gd name="T34" fmla="*/ 61 w 99"/>
                <a:gd name="T35" fmla="*/ 106 h 167"/>
                <a:gd name="T36" fmla="*/ 61 w 99"/>
                <a:gd name="T37" fmla="*/ 106 h 167"/>
                <a:gd name="T38" fmla="*/ 62 w 99"/>
                <a:gd name="T39" fmla="*/ 106 h 167"/>
                <a:gd name="T40" fmla="*/ 98 w 99"/>
                <a:gd name="T41" fmla="*/ 104 h 167"/>
                <a:gd name="T42" fmla="*/ 99 w 99"/>
                <a:gd name="T43" fmla="*/ 104 h 167"/>
                <a:gd name="T44" fmla="*/ 99 w 99"/>
                <a:gd name="T45" fmla="*/ 104 h 167"/>
                <a:gd name="T46" fmla="*/ 99 w 99"/>
                <a:gd name="T47" fmla="*/ 103 h 167"/>
                <a:gd name="T48" fmla="*/ 1 w 99"/>
                <a:gd name="T49" fmla="*/ 1 h 167"/>
                <a:gd name="T50" fmla="*/ 0 w 99"/>
                <a:gd name="T51" fmla="*/ 1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9" h="167">
                  <a:moveTo>
                    <a:pt x="0" y="1"/>
                  </a:moveTo>
                  <a:cubicBezTo>
                    <a:pt x="0" y="1"/>
                    <a:pt x="0" y="1"/>
                    <a:pt x="0" y="1"/>
                  </a:cubicBezTo>
                  <a:cubicBezTo>
                    <a:pt x="0" y="143"/>
                    <a:pt x="0" y="143"/>
                    <a:pt x="0" y="143"/>
                  </a:cubicBezTo>
                  <a:cubicBezTo>
                    <a:pt x="0" y="143"/>
                    <a:pt x="0" y="143"/>
                    <a:pt x="0" y="143"/>
                  </a:cubicBezTo>
                  <a:cubicBezTo>
                    <a:pt x="1" y="143"/>
                    <a:pt x="1" y="143"/>
                    <a:pt x="1" y="143"/>
                  </a:cubicBezTo>
                  <a:cubicBezTo>
                    <a:pt x="1" y="143"/>
                    <a:pt x="1" y="143"/>
                    <a:pt x="1" y="143"/>
                  </a:cubicBezTo>
                  <a:cubicBezTo>
                    <a:pt x="29" y="119"/>
                    <a:pt x="29" y="119"/>
                    <a:pt x="29" y="119"/>
                  </a:cubicBezTo>
                  <a:cubicBezTo>
                    <a:pt x="29" y="119"/>
                    <a:pt x="29" y="119"/>
                    <a:pt x="29" y="119"/>
                  </a:cubicBezTo>
                  <a:cubicBezTo>
                    <a:pt x="29" y="119"/>
                    <a:pt x="29" y="119"/>
                    <a:pt x="29" y="119"/>
                  </a:cubicBezTo>
                  <a:cubicBezTo>
                    <a:pt x="29" y="119"/>
                    <a:pt x="30" y="119"/>
                    <a:pt x="30" y="119"/>
                  </a:cubicBezTo>
                  <a:cubicBezTo>
                    <a:pt x="47" y="163"/>
                    <a:pt x="47" y="163"/>
                    <a:pt x="47" y="163"/>
                  </a:cubicBezTo>
                  <a:cubicBezTo>
                    <a:pt x="48" y="164"/>
                    <a:pt x="49" y="165"/>
                    <a:pt x="50" y="166"/>
                  </a:cubicBezTo>
                  <a:cubicBezTo>
                    <a:pt x="52" y="167"/>
                    <a:pt x="53" y="167"/>
                    <a:pt x="54" y="166"/>
                  </a:cubicBezTo>
                  <a:cubicBezTo>
                    <a:pt x="76" y="157"/>
                    <a:pt x="76" y="157"/>
                    <a:pt x="76" y="157"/>
                  </a:cubicBezTo>
                  <a:cubicBezTo>
                    <a:pt x="77" y="157"/>
                    <a:pt x="78" y="156"/>
                    <a:pt x="79" y="155"/>
                  </a:cubicBezTo>
                  <a:cubicBezTo>
                    <a:pt x="79" y="153"/>
                    <a:pt x="79" y="152"/>
                    <a:pt x="79" y="151"/>
                  </a:cubicBezTo>
                  <a:cubicBezTo>
                    <a:pt x="61" y="107"/>
                    <a:pt x="61" y="107"/>
                    <a:pt x="61" y="107"/>
                  </a:cubicBezTo>
                  <a:cubicBezTo>
                    <a:pt x="61" y="106"/>
                    <a:pt x="61" y="106"/>
                    <a:pt x="61" y="106"/>
                  </a:cubicBezTo>
                  <a:cubicBezTo>
                    <a:pt x="61" y="106"/>
                    <a:pt x="61" y="106"/>
                    <a:pt x="61" y="106"/>
                  </a:cubicBezTo>
                  <a:cubicBezTo>
                    <a:pt x="61" y="106"/>
                    <a:pt x="62" y="106"/>
                    <a:pt x="62" y="106"/>
                  </a:cubicBezTo>
                  <a:cubicBezTo>
                    <a:pt x="98" y="104"/>
                    <a:pt x="98" y="104"/>
                    <a:pt x="98" y="104"/>
                  </a:cubicBezTo>
                  <a:cubicBezTo>
                    <a:pt x="98" y="104"/>
                    <a:pt x="98" y="104"/>
                    <a:pt x="99" y="104"/>
                  </a:cubicBezTo>
                  <a:cubicBezTo>
                    <a:pt x="99" y="104"/>
                    <a:pt x="99" y="104"/>
                    <a:pt x="99" y="104"/>
                  </a:cubicBezTo>
                  <a:cubicBezTo>
                    <a:pt x="99" y="104"/>
                    <a:pt x="99" y="103"/>
                    <a:pt x="99" y="103"/>
                  </a:cubicBezTo>
                  <a:cubicBezTo>
                    <a:pt x="1" y="1"/>
                    <a:pt x="1" y="1"/>
                    <a:pt x="1" y="1"/>
                  </a:cubicBezTo>
                  <a:cubicBezTo>
                    <a:pt x="1"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grpSp>
      <p:grpSp>
        <p:nvGrpSpPr>
          <p:cNvPr id="37" name="Group 121"/>
          <p:cNvGrpSpPr>
            <a:grpSpLocks noChangeAspect="1"/>
          </p:cNvGrpSpPr>
          <p:nvPr/>
        </p:nvGrpSpPr>
        <p:grpSpPr bwMode="auto">
          <a:xfrm>
            <a:off x="758523" y="5311095"/>
            <a:ext cx="754758" cy="642396"/>
            <a:chOff x="515" y="3088"/>
            <a:chExt cx="665" cy="566"/>
          </a:xfrm>
          <a:solidFill>
            <a:srgbClr val="1A9895"/>
          </a:solidFill>
        </p:grpSpPr>
        <p:sp>
          <p:nvSpPr>
            <p:cNvPr id="38" name="Freeform 122"/>
            <p:cNvSpPr/>
            <p:nvPr/>
          </p:nvSpPr>
          <p:spPr bwMode="auto">
            <a:xfrm>
              <a:off x="706" y="3550"/>
              <a:ext cx="283" cy="104"/>
            </a:xfrm>
            <a:custGeom>
              <a:avLst/>
              <a:gdLst>
                <a:gd name="T0" fmla="*/ 269 w 340"/>
                <a:gd name="T1" fmla="*/ 71 h 125"/>
                <a:gd name="T2" fmla="*/ 269 w 340"/>
                <a:gd name="T3" fmla="*/ 12 h 125"/>
                <a:gd name="T4" fmla="*/ 266 w 340"/>
                <a:gd name="T5" fmla="*/ 3 h 125"/>
                <a:gd name="T6" fmla="*/ 257 w 340"/>
                <a:gd name="T7" fmla="*/ 0 h 125"/>
                <a:gd name="T8" fmla="*/ 83 w 340"/>
                <a:gd name="T9" fmla="*/ 0 h 125"/>
                <a:gd name="T10" fmla="*/ 74 w 340"/>
                <a:gd name="T11" fmla="*/ 3 h 125"/>
                <a:gd name="T12" fmla="*/ 71 w 340"/>
                <a:gd name="T13" fmla="*/ 12 h 125"/>
                <a:gd name="T14" fmla="*/ 71 w 340"/>
                <a:gd name="T15" fmla="*/ 71 h 125"/>
                <a:gd name="T16" fmla="*/ 2 w 340"/>
                <a:gd name="T17" fmla="*/ 108 h 125"/>
                <a:gd name="T18" fmla="*/ 1 w 340"/>
                <a:gd name="T19" fmla="*/ 110 h 125"/>
                <a:gd name="T20" fmla="*/ 0 w 340"/>
                <a:gd name="T21" fmla="*/ 112 h 125"/>
                <a:gd name="T22" fmla="*/ 0 w 340"/>
                <a:gd name="T23" fmla="*/ 120 h 125"/>
                <a:gd name="T24" fmla="*/ 1 w 340"/>
                <a:gd name="T25" fmla="*/ 124 h 125"/>
                <a:gd name="T26" fmla="*/ 5 w 340"/>
                <a:gd name="T27" fmla="*/ 125 h 125"/>
                <a:gd name="T28" fmla="*/ 335 w 340"/>
                <a:gd name="T29" fmla="*/ 125 h 125"/>
                <a:gd name="T30" fmla="*/ 339 w 340"/>
                <a:gd name="T31" fmla="*/ 124 h 125"/>
                <a:gd name="T32" fmla="*/ 340 w 340"/>
                <a:gd name="T33" fmla="*/ 120 h 125"/>
                <a:gd name="T34" fmla="*/ 340 w 340"/>
                <a:gd name="T35" fmla="*/ 112 h 125"/>
                <a:gd name="T36" fmla="*/ 339 w 340"/>
                <a:gd name="T37" fmla="*/ 110 h 125"/>
                <a:gd name="T38" fmla="*/ 338 w 340"/>
                <a:gd name="T39" fmla="*/ 108 h 125"/>
                <a:gd name="T40" fmla="*/ 269 w 340"/>
                <a:gd name="T41" fmla="*/ 7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125">
                  <a:moveTo>
                    <a:pt x="269" y="71"/>
                  </a:moveTo>
                  <a:cubicBezTo>
                    <a:pt x="269" y="12"/>
                    <a:pt x="269" y="12"/>
                    <a:pt x="269" y="12"/>
                  </a:cubicBezTo>
                  <a:cubicBezTo>
                    <a:pt x="269" y="9"/>
                    <a:pt x="268" y="6"/>
                    <a:pt x="266" y="3"/>
                  </a:cubicBezTo>
                  <a:cubicBezTo>
                    <a:pt x="263" y="1"/>
                    <a:pt x="260" y="0"/>
                    <a:pt x="257" y="0"/>
                  </a:cubicBezTo>
                  <a:cubicBezTo>
                    <a:pt x="83" y="0"/>
                    <a:pt x="83" y="0"/>
                    <a:pt x="83" y="0"/>
                  </a:cubicBezTo>
                  <a:cubicBezTo>
                    <a:pt x="80" y="0"/>
                    <a:pt x="77" y="1"/>
                    <a:pt x="74" y="3"/>
                  </a:cubicBezTo>
                  <a:cubicBezTo>
                    <a:pt x="72" y="6"/>
                    <a:pt x="71" y="9"/>
                    <a:pt x="71" y="12"/>
                  </a:cubicBezTo>
                  <a:cubicBezTo>
                    <a:pt x="71" y="71"/>
                    <a:pt x="71" y="71"/>
                    <a:pt x="71" y="71"/>
                  </a:cubicBezTo>
                  <a:cubicBezTo>
                    <a:pt x="2" y="108"/>
                    <a:pt x="2" y="108"/>
                    <a:pt x="2" y="108"/>
                  </a:cubicBezTo>
                  <a:cubicBezTo>
                    <a:pt x="2" y="109"/>
                    <a:pt x="1" y="109"/>
                    <a:pt x="1" y="110"/>
                  </a:cubicBezTo>
                  <a:cubicBezTo>
                    <a:pt x="0" y="111"/>
                    <a:pt x="0" y="111"/>
                    <a:pt x="0" y="112"/>
                  </a:cubicBezTo>
                  <a:cubicBezTo>
                    <a:pt x="0" y="120"/>
                    <a:pt x="0" y="120"/>
                    <a:pt x="0" y="120"/>
                  </a:cubicBezTo>
                  <a:cubicBezTo>
                    <a:pt x="0" y="122"/>
                    <a:pt x="1" y="123"/>
                    <a:pt x="1" y="124"/>
                  </a:cubicBezTo>
                  <a:cubicBezTo>
                    <a:pt x="2" y="124"/>
                    <a:pt x="3" y="125"/>
                    <a:pt x="5" y="125"/>
                  </a:cubicBezTo>
                  <a:cubicBezTo>
                    <a:pt x="335" y="125"/>
                    <a:pt x="335" y="125"/>
                    <a:pt x="335" y="125"/>
                  </a:cubicBezTo>
                  <a:cubicBezTo>
                    <a:pt x="337" y="125"/>
                    <a:pt x="338" y="124"/>
                    <a:pt x="339" y="124"/>
                  </a:cubicBezTo>
                  <a:cubicBezTo>
                    <a:pt x="339" y="123"/>
                    <a:pt x="340" y="122"/>
                    <a:pt x="340" y="120"/>
                  </a:cubicBezTo>
                  <a:cubicBezTo>
                    <a:pt x="340" y="112"/>
                    <a:pt x="340" y="112"/>
                    <a:pt x="340" y="112"/>
                  </a:cubicBezTo>
                  <a:cubicBezTo>
                    <a:pt x="340" y="111"/>
                    <a:pt x="340" y="111"/>
                    <a:pt x="339" y="110"/>
                  </a:cubicBezTo>
                  <a:cubicBezTo>
                    <a:pt x="339" y="109"/>
                    <a:pt x="338" y="109"/>
                    <a:pt x="338" y="108"/>
                  </a:cubicBezTo>
                  <a:lnTo>
                    <a:pt x="269"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39" name="Freeform 123"/>
            <p:cNvSpPr>
              <a:spLocks noEditPoints="1"/>
            </p:cNvSpPr>
            <p:nvPr/>
          </p:nvSpPr>
          <p:spPr bwMode="auto">
            <a:xfrm>
              <a:off x="515" y="3088"/>
              <a:ext cx="665" cy="449"/>
            </a:xfrm>
            <a:custGeom>
              <a:avLst/>
              <a:gdLst>
                <a:gd name="T0" fmla="*/ 791 w 800"/>
                <a:gd name="T1" fmla="*/ 9 h 539"/>
                <a:gd name="T2" fmla="*/ 770 w 800"/>
                <a:gd name="T3" fmla="*/ 0 h 539"/>
                <a:gd name="T4" fmla="*/ 30 w 800"/>
                <a:gd name="T5" fmla="*/ 0 h 539"/>
                <a:gd name="T6" fmla="*/ 9 w 800"/>
                <a:gd name="T7" fmla="*/ 9 h 539"/>
                <a:gd name="T8" fmla="*/ 0 w 800"/>
                <a:gd name="T9" fmla="*/ 30 h 539"/>
                <a:gd name="T10" fmla="*/ 0 w 800"/>
                <a:gd name="T11" fmla="*/ 509 h 539"/>
                <a:gd name="T12" fmla="*/ 9 w 800"/>
                <a:gd name="T13" fmla="*/ 530 h 539"/>
                <a:gd name="T14" fmla="*/ 30 w 800"/>
                <a:gd name="T15" fmla="*/ 539 h 539"/>
                <a:gd name="T16" fmla="*/ 770 w 800"/>
                <a:gd name="T17" fmla="*/ 539 h 539"/>
                <a:gd name="T18" fmla="*/ 791 w 800"/>
                <a:gd name="T19" fmla="*/ 530 h 539"/>
                <a:gd name="T20" fmla="*/ 800 w 800"/>
                <a:gd name="T21" fmla="*/ 509 h 539"/>
                <a:gd name="T22" fmla="*/ 800 w 800"/>
                <a:gd name="T23" fmla="*/ 30 h 539"/>
                <a:gd name="T24" fmla="*/ 791 w 800"/>
                <a:gd name="T25" fmla="*/ 9 h 539"/>
                <a:gd name="T26" fmla="*/ 400 w 800"/>
                <a:gd name="T27" fmla="*/ 526 h 539"/>
                <a:gd name="T28" fmla="*/ 387 w 800"/>
                <a:gd name="T29" fmla="*/ 513 h 539"/>
                <a:gd name="T30" fmla="*/ 400 w 800"/>
                <a:gd name="T31" fmla="*/ 500 h 539"/>
                <a:gd name="T32" fmla="*/ 413 w 800"/>
                <a:gd name="T33" fmla="*/ 513 h 539"/>
                <a:gd name="T34" fmla="*/ 400 w 800"/>
                <a:gd name="T35" fmla="*/ 526 h 539"/>
                <a:gd name="T36" fmla="*/ 748 w 800"/>
                <a:gd name="T37" fmla="*/ 487 h 539"/>
                <a:gd name="T38" fmla="*/ 52 w 800"/>
                <a:gd name="T39" fmla="*/ 487 h 539"/>
                <a:gd name="T40" fmla="*/ 52 w 800"/>
                <a:gd name="T41" fmla="*/ 52 h 539"/>
                <a:gd name="T42" fmla="*/ 748 w 800"/>
                <a:gd name="T43" fmla="*/ 52 h 539"/>
                <a:gd name="T44" fmla="*/ 748 w 800"/>
                <a:gd name="T45" fmla="*/ 487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0" h="539">
                  <a:moveTo>
                    <a:pt x="791" y="9"/>
                  </a:moveTo>
                  <a:cubicBezTo>
                    <a:pt x="785" y="3"/>
                    <a:pt x="778" y="0"/>
                    <a:pt x="770" y="0"/>
                  </a:cubicBezTo>
                  <a:cubicBezTo>
                    <a:pt x="30" y="0"/>
                    <a:pt x="30" y="0"/>
                    <a:pt x="30" y="0"/>
                  </a:cubicBezTo>
                  <a:cubicBezTo>
                    <a:pt x="22" y="0"/>
                    <a:pt x="15" y="3"/>
                    <a:pt x="9" y="9"/>
                  </a:cubicBezTo>
                  <a:cubicBezTo>
                    <a:pt x="3" y="15"/>
                    <a:pt x="0" y="23"/>
                    <a:pt x="0" y="30"/>
                  </a:cubicBezTo>
                  <a:cubicBezTo>
                    <a:pt x="0" y="509"/>
                    <a:pt x="0" y="509"/>
                    <a:pt x="0" y="509"/>
                  </a:cubicBezTo>
                  <a:cubicBezTo>
                    <a:pt x="0" y="517"/>
                    <a:pt x="3" y="525"/>
                    <a:pt x="9" y="530"/>
                  </a:cubicBezTo>
                  <a:cubicBezTo>
                    <a:pt x="15" y="536"/>
                    <a:pt x="22" y="539"/>
                    <a:pt x="30" y="539"/>
                  </a:cubicBezTo>
                  <a:cubicBezTo>
                    <a:pt x="770" y="539"/>
                    <a:pt x="770" y="539"/>
                    <a:pt x="770" y="539"/>
                  </a:cubicBezTo>
                  <a:cubicBezTo>
                    <a:pt x="778" y="539"/>
                    <a:pt x="785" y="536"/>
                    <a:pt x="791" y="530"/>
                  </a:cubicBezTo>
                  <a:cubicBezTo>
                    <a:pt x="797" y="525"/>
                    <a:pt x="800" y="517"/>
                    <a:pt x="800" y="509"/>
                  </a:cubicBezTo>
                  <a:cubicBezTo>
                    <a:pt x="800" y="30"/>
                    <a:pt x="800" y="30"/>
                    <a:pt x="800" y="30"/>
                  </a:cubicBezTo>
                  <a:cubicBezTo>
                    <a:pt x="800" y="23"/>
                    <a:pt x="797" y="15"/>
                    <a:pt x="791" y="9"/>
                  </a:cubicBezTo>
                  <a:close/>
                  <a:moveTo>
                    <a:pt x="400" y="526"/>
                  </a:moveTo>
                  <a:cubicBezTo>
                    <a:pt x="393" y="526"/>
                    <a:pt x="387" y="521"/>
                    <a:pt x="387" y="513"/>
                  </a:cubicBezTo>
                  <a:cubicBezTo>
                    <a:pt x="387" y="506"/>
                    <a:pt x="393" y="500"/>
                    <a:pt x="400" y="500"/>
                  </a:cubicBezTo>
                  <a:cubicBezTo>
                    <a:pt x="407" y="500"/>
                    <a:pt x="413" y="506"/>
                    <a:pt x="413" y="513"/>
                  </a:cubicBezTo>
                  <a:cubicBezTo>
                    <a:pt x="413" y="521"/>
                    <a:pt x="407" y="526"/>
                    <a:pt x="400" y="526"/>
                  </a:cubicBezTo>
                  <a:close/>
                  <a:moveTo>
                    <a:pt x="748" y="487"/>
                  </a:moveTo>
                  <a:cubicBezTo>
                    <a:pt x="52" y="487"/>
                    <a:pt x="52" y="487"/>
                    <a:pt x="52" y="487"/>
                  </a:cubicBezTo>
                  <a:cubicBezTo>
                    <a:pt x="52" y="52"/>
                    <a:pt x="52" y="52"/>
                    <a:pt x="52" y="52"/>
                  </a:cubicBezTo>
                  <a:cubicBezTo>
                    <a:pt x="748" y="52"/>
                    <a:pt x="748" y="52"/>
                    <a:pt x="748" y="52"/>
                  </a:cubicBezTo>
                  <a:lnTo>
                    <a:pt x="748" y="4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0" name="Freeform 124"/>
            <p:cNvSpPr/>
            <p:nvPr/>
          </p:nvSpPr>
          <p:spPr bwMode="auto">
            <a:xfrm>
              <a:off x="646" y="3459"/>
              <a:ext cx="56" cy="9"/>
            </a:xfrm>
            <a:custGeom>
              <a:avLst/>
              <a:gdLst>
                <a:gd name="T0" fmla="*/ 6 w 67"/>
                <a:gd name="T1" fmla="*/ 0 h 11"/>
                <a:gd name="T2" fmla="*/ 2 w 67"/>
                <a:gd name="T3" fmla="*/ 2 h 11"/>
                <a:gd name="T4" fmla="*/ 0 w 67"/>
                <a:gd name="T5" fmla="*/ 6 h 11"/>
                <a:gd name="T6" fmla="*/ 0 w 67"/>
                <a:gd name="T7" fmla="*/ 11 h 11"/>
                <a:gd name="T8" fmla="*/ 67 w 67"/>
                <a:gd name="T9" fmla="*/ 11 h 11"/>
                <a:gd name="T10" fmla="*/ 67 w 67"/>
                <a:gd name="T11" fmla="*/ 6 h 11"/>
                <a:gd name="T12" fmla="*/ 65 w 67"/>
                <a:gd name="T13" fmla="*/ 2 h 11"/>
                <a:gd name="T14" fmla="*/ 61 w 67"/>
                <a:gd name="T15" fmla="*/ 0 h 11"/>
                <a:gd name="T16" fmla="*/ 6 w 67"/>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1">
                  <a:moveTo>
                    <a:pt x="6" y="0"/>
                  </a:moveTo>
                  <a:cubicBezTo>
                    <a:pt x="4" y="0"/>
                    <a:pt x="3" y="1"/>
                    <a:pt x="2" y="2"/>
                  </a:cubicBezTo>
                  <a:cubicBezTo>
                    <a:pt x="0" y="3"/>
                    <a:pt x="0" y="5"/>
                    <a:pt x="0" y="6"/>
                  </a:cubicBezTo>
                  <a:cubicBezTo>
                    <a:pt x="0" y="11"/>
                    <a:pt x="0" y="11"/>
                    <a:pt x="0" y="11"/>
                  </a:cubicBezTo>
                  <a:cubicBezTo>
                    <a:pt x="67" y="11"/>
                    <a:pt x="67" y="11"/>
                    <a:pt x="67" y="11"/>
                  </a:cubicBezTo>
                  <a:cubicBezTo>
                    <a:pt x="67" y="6"/>
                    <a:pt x="67" y="6"/>
                    <a:pt x="67" y="6"/>
                  </a:cubicBezTo>
                  <a:cubicBezTo>
                    <a:pt x="67" y="5"/>
                    <a:pt x="66" y="3"/>
                    <a:pt x="65" y="2"/>
                  </a:cubicBezTo>
                  <a:cubicBezTo>
                    <a:pt x="64" y="1"/>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1" name="Freeform 125"/>
            <p:cNvSpPr/>
            <p:nvPr/>
          </p:nvSpPr>
          <p:spPr bwMode="auto">
            <a:xfrm>
              <a:off x="715" y="3395"/>
              <a:ext cx="55" cy="73"/>
            </a:xfrm>
            <a:custGeom>
              <a:avLst/>
              <a:gdLst>
                <a:gd name="T0" fmla="*/ 6 w 67"/>
                <a:gd name="T1" fmla="*/ 0 h 88"/>
                <a:gd name="T2" fmla="*/ 2 w 67"/>
                <a:gd name="T3" fmla="*/ 1 h 88"/>
                <a:gd name="T4" fmla="*/ 0 w 67"/>
                <a:gd name="T5" fmla="*/ 6 h 88"/>
                <a:gd name="T6" fmla="*/ 0 w 67"/>
                <a:gd name="T7" fmla="*/ 88 h 88"/>
                <a:gd name="T8" fmla="*/ 67 w 67"/>
                <a:gd name="T9" fmla="*/ 88 h 88"/>
                <a:gd name="T10" fmla="*/ 67 w 67"/>
                <a:gd name="T11" fmla="*/ 6 h 88"/>
                <a:gd name="T12" fmla="*/ 65 w 67"/>
                <a:gd name="T13" fmla="*/ 1 h 88"/>
                <a:gd name="T14" fmla="*/ 61 w 67"/>
                <a:gd name="T15" fmla="*/ 0 h 88"/>
                <a:gd name="T16" fmla="*/ 6 w 67"/>
                <a:gd name="T1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88">
                  <a:moveTo>
                    <a:pt x="6" y="0"/>
                  </a:moveTo>
                  <a:cubicBezTo>
                    <a:pt x="4" y="0"/>
                    <a:pt x="3" y="0"/>
                    <a:pt x="2" y="1"/>
                  </a:cubicBezTo>
                  <a:cubicBezTo>
                    <a:pt x="0" y="3"/>
                    <a:pt x="0" y="4"/>
                    <a:pt x="0" y="6"/>
                  </a:cubicBezTo>
                  <a:cubicBezTo>
                    <a:pt x="0" y="88"/>
                    <a:pt x="0" y="88"/>
                    <a:pt x="0" y="88"/>
                  </a:cubicBezTo>
                  <a:cubicBezTo>
                    <a:pt x="67" y="88"/>
                    <a:pt x="67" y="88"/>
                    <a:pt x="67" y="88"/>
                  </a:cubicBezTo>
                  <a:cubicBezTo>
                    <a:pt x="67" y="6"/>
                    <a:pt x="67" y="6"/>
                    <a:pt x="67" y="6"/>
                  </a:cubicBezTo>
                  <a:cubicBezTo>
                    <a:pt x="67" y="4"/>
                    <a:pt x="66" y="3"/>
                    <a:pt x="65" y="1"/>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2" name="Freeform 126"/>
            <p:cNvSpPr/>
            <p:nvPr/>
          </p:nvSpPr>
          <p:spPr bwMode="auto">
            <a:xfrm>
              <a:off x="783" y="3368"/>
              <a:ext cx="55" cy="100"/>
            </a:xfrm>
            <a:custGeom>
              <a:avLst/>
              <a:gdLst>
                <a:gd name="T0" fmla="*/ 6 w 67"/>
                <a:gd name="T1" fmla="*/ 0 h 120"/>
                <a:gd name="T2" fmla="*/ 2 w 67"/>
                <a:gd name="T3" fmla="*/ 2 h 120"/>
                <a:gd name="T4" fmla="*/ 0 w 67"/>
                <a:gd name="T5" fmla="*/ 6 h 120"/>
                <a:gd name="T6" fmla="*/ 0 w 67"/>
                <a:gd name="T7" fmla="*/ 120 h 120"/>
                <a:gd name="T8" fmla="*/ 67 w 67"/>
                <a:gd name="T9" fmla="*/ 120 h 120"/>
                <a:gd name="T10" fmla="*/ 67 w 67"/>
                <a:gd name="T11" fmla="*/ 6 h 120"/>
                <a:gd name="T12" fmla="*/ 65 w 67"/>
                <a:gd name="T13" fmla="*/ 2 h 120"/>
                <a:gd name="T14" fmla="*/ 61 w 67"/>
                <a:gd name="T15" fmla="*/ 0 h 120"/>
                <a:gd name="T16" fmla="*/ 6 w 67"/>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20">
                  <a:moveTo>
                    <a:pt x="6" y="0"/>
                  </a:moveTo>
                  <a:cubicBezTo>
                    <a:pt x="4" y="0"/>
                    <a:pt x="3" y="0"/>
                    <a:pt x="2" y="2"/>
                  </a:cubicBezTo>
                  <a:cubicBezTo>
                    <a:pt x="0" y="3"/>
                    <a:pt x="0" y="4"/>
                    <a:pt x="0" y="6"/>
                  </a:cubicBezTo>
                  <a:cubicBezTo>
                    <a:pt x="0" y="120"/>
                    <a:pt x="0" y="120"/>
                    <a:pt x="0" y="120"/>
                  </a:cubicBezTo>
                  <a:cubicBezTo>
                    <a:pt x="67" y="120"/>
                    <a:pt x="67" y="120"/>
                    <a:pt x="67" y="120"/>
                  </a:cubicBezTo>
                  <a:cubicBezTo>
                    <a:pt x="67" y="6"/>
                    <a:pt x="67" y="6"/>
                    <a:pt x="67" y="6"/>
                  </a:cubicBezTo>
                  <a:cubicBezTo>
                    <a:pt x="67" y="4"/>
                    <a:pt x="66" y="3"/>
                    <a:pt x="65" y="2"/>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3" name="Freeform 127"/>
            <p:cNvSpPr/>
            <p:nvPr/>
          </p:nvSpPr>
          <p:spPr bwMode="auto">
            <a:xfrm>
              <a:off x="851" y="3379"/>
              <a:ext cx="56" cy="89"/>
            </a:xfrm>
            <a:custGeom>
              <a:avLst/>
              <a:gdLst>
                <a:gd name="T0" fmla="*/ 6 w 67"/>
                <a:gd name="T1" fmla="*/ 0 h 107"/>
                <a:gd name="T2" fmla="*/ 2 w 67"/>
                <a:gd name="T3" fmla="*/ 2 h 107"/>
                <a:gd name="T4" fmla="*/ 0 w 67"/>
                <a:gd name="T5" fmla="*/ 6 h 107"/>
                <a:gd name="T6" fmla="*/ 0 w 67"/>
                <a:gd name="T7" fmla="*/ 107 h 107"/>
                <a:gd name="T8" fmla="*/ 67 w 67"/>
                <a:gd name="T9" fmla="*/ 107 h 107"/>
                <a:gd name="T10" fmla="*/ 67 w 67"/>
                <a:gd name="T11" fmla="*/ 6 h 107"/>
                <a:gd name="T12" fmla="*/ 65 w 67"/>
                <a:gd name="T13" fmla="*/ 2 h 107"/>
                <a:gd name="T14" fmla="*/ 61 w 67"/>
                <a:gd name="T15" fmla="*/ 0 h 107"/>
                <a:gd name="T16" fmla="*/ 6 w 67"/>
                <a:gd name="T17"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07">
                  <a:moveTo>
                    <a:pt x="6" y="0"/>
                  </a:moveTo>
                  <a:cubicBezTo>
                    <a:pt x="5" y="0"/>
                    <a:pt x="3" y="0"/>
                    <a:pt x="2" y="2"/>
                  </a:cubicBezTo>
                  <a:cubicBezTo>
                    <a:pt x="0" y="3"/>
                    <a:pt x="0" y="5"/>
                    <a:pt x="0" y="6"/>
                  </a:cubicBezTo>
                  <a:cubicBezTo>
                    <a:pt x="0" y="107"/>
                    <a:pt x="0" y="107"/>
                    <a:pt x="0" y="107"/>
                  </a:cubicBezTo>
                  <a:cubicBezTo>
                    <a:pt x="67" y="107"/>
                    <a:pt x="67" y="107"/>
                    <a:pt x="67" y="107"/>
                  </a:cubicBezTo>
                  <a:cubicBezTo>
                    <a:pt x="67" y="6"/>
                    <a:pt x="67" y="6"/>
                    <a:pt x="67" y="6"/>
                  </a:cubicBezTo>
                  <a:cubicBezTo>
                    <a:pt x="67" y="5"/>
                    <a:pt x="66" y="3"/>
                    <a:pt x="65" y="2"/>
                  </a:cubicBezTo>
                  <a:cubicBezTo>
                    <a:pt x="64" y="0"/>
                    <a:pt x="62" y="0"/>
                    <a:pt x="61" y="0"/>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4" name="Freeform 128"/>
            <p:cNvSpPr/>
            <p:nvPr/>
          </p:nvSpPr>
          <p:spPr bwMode="auto">
            <a:xfrm>
              <a:off x="919" y="3337"/>
              <a:ext cx="56" cy="131"/>
            </a:xfrm>
            <a:custGeom>
              <a:avLst/>
              <a:gdLst>
                <a:gd name="T0" fmla="*/ 6 w 67"/>
                <a:gd name="T1" fmla="*/ 0 h 158"/>
                <a:gd name="T2" fmla="*/ 2 w 67"/>
                <a:gd name="T3" fmla="*/ 1 h 158"/>
                <a:gd name="T4" fmla="*/ 0 w 67"/>
                <a:gd name="T5" fmla="*/ 6 h 158"/>
                <a:gd name="T6" fmla="*/ 0 w 67"/>
                <a:gd name="T7" fmla="*/ 158 h 158"/>
                <a:gd name="T8" fmla="*/ 67 w 67"/>
                <a:gd name="T9" fmla="*/ 158 h 158"/>
                <a:gd name="T10" fmla="*/ 67 w 67"/>
                <a:gd name="T11" fmla="*/ 6 h 158"/>
                <a:gd name="T12" fmla="*/ 65 w 67"/>
                <a:gd name="T13" fmla="*/ 1 h 158"/>
                <a:gd name="T14" fmla="*/ 61 w 67"/>
                <a:gd name="T15" fmla="*/ 0 h 158"/>
                <a:gd name="T16" fmla="*/ 6 w 67"/>
                <a:gd name="T17"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58">
                  <a:moveTo>
                    <a:pt x="6" y="0"/>
                  </a:moveTo>
                  <a:cubicBezTo>
                    <a:pt x="5" y="0"/>
                    <a:pt x="3" y="0"/>
                    <a:pt x="2" y="1"/>
                  </a:cubicBezTo>
                  <a:cubicBezTo>
                    <a:pt x="0" y="3"/>
                    <a:pt x="0" y="4"/>
                    <a:pt x="0" y="6"/>
                  </a:cubicBezTo>
                  <a:cubicBezTo>
                    <a:pt x="0" y="158"/>
                    <a:pt x="0" y="158"/>
                    <a:pt x="0" y="158"/>
                  </a:cubicBezTo>
                  <a:cubicBezTo>
                    <a:pt x="67" y="158"/>
                    <a:pt x="67" y="158"/>
                    <a:pt x="67" y="158"/>
                  </a:cubicBezTo>
                  <a:cubicBezTo>
                    <a:pt x="67" y="6"/>
                    <a:pt x="67" y="6"/>
                    <a:pt x="67" y="6"/>
                  </a:cubicBezTo>
                  <a:cubicBezTo>
                    <a:pt x="67" y="4"/>
                    <a:pt x="66" y="3"/>
                    <a:pt x="65" y="1"/>
                  </a:cubicBezTo>
                  <a:cubicBezTo>
                    <a:pt x="64" y="0"/>
                    <a:pt x="62" y="0"/>
                    <a:pt x="61" y="0"/>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5" name="Freeform 129"/>
            <p:cNvSpPr/>
            <p:nvPr/>
          </p:nvSpPr>
          <p:spPr bwMode="auto">
            <a:xfrm>
              <a:off x="987" y="3284"/>
              <a:ext cx="56" cy="184"/>
            </a:xfrm>
            <a:custGeom>
              <a:avLst/>
              <a:gdLst>
                <a:gd name="T0" fmla="*/ 6 w 67"/>
                <a:gd name="T1" fmla="*/ 0 h 222"/>
                <a:gd name="T2" fmla="*/ 2 w 67"/>
                <a:gd name="T3" fmla="*/ 1 h 222"/>
                <a:gd name="T4" fmla="*/ 0 w 67"/>
                <a:gd name="T5" fmla="*/ 6 h 222"/>
                <a:gd name="T6" fmla="*/ 0 w 67"/>
                <a:gd name="T7" fmla="*/ 222 h 222"/>
                <a:gd name="T8" fmla="*/ 67 w 67"/>
                <a:gd name="T9" fmla="*/ 222 h 222"/>
                <a:gd name="T10" fmla="*/ 67 w 67"/>
                <a:gd name="T11" fmla="*/ 6 h 222"/>
                <a:gd name="T12" fmla="*/ 65 w 67"/>
                <a:gd name="T13" fmla="*/ 1 h 222"/>
                <a:gd name="T14" fmla="*/ 61 w 67"/>
                <a:gd name="T15" fmla="*/ 0 h 222"/>
                <a:gd name="T16" fmla="*/ 6 w 67"/>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22">
                  <a:moveTo>
                    <a:pt x="6" y="0"/>
                  </a:moveTo>
                  <a:cubicBezTo>
                    <a:pt x="5" y="0"/>
                    <a:pt x="3" y="0"/>
                    <a:pt x="2" y="1"/>
                  </a:cubicBezTo>
                  <a:cubicBezTo>
                    <a:pt x="1" y="3"/>
                    <a:pt x="0" y="4"/>
                    <a:pt x="0" y="6"/>
                  </a:cubicBezTo>
                  <a:cubicBezTo>
                    <a:pt x="0" y="222"/>
                    <a:pt x="0" y="222"/>
                    <a:pt x="0" y="222"/>
                  </a:cubicBezTo>
                  <a:cubicBezTo>
                    <a:pt x="67" y="222"/>
                    <a:pt x="67" y="222"/>
                    <a:pt x="67" y="222"/>
                  </a:cubicBezTo>
                  <a:cubicBezTo>
                    <a:pt x="67" y="6"/>
                    <a:pt x="67" y="6"/>
                    <a:pt x="67" y="6"/>
                  </a:cubicBezTo>
                  <a:cubicBezTo>
                    <a:pt x="67" y="4"/>
                    <a:pt x="66" y="3"/>
                    <a:pt x="65" y="1"/>
                  </a:cubicBezTo>
                  <a:cubicBezTo>
                    <a:pt x="64" y="0"/>
                    <a:pt x="62" y="0"/>
                    <a:pt x="61" y="0"/>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sp>
          <p:nvSpPr>
            <p:cNvPr id="46" name="Freeform 130"/>
            <p:cNvSpPr/>
            <p:nvPr/>
          </p:nvSpPr>
          <p:spPr bwMode="auto">
            <a:xfrm>
              <a:off x="610" y="3178"/>
              <a:ext cx="475" cy="289"/>
            </a:xfrm>
            <a:custGeom>
              <a:avLst/>
              <a:gdLst>
                <a:gd name="T0" fmla="*/ 572 w 572"/>
                <a:gd name="T1" fmla="*/ 7 h 347"/>
                <a:gd name="T2" fmla="*/ 571 w 572"/>
                <a:gd name="T3" fmla="*/ 2 h 347"/>
                <a:gd name="T4" fmla="*/ 567 w 572"/>
                <a:gd name="T5" fmla="*/ 1 h 347"/>
                <a:gd name="T6" fmla="*/ 500 w 572"/>
                <a:gd name="T7" fmla="*/ 20 h 347"/>
                <a:gd name="T8" fmla="*/ 497 w 572"/>
                <a:gd name="T9" fmla="*/ 23 h 347"/>
                <a:gd name="T10" fmla="*/ 498 w 572"/>
                <a:gd name="T11" fmla="*/ 27 h 347"/>
                <a:gd name="T12" fmla="*/ 506 w 572"/>
                <a:gd name="T13" fmla="*/ 37 h 347"/>
                <a:gd name="T14" fmla="*/ 302 w 572"/>
                <a:gd name="T15" fmla="*/ 196 h 347"/>
                <a:gd name="T16" fmla="*/ 190 w 572"/>
                <a:gd name="T17" fmla="*/ 148 h 347"/>
                <a:gd name="T18" fmla="*/ 2 w 572"/>
                <a:gd name="T19" fmla="*/ 327 h 347"/>
                <a:gd name="T20" fmla="*/ 0 w 572"/>
                <a:gd name="T21" fmla="*/ 331 h 347"/>
                <a:gd name="T22" fmla="*/ 2 w 572"/>
                <a:gd name="T23" fmla="*/ 336 h 347"/>
                <a:gd name="T24" fmla="*/ 10 w 572"/>
                <a:gd name="T25" fmla="*/ 345 h 347"/>
                <a:gd name="T26" fmla="*/ 15 w 572"/>
                <a:gd name="T27" fmla="*/ 347 h 347"/>
                <a:gd name="T28" fmla="*/ 19 w 572"/>
                <a:gd name="T29" fmla="*/ 345 h 347"/>
                <a:gd name="T30" fmla="*/ 195 w 572"/>
                <a:gd name="T31" fmla="*/ 178 h 347"/>
                <a:gd name="T32" fmla="*/ 306 w 572"/>
                <a:gd name="T33" fmla="*/ 225 h 347"/>
                <a:gd name="T34" fmla="*/ 521 w 572"/>
                <a:gd name="T35" fmla="*/ 57 h 347"/>
                <a:gd name="T36" fmla="*/ 529 w 572"/>
                <a:gd name="T37" fmla="*/ 68 h 347"/>
                <a:gd name="T38" fmla="*/ 533 w 572"/>
                <a:gd name="T39" fmla="*/ 69 h 347"/>
                <a:gd name="T40" fmla="*/ 536 w 572"/>
                <a:gd name="T41" fmla="*/ 67 h 347"/>
                <a:gd name="T42" fmla="*/ 572 w 572"/>
                <a:gd name="T43" fmla="*/ 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72" h="347">
                  <a:moveTo>
                    <a:pt x="572" y="7"/>
                  </a:moveTo>
                  <a:cubicBezTo>
                    <a:pt x="572" y="5"/>
                    <a:pt x="572" y="4"/>
                    <a:pt x="571" y="2"/>
                  </a:cubicBezTo>
                  <a:cubicBezTo>
                    <a:pt x="570" y="1"/>
                    <a:pt x="568" y="0"/>
                    <a:pt x="567" y="1"/>
                  </a:cubicBezTo>
                  <a:cubicBezTo>
                    <a:pt x="500" y="20"/>
                    <a:pt x="500" y="20"/>
                    <a:pt x="500" y="20"/>
                  </a:cubicBezTo>
                  <a:cubicBezTo>
                    <a:pt x="498" y="21"/>
                    <a:pt x="497" y="22"/>
                    <a:pt x="497" y="23"/>
                  </a:cubicBezTo>
                  <a:cubicBezTo>
                    <a:pt x="496" y="25"/>
                    <a:pt x="497" y="26"/>
                    <a:pt x="498" y="27"/>
                  </a:cubicBezTo>
                  <a:cubicBezTo>
                    <a:pt x="506" y="37"/>
                    <a:pt x="506" y="37"/>
                    <a:pt x="506" y="37"/>
                  </a:cubicBezTo>
                  <a:cubicBezTo>
                    <a:pt x="302" y="196"/>
                    <a:pt x="302" y="196"/>
                    <a:pt x="302" y="196"/>
                  </a:cubicBezTo>
                  <a:cubicBezTo>
                    <a:pt x="190" y="148"/>
                    <a:pt x="190" y="148"/>
                    <a:pt x="190" y="148"/>
                  </a:cubicBezTo>
                  <a:cubicBezTo>
                    <a:pt x="2" y="327"/>
                    <a:pt x="2" y="327"/>
                    <a:pt x="2" y="327"/>
                  </a:cubicBezTo>
                  <a:cubicBezTo>
                    <a:pt x="1" y="328"/>
                    <a:pt x="0" y="329"/>
                    <a:pt x="0" y="331"/>
                  </a:cubicBezTo>
                  <a:cubicBezTo>
                    <a:pt x="0" y="333"/>
                    <a:pt x="0" y="334"/>
                    <a:pt x="2" y="336"/>
                  </a:cubicBezTo>
                  <a:cubicBezTo>
                    <a:pt x="10" y="345"/>
                    <a:pt x="10" y="345"/>
                    <a:pt x="10" y="345"/>
                  </a:cubicBezTo>
                  <a:cubicBezTo>
                    <a:pt x="11" y="346"/>
                    <a:pt x="13" y="347"/>
                    <a:pt x="15" y="347"/>
                  </a:cubicBezTo>
                  <a:cubicBezTo>
                    <a:pt x="16" y="347"/>
                    <a:pt x="18" y="346"/>
                    <a:pt x="19" y="345"/>
                  </a:cubicBezTo>
                  <a:cubicBezTo>
                    <a:pt x="195" y="178"/>
                    <a:pt x="195" y="178"/>
                    <a:pt x="195" y="178"/>
                  </a:cubicBezTo>
                  <a:cubicBezTo>
                    <a:pt x="306" y="225"/>
                    <a:pt x="306" y="225"/>
                    <a:pt x="306" y="225"/>
                  </a:cubicBezTo>
                  <a:cubicBezTo>
                    <a:pt x="521" y="57"/>
                    <a:pt x="521" y="57"/>
                    <a:pt x="521" y="57"/>
                  </a:cubicBezTo>
                  <a:cubicBezTo>
                    <a:pt x="529" y="68"/>
                    <a:pt x="529" y="68"/>
                    <a:pt x="529" y="68"/>
                  </a:cubicBezTo>
                  <a:cubicBezTo>
                    <a:pt x="530" y="69"/>
                    <a:pt x="531" y="69"/>
                    <a:pt x="533" y="69"/>
                  </a:cubicBezTo>
                  <a:cubicBezTo>
                    <a:pt x="534" y="69"/>
                    <a:pt x="535" y="68"/>
                    <a:pt x="536" y="67"/>
                  </a:cubicBezTo>
                  <a:lnTo>
                    <a:pt x="57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cs typeface="Amiri" panose="00000500000000000000" charset="0"/>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947031"/>
            <a:ext cx="12192000" cy="3996267"/>
          </a:xfrm>
          <a:prstGeom prst="rect">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2</a:t>
            </a:r>
            <a:endParaRPr lang="zh-CN" altLang="en-US" sz="4000" u="sng" dirty="0">
              <a:solidFill>
                <a:srgbClr val="1A9895"/>
              </a:solidFill>
              <a:cs typeface="Amiri" panose="00000500000000000000" charset="0"/>
            </a:endParaRPr>
          </a:p>
        </p:txBody>
      </p:sp>
      <p:sp>
        <p:nvSpPr>
          <p:cNvPr id="7" name="等腰三角形 6"/>
          <p:cNvSpPr/>
          <p:nvPr/>
        </p:nvSpPr>
        <p:spPr>
          <a:xfrm rot="10800000">
            <a:off x="4622801" y="2287752"/>
            <a:ext cx="1744132" cy="1503562"/>
          </a:xfrm>
          <a:prstGeom prst="triangle">
            <a:avLst/>
          </a:prstGeom>
          <a:solidFill>
            <a:srgbClr val="E4E4E4"/>
          </a:solidFill>
          <a:ln w="7620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9" name="等腰三角形 8"/>
          <p:cNvSpPr/>
          <p:nvPr/>
        </p:nvSpPr>
        <p:spPr>
          <a:xfrm rot="10800000">
            <a:off x="7120467" y="2287752"/>
            <a:ext cx="1744132" cy="1503562"/>
          </a:xfrm>
          <a:prstGeom prst="triangle">
            <a:avLst/>
          </a:prstGeom>
          <a:solidFill>
            <a:srgbClr val="E4E4E4"/>
          </a:solidFill>
          <a:ln w="7620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 name="等腰三角形 9"/>
          <p:cNvSpPr/>
          <p:nvPr/>
        </p:nvSpPr>
        <p:spPr>
          <a:xfrm rot="10800000">
            <a:off x="9652001" y="2287752"/>
            <a:ext cx="1744132" cy="1503562"/>
          </a:xfrm>
          <a:prstGeom prst="triangle">
            <a:avLst/>
          </a:prstGeom>
          <a:solidFill>
            <a:srgbClr val="E4E4E4"/>
          </a:solidFill>
          <a:ln w="7620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37" name="文本框 36"/>
          <p:cNvSpPr txBox="1"/>
          <p:nvPr/>
        </p:nvSpPr>
        <p:spPr>
          <a:xfrm>
            <a:off x="5240866" y="2531533"/>
            <a:ext cx="564578" cy="830997"/>
          </a:xfrm>
          <a:prstGeom prst="rect">
            <a:avLst/>
          </a:prstGeom>
          <a:noFill/>
        </p:spPr>
        <p:txBody>
          <a:bodyPr wrap="none" rtlCol="0">
            <a:spAutoFit/>
          </a:bodyPr>
          <a:lstStyle/>
          <a:p>
            <a:r>
              <a:rPr lang="en-US" altLang="zh-CN" sz="4800" b="1" dirty="0">
                <a:solidFill>
                  <a:schemeClr val="tx1">
                    <a:lumMod val="85000"/>
                    <a:lumOff val="15000"/>
                  </a:schemeClr>
                </a:solidFill>
                <a:cs typeface="Amiri" panose="00000500000000000000" charset="0"/>
              </a:rPr>
              <a:t>1</a:t>
            </a:r>
            <a:endParaRPr lang="zh-CN" altLang="en-US" sz="4800" b="1" dirty="0">
              <a:solidFill>
                <a:schemeClr val="tx1">
                  <a:lumMod val="85000"/>
                  <a:lumOff val="15000"/>
                </a:schemeClr>
              </a:solidFill>
              <a:cs typeface="Amiri" panose="00000500000000000000" charset="0"/>
            </a:endParaRPr>
          </a:p>
        </p:txBody>
      </p:sp>
      <p:sp>
        <p:nvSpPr>
          <p:cNvPr id="38" name="文本框 37"/>
          <p:cNvSpPr txBox="1"/>
          <p:nvPr/>
        </p:nvSpPr>
        <p:spPr>
          <a:xfrm>
            <a:off x="7755466" y="2531533"/>
            <a:ext cx="564578" cy="830997"/>
          </a:xfrm>
          <a:prstGeom prst="rect">
            <a:avLst/>
          </a:prstGeom>
          <a:noFill/>
        </p:spPr>
        <p:txBody>
          <a:bodyPr wrap="none" rtlCol="0">
            <a:spAutoFit/>
          </a:bodyPr>
          <a:lstStyle/>
          <a:p>
            <a:r>
              <a:rPr lang="en-US" altLang="zh-CN" sz="4800" b="1" dirty="0">
                <a:solidFill>
                  <a:schemeClr val="tx1">
                    <a:lumMod val="85000"/>
                    <a:lumOff val="15000"/>
                  </a:schemeClr>
                </a:solidFill>
                <a:cs typeface="Amiri" panose="00000500000000000000" charset="0"/>
              </a:rPr>
              <a:t>2</a:t>
            </a:r>
            <a:endParaRPr lang="zh-CN" altLang="en-US" sz="4800" b="1" dirty="0">
              <a:solidFill>
                <a:schemeClr val="tx1">
                  <a:lumMod val="85000"/>
                  <a:lumOff val="15000"/>
                </a:schemeClr>
              </a:solidFill>
              <a:cs typeface="Amiri" panose="00000500000000000000" charset="0"/>
            </a:endParaRPr>
          </a:p>
        </p:txBody>
      </p:sp>
      <p:sp>
        <p:nvSpPr>
          <p:cNvPr id="39" name="文本框 38"/>
          <p:cNvSpPr txBox="1"/>
          <p:nvPr/>
        </p:nvSpPr>
        <p:spPr>
          <a:xfrm>
            <a:off x="10267945" y="2531533"/>
            <a:ext cx="564578" cy="830997"/>
          </a:xfrm>
          <a:prstGeom prst="rect">
            <a:avLst/>
          </a:prstGeom>
          <a:noFill/>
        </p:spPr>
        <p:txBody>
          <a:bodyPr wrap="none" rtlCol="0">
            <a:spAutoFit/>
          </a:bodyPr>
          <a:lstStyle/>
          <a:p>
            <a:r>
              <a:rPr lang="en-US" altLang="zh-CN" sz="4800" b="1" dirty="0">
                <a:solidFill>
                  <a:schemeClr val="tx1">
                    <a:lumMod val="85000"/>
                    <a:lumOff val="15000"/>
                  </a:schemeClr>
                </a:solidFill>
                <a:cs typeface="Amiri" panose="00000500000000000000" charset="0"/>
              </a:rPr>
              <a:t>3</a:t>
            </a:r>
            <a:endParaRPr lang="zh-CN" altLang="en-US" sz="4800" b="1" dirty="0">
              <a:solidFill>
                <a:schemeClr val="tx1">
                  <a:lumMod val="85000"/>
                  <a:lumOff val="15000"/>
                </a:schemeClr>
              </a:solidFill>
              <a:cs typeface="Amiri" panose="00000500000000000000" charset="0"/>
            </a:endParaRPr>
          </a:p>
        </p:txBody>
      </p:sp>
      <p:sp>
        <p:nvSpPr>
          <p:cNvPr id="41" name="矩形 40"/>
          <p:cNvSpPr/>
          <p:nvPr/>
        </p:nvSpPr>
        <p:spPr>
          <a:xfrm>
            <a:off x="4622801" y="3830175"/>
            <a:ext cx="2042441" cy="1141787"/>
          </a:xfrm>
          <a:prstGeom prst="rect">
            <a:avLst/>
          </a:prstGeom>
        </p:spPr>
        <p:txBody>
          <a:bodyPr wrap="square">
            <a:spAutoFit/>
          </a:bodyPr>
          <a:lstStyle/>
          <a:p>
            <a:pPr algn="ctr">
              <a:lnSpc>
                <a:spcPct val="130000"/>
              </a:lnSpc>
            </a:pPr>
            <a:r>
              <a:rPr lang="zh-TW" altLang="en-US" b="1" i="0" dirty="0">
                <a:solidFill>
                  <a:srgbClr val="E7E7E7"/>
                </a:solidFill>
                <a:effectLst/>
                <a:latin typeface="+mn-ea"/>
              </a:rPr>
              <a:t>開發以</a:t>
            </a:r>
            <a:r>
              <a:rPr lang="en-US" altLang="zh-TW" b="1" i="0" dirty="0">
                <a:solidFill>
                  <a:srgbClr val="E7E7E7"/>
                </a:solidFill>
                <a:effectLst/>
                <a:latin typeface="+mn-ea"/>
              </a:rPr>
              <a:t>ai</a:t>
            </a:r>
            <a:r>
              <a:rPr lang="zh-TW" altLang="en-US" b="1" i="0" dirty="0">
                <a:solidFill>
                  <a:srgbClr val="E7E7E7"/>
                </a:solidFill>
                <a:effectLst/>
                <a:latin typeface="+mn-ea"/>
              </a:rPr>
              <a:t>姿態估計、行為分析來預防和矯正斜視斜頸問題</a:t>
            </a:r>
            <a:endParaRPr dirty="0">
              <a:solidFill>
                <a:srgbClr val="E7E7E7"/>
              </a:solidFill>
              <a:latin typeface="Amiri" panose="00000500000000000000" charset="0"/>
              <a:ea typeface="Amiri" panose="00000500000000000000" charset="0"/>
              <a:cs typeface="Amiri" panose="00000500000000000000" charset="0"/>
            </a:endParaRPr>
          </a:p>
        </p:txBody>
      </p:sp>
      <p:sp>
        <p:nvSpPr>
          <p:cNvPr id="43" name="矩形 42"/>
          <p:cNvSpPr/>
          <p:nvPr/>
        </p:nvSpPr>
        <p:spPr>
          <a:xfrm>
            <a:off x="6804837" y="3751996"/>
            <a:ext cx="2456121" cy="1665328"/>
          </a:xfrm>
          <a:prstGeom prst="rect">
            <a:avLst/>
          </a:prstGeom>
        </p:spPr>
        <p:txBody>
          <a:bodyPr wrap="square">
            <a:spAutoFit/>
          </a:bodyPr>
          <a:lstStyle/>
          <a:p>
            <a:pPr algn="ctr">
              <a:lnSpc>
                <a:spcPct val="130000"/>
              </a:lnSpc>
            </a:pPr>
            <a:r>
              <a:rPr lang="en-US" altLang="zh-TW" sz="1600" b="1" dirty="0" err="1">
                <a:solidFill>
                  <a:srgbClr val="E7E7E7"/>
                </a:solidFill>
                <a:latin typeface="+mn-ea"/>
              </a:rPr>
              <a:t>OpenPose</a:t>
            </a:r>
            <a:r>
              <a:rPr lang="en-US" altLang="zh-TW" sz="1600" b="1" dirty="0">
                <a:solidFill>
                  <a:srgbClr val="E7E7E7"/>
                </a:solidFill>
                <a:latin typeface="+mn-ea"/>
              </a:rPr>
              <a:t> </a:t>
            </a:r>
            <a:r>
              <a:rPr lang="zh-TW" altLang="en-US" sz="1600" b="1" dirty="0">
                <a:solidFill>
                  <a:srgbClr val="E7E7E7"/>
                </a:solidFill>
                <a:latin typeface="+mn-ea"/>
              </a:rPr>
              <a:t>與</a:t>
            </a:r>
            <a:r>
              <a:rPr lang="en-US" altLang="zh-TW" sz="1600" b="1" dirty="0">
                <a:solidFill>
                  <a:srgbClr val="E7E7E7"/>
                </a:solidFill>
                <a:latin typeface="+mn-ea"/>
              </a:rPr>
              <a:t>face detection</a:t>
            </a:r>
            <a:r>
              <a:rPr lang="zh-TW" altLang="en-US" sz="1600" b="1" dirty="0">
                <a:solidFill>
                  <a:srgbClr val="E7E7E7"/>
                </a:solidFill>
                <a:latin typeface="+mn-ea"/>
              </a:rPr>
              <a:t>關鍵點位置記錄分析</a:t>
            </a:r>
            <a:r>
              <a:rPr lang="zh-TW" altLang="en-US" sz="1600" b="1" i="0" dirty="0">
                <a:solidFill>
                  <a:srgbClr val="E7E7E7"/>
                </a:solidFill>
                <a:effectLst/>
                <a:latin typeface="+mn-ea"/>
              </a:rPr>
              <a:t>，</a:t>
            </a:r>
            <a:r>
              <a:rPr lang="zh-TW" altLang="en-US" sz="1600" b="1" dirty="0">
                <a:solidFill>
                  <a:srgbClr val="E7E7E7"/>
                </a:solidFill>
                <a:latin typeface="+mn-ea"/>
              </a:rPr>
              <a:t>在使用者出現姿態異常時及時提醒及</a:t>
            </a:r>
            <a:r>
              <a:rPr lang="zh-TW" altLang="en-US" sz="1600" b="1" i="0" dirty="0">
                <a:solidFill>
                  <a:srgbClr val="E7E7E7"/>
                </a:solidFill>
                <a:effectLst/>
                <a:latin typeface="+mn-ea"/>
              </a:rPr>
              <a:t>幫助使用者矯正不良姿勢</a:t>
            </a:r>
            <a:endParaRPr sz="1600" dirty="0">
              <a:solidFill>
                <a:srgbClr val="E7E7E7"/>
              </a:solidFill>
              <a:latin typeface="Amiri" panose="00000500000000000000" charset="0"/>
              <a:ea typeface="Amiri" panose="00000500000000000000" charset="0"/>
              <a:cs typeface="Amiri" panose="00000500000000000000" charset="0"/>
            </a:endParaRPr>
          </a:p>
        </p:txBody>
      </p:sp>
      <p:sp>
        <p:nvSpPr>
          <p:cNvPr id="45" name="矩形 44"/>
          <p:cNvSpPr/>
          <p:nvPr/>
        </p:nvSpPr>
        <p:spPr>
          <a:xfrm>
            <a:off x="9502846" y="3852767"/>
            <a:ext cx="2042441" cy="1501886"/>
          </a:xfrm>
          <a:prstGeom prst="rect">
            <a:avLst/>
          </a:prstGeom>
        </p:spPr>
        <p:txBody>
          <a:bodyPr wrap="square">
            <a:spAutoFit/>
          </a:bodyPr>
          <a:lstStyle/>
          <a:p>
            <a:pPr algn="ctr">
              <a:lnSpc>
                <a:spcPct val="130000"/>
              </a:lnSpc>
            </a:pPr>
            <a:r>
              <a:rPr lang="zh-TW" altLang="en-US" b="1" dirty="0">
                <a:solidFill>
                  <a:srgbClr val="E7E7E7"/>
                </a:solidFill>
                <a:latin typeface="+mn-ea"/>
              </a:rPr>
              <a:t>偵測斜視角度及眨眼判別，幫助系統紀錄患者在使用</a:t>
            </a:r>
            <a:r>
              <a:rPr lang="en-US" altLang="zh-TW" b="1" dirty="0">
                <a:solidFill>
                  <a:srgbClr val="E7E7E7"/>
                </a:solidFill>
                <a:latin typeface="+mn-ea"/>
              </a:rPr>
              <a:t>3C</a:t>
            </a:r>
            <a:r>
              <a:rPr lang="zh-TW" altLang="en-US" b="1" dirty="0">
                <a:solidFill>
                  <a:srgbClr val="E7E7E7"/>
                </a:solidFill>
                <a:latin typeface="+mn-ea"/>
              </a:rPr>
              <a:t>中的眼睛情況</a:t>
            </a:r>
            <a:endParaRPr dirty="0">
              <a:solidFill>
                <a:srgbClr val="E7E7E7"/>
              </a:solidFill>
              <a:latin typeface="Amiri" panose="00000500000000000000" charset="0"/>
              <a:ea typeface="Amiri" panose="00000500000000000000" charset="0"/>
              <a:cs typeface="Amiri" panose="00000500000000000000" charset="0"/>
            </a:endParaRPr>
          </a:p>
        </p:txBody>
      </p:sp>
      <p:sp>
        <p:nvSpPr>
          <p:cNvPr id="46" name="矩形 45"/>
          <p:cNvSpPr/>
          <p:nvPr/>
        </p:nvSpPr>
        <p:spPr>
          <a:xfrm>
            <a:off x="667658" y="5292265"/>
            <a:ext cx="1415772" cy="461665"/>
          </a:xfrm>
          <a:prstGeom prst="rect">
            <a:avLst/>
          </a:prstGeom>
        </p:spPr>
        <p:txBody>
          <a:bodyPr wrap="none">
            <a:spAutoFit/>
          </a:bodyPr>
          <a:lstStyle/>
          <a:p>
            <a:r>
              <a:rPr lang="zh-TW" altLang="en-US" sz="2400" b="1" dirty="0">
                <a:solidFill>
                  <a:schemeClr val="bg1"/>
                </a:solidFill>
                <a:cs typeface="Amiri" panose="00000500000000000000" charset="0"/>
              </a:rPr>
              <a:t>預期用途</a:t>
            </a:r>
            <a:endParaRPr lang="zh-CN" altLang="en-US" sz="2400" b="1" dirty="0">
              <a:solidFill>
                <a:schemeClr val="bg1"/>
              </a:solidFill>
              <a:cs typeface="Amiri" panose="00000500000000000000" charset="0"/>
            </a:endParaRPr>
          </a:p>
        </p:txBody>
      </p:sp>
      <p:sp>
        <p:nvSpPr>
          <p:cNvPr id="47" name="矩形 46"/>
          <p:cNvSpPr/>
          <p:nvPr/>
        </p:nvSpPr>
        <p:spPr>
          <a:xfrm>
            <a:off x="667658" y="5685502"/>
            <a:ext cx="11109855" cy="782202"/>
          </a:xfrm>
          <a:prstGeom prst="rect">
            <a:avLst/>
          </a:prstGeom>
        </p:spPr>
        <p:txBody>
          <a:bodyPr wrap="square">
            <a:spAutoFit/>
          </a:bodyPr>
          <a:lstStyle/>
          <a:p>
            <a:pPr>
              <a:lnSpc>
                <a:spcPct val="130000"/>
              </a:lnSpc>
            </a:pPr>
            <a:r>
              <a:rPr lang="zh-TW" altLang="zh-TW" sz="1800" dirty="0">
                <a:solidFill>
                  <a:srgbClr val="E7E7E7"/>
                </a:solidFill>
                <a:effectLst/>
                <a:ea typeface="標楷體" panose="03000509000000000000" pitchFamily="65" charset="-120"/>
                <a:cs typeface="Gungsuh" panose="02030600000101010101" pitchFamily="18" charset="-127"/>
              </a:rPr>
              <a:t>設計了一個斜頸提醒、螢幕距離太近提醒、用眼時間提醒、眨眼頻率記錄與提醒的螢幕系統。</a:t>
            </a:r>
            <a:endParaRPr lang="en-US" altLang="zh-TW" sz="1800" dirty="0">
              <a:solidFill>
                <a:srgbClr val="E7E7E7"/>
              </a:solidFill>
              <a:effectLst/>
              <a:ea typeface="標楷體" panose="03000509000000000000" pitchFamily="65" charset="-120"/>
              <a:cs typeface="Gungsuh" panose="02030600000101010101" pitchFamily="18" charset="-127"/>
            </a:endParaRPr>
          </a:p>
          <a:p>
            <a:pPr>
              <a:lnSpc>
                <a:spcPct val="130000"/>
              </a:lnSpc>
            </a:pPr>
            <a:r>
              <a:rPr lang="zh-TW" altLang="zh-TW" sz="1800" dirty="0">
                <a:solidFill>
                  <a:srgbClr val="E7E7E7"/>
                </a:solidFill>
                <a:effectLst/>
                <a:ea typeface="標楷體" panose="03000509000000000000" pitchFamily="65" charset="-120"/>
                <a:cs typeface="Gungsuh" panose="02030600000101010101" pitchFamily="18" charset="-127"/>
              </a:rPr>
              <a:t>過度依賴視力較好的眼而側頭看螢幕或是內斜與外斜等，這類會導致關鍵點移動的情況發生，便會發出提醒。</a:t>
            </a:r>
            <a:endParaRPr sz="800" dirty="0">
              <a:solidFill>
                <a:srgbClr val="E7E7E7"/>
              </a:solidFill>
              <a:latin typeface="Amiri" panose="00000500000000000000" charset="0"/>
              <a:ea typeface="Amiri" panose="00000500000000000000" charset="0"/>
              <a:cs typeface="Amiri" panose="00000500000000000000" charset="0"/>
            </a:endParaRPr>
          </a:p>
        </p:txBody>
      </p:sp>
      <p:sp>
        <p:nvSpPr>
          <p:cNvPr id="4" name="矩形 3">
            <a:extLst>
              <a:ext uri="{FF2B5EF4-FFF2-40B4-BE49-F238E27FC236}">
                <a16:creationId xmlns:a16="http://schemas.microsoft.com/office/drawing/2014/main" id="{0CA6580E-0142-46D5-A0AD-9D50C8BB749B}"/>
              </a:ext>
            </a:extLst>
          </p:cNvPr>
          <p:cNvSpPr/>
          <p:nvPr/>
        </p:nvSpPr>
        <p:spPr>
          <a:xfrm>
            <a:off x="1651000" y="433705"/>
            <a:ext cx="6544945" cy="646331"/>
          </a:xfrm>
          <a:prstGeom prst="rect">
            <a:avLst/>
          </a:prstGeom>
        </p:spPr>
        <p:txBody>
          <a:bodyPr wrap="square">
            <a:spAutoFit/>
          </a:bodyPr>
          <a:lstStyle/>
          <a:p>
            <a:r>
              <a:rPr lang="zh-TW" altLang="en-US" sz="3600" dirty="0">
                <a:cs typeface="Amiri" panose="00000500000000000000" charset="0"/>
              </a:rPr>
              <a:t>研究動機及解決方法</a:t>
            </a:r>
            <a:endParaRPr lang="zh-CN" altLang="en-US" sz="3600" dirty="0">
              <a:cs typeface="Amiri" panose="00000500000000000000" charset="0"/>
            </a:endParaRPr>
          </a:p>
        </p:txBody>
      </p:sp>
      <p:pic>
        <p:nvPicPr>
          <p:cNvPr id="11" name="圖片 10">
            <a:extLst>
              <a:ext uri="{FF2B5EF4-FFF2-40B4-BE49-F238E27FC236}">
                <a16:creationId xmlns:a16="http://schemas.microsoft.com/office/drawing/2014/main" id="{0228992A-B76A-A88D-34ED-9719DD30F4C3}"/>
              </a:ext>
            </a:extLst>
          </p:cNvPr>
          <p:cNvPicPr>
            <a:picLocks noChangeAspect="1"/>
          </p:cNvPicPr>
          <p:nvPr/>
        </p:nvPicPr>
        <p:blipFill>
          <a:blip r:embed="rId2"/>
          <a:stretch>
            <a:fillRect/>
          </a:stretch>
        </p:blipFill>
        <p:spPr>
          <a:xfrm>
            <a:off x="355912" y="1858238"/>
            <a:ext cx="4032354" cy="24993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127" y="2557690"/>
            <a:ext cx="5826291" cy="1753235"/>
          </a:xfrm>
          <a:prstGeom prst="rect">
            <a:avLst/>
          </a:prstGeom>
          <a:noFill/>
        </p:spPr>
        <p:txBody>
          <a:bodyPr wrap="square" rtlCol="0">
            <a:spAutoFit/>
          </a:bodyPr>
          <a:lstStyle/>
          <a:p>
            <a:r>
              <a:rPr lang="en-US" altLang="zh-TW" sz="5400" b="1" dirty="0">
                <a:solidFill>
                  <a:schemeClr val="bg1"/>
                </a:solidFill>
                <a:cs typeface="Amiri" panose="00000500000000000000" charset="0"/>
              </a:rPr>
              <a:t>03</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市場分析說明</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3</a:t>
            </a:r>
            <a:endParaRPr lang="zh-CN" altLang="en-US" sz="4000" u="sng" dirty="0">
              <a:solidFill>
                <a:srgbClr val="1A9895"/>
              </a:solidFill>
              <a:cs typeface="Amiri" panose="00000500000000000000" charset="0"/>
            </a:endParaRPr>
          </a:p>
        </p:txBody>
      </p:sp>
      <p:sp>
        <p:nvSpPr>
          <p:cNvPr id="3" name="矩形 2"/>
          <p:cNvSpPr/>
          <p:nvPr/>
        </p:nvSpPr>
        <p:spPr>
          <a:xfrm>
            <a:off x="1651000" y="433700"/>
            <a:ext cx="3675912" cy="646331"/>
          </a:xfrm>
          <a:prstGeom prst="rect">
            <a:avLst/>
          </a:prstGeom>
        </p:spPr>
        <p:txBody>
          <a:bodyPr wrap="square">
            <a:spAutoFit/>
          </a:bodyPr>
          <a:lstStyle/>
          <a:p>
            <a:r>
              <a:rPr lang="zh-TW" altLang="en-US" sz="3600" dirty="0">
                <a:cs typeface="Amiri" panose="00000500000000000000" charset="0"/>
              </a:rPr>
              <a:t>市場分析說明</a:t>
            </a:r>
            <a:endParaRPr lang="en-US" altLang="zh-CN" sz="3600" dirty="0">
              <a:cs typeface="Amiri" panose="00000500000000000000" charset="0"/>
            </a:endParaRPr>
          </a:p>
        </p:txBody>
      </p:sp>
      <p:sp>
        <p:nvSpPr>
          <p:cNvPr id="6" name="矩形 5"/>
          <p:cNvSpPr/>
          <p:nvPr/>
        </p:nvSpPr>
        <p:spPr>
          <a:xfrm>
            <a:off x="656542" y="1661573"/>
            <a:ext cx="4897591" cy="4756160"/>
          </a:xfrm>
          <a:prstGeom prst="rect">
            <a:avLst/>
          </a:prstGeom>
          <a:solidFill>
            <a:srgbClr val="E4E4E4"/>
          </a:solidFill>
          <a:ln w="190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7" name="矩形 6"/>
          <p:cNvSpPr/>
          <p:nvPr/>
        </p:nvSpPr>
        <p:spPr>
          <a:xfrm>
            <a:off x="5660342" y="1661573"/>
            <a:ext cx="6106055" cy="1521894"/>
          </a:xfrm>
          <a:prstGeom prst="rect">
            <a:avLst/>
          </a:prstGeom>
          <a:solidFill>
            <a:srgbClr val="E4E4E4"/>
          </a:solidFill>
          <a:ln w="190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8" name="矩形 7"/>
          <p:cNvSpPr/>
          <p:nvPr/>
        </p:nvSpPr>
        <p:spPr>
          <a:xfrm>
            <a:off x="5660342" y="3278706"/>
            <a:ext cx="6106055" cy="1521894"/>
          </a:xfrm>
          <a:prstGeom prst="rect">
            <a:avLst/>
          </a:prstGeom>
          <a:solidFill>
            <a:srgbClr val="E4E4E4"/>
          </a:solidFill>
          <a:ln w="190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0" name="矩形 9"/>
          <p:cNvSpPr/>
          <p:nvPr/>
        </p:nvSpPr>
        <p:spPr>
          <a:xfrm>
            <a:off x="5660342" y="4895839"/>
            <a:ext cx="6106055" cy="1521894"/>
          </a:xfrm>
          <a:prstGeom prst="rect">
            <a:avLst/>
          </a:prstGeom>
          <a:solidFill>
            <a:srgbClr val="E4E4E4"/>
          </a:solidFill>
          <a:ln w="190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sp>
        <p:nvSpPr>
          <p:cNvPr id="11" name="矩形 10"/>
          <p:cNvSpPr/>
          <p:nvPr/>
        </p:nvSpPr>
        <p:spPr>
          <a:xfrm>
            <a:off x="5977976" y="1704465"/>
            <a:ext cx="1415772" cy="461665"/>
          </a:xfrm>
          <a:prstGeom prst="rect">
            <a:avLst/>
          </a:prstGeom>
        </p:spPr>
        <p:txBody>
          <a:bodyPr wrap="none">
            <a:spAutoFit/>
          </a:bodyPr>
          <a:lstStyle/>
          <a:p>
            <a:r>
              <a:rPr lang="zh-TW" altLang="en-US" sz="2400" b="1" dirty="0">
                <a:solidFill>
                  <a:schemeClr val="tx1">
                    <a:lumMod val="85000"/>
                    <a:lumOff val="15000"/>
                  </a:schemeClr>
                </a:solidFill>
                <a:cs typeface="Amiri" panose="00000500000000000000" charset="0"/>
              </a:rPr>
              <a:t>市場現況</a:t>
            </a:r>
            <a:endParaRPr lang="zh-CN" altLang="en-US" sz="2400" b="1" dirty="0">
              <a:solidFill>
                <a:schemeClr val="tx1">
                  <a:lumMod val="85000"/>
                  <a:lumOff val="15000"/>
                </a:schemeClr>
              </a:solidFill>
              <a:cs typeface="Amiri" panose="00000500000000000000" charset="0"/>
            </a:endParaRPr>
          </a:p>
        </p:txBody>
      </p:sp>
      <p:sp>
        <p:nvSpPr>
          <p:cNvPr id="12" name="矩形 11"/>
          <p:cNvSpPr/>
          <p:nvPr/>
        </p:nvSpPr>
        <p:spPr>
          <a:xfrm>
            <a:off x="5977976" y="2055106"/>
            <a:ext cx="5331708" cy="1142300"/>
          </a:xfrm>
          <a:prstGeom prst="rect">
            <a:avLst/>
          </a:prstGeom>
        </p:spPr>
        <p:txBody>
          <a:bodyPr wrap="square">
            <a:spAutoFit/>
          </a:bodyPr>
          <a:lstStyle/>
          <a:p>
            <a:pPr>
              <a:lnSpc>
                <a:spcPct val="130000"/>
              </a:lnSpc>
            </a:pPr>
            <a:r>
              <a:rPr lang="zh-TW" altLang="zh-TW" sz="1800" dirty="0">
                <a:solidFill>
                  <a:srgbClr val="0D0D0D"/>
                </a:solidFill>
                <a:effectLst/>
                <a:ea typeface="標楷體" panose="03000509000000000000" pitchFamily="65" charset="-120"/>
                <a:cs typeface="Gungsuh" panose="02030600000101010101" pitchFamily="18" charset="-127"/>
              </a:rPr>
              <a:t>目前市場上能夠提供即時監測及輔助醫師進行眼睛照護紀錄的產品相對稀少</a:t>
            </a:r>
            <a:r>
              <a:rPr lang="zh-TW" altLang="en-US" sz="1800" dirty="0">
                <a:solidFill>
                  <a:srgbClr val="0D0D0D"/>
                </a:solidFill>
                <a:effectLst/>
                <a:ea typeface="標楷體" panose="03000509000000000000" pitchFamily="65" charset="-120"/>
                <a:cs typeface="Gungsuh" panose="02030600000101010101" pitchFamily="18" charset="-127"/>
              </a:rPr>
              <a:t>，</a:t>
            </a:r>
            <a:r>
              <a:rPr lang="zh-TW" altLang="zh-TW" sz="1800" dirty="0">
                <a:solidFill>
                  <a:srgbClr val="0D0D0D"/>
                </a:solidFill>
                <a:effectLst/>
                <a:ea typeface="標楷體" panose="03000509000000000000" pitchFamily="65" charset="-120"/>
                <a:cs typeface="Gungsuh" panose="02030600000101010101" pitchFamily="18" charset="-127"/>
              </a:rPr>
              <a:t>針對斜視患者的專門監測及照護產品尚未普及</a:t>
            </a:r>
            <a:r>
              <a:rPr lang="zh-TW" altLang="en-US" sz="1800" dirty="0">
                <a:solidFill>
                  <a:srgbClr val="0D0D0D"/>
                </a:solidFill>
                <a:effectLst/>
                <a:ea typeface="標楷體" panose="03000509000000000000" pitchFamily="65" charset="-120"/>
                <a:cs typeface="Gungsuh" panose="02030600000101010101" pitchFamily="18" charset="-127"/>
              </a:rPr>
              <a:t>。</a:t>
            </a:r>
            <a:endParaRPr lang="zh-CN" altLang="en-US" sz="1200" dirty="0">
              <a:solidFill>
                <a:schemeClr val="tx1">
                  <a:lumMod val="85000"/>
                  <a:lumOff val="15000"/>
                </a:schemeClr>
              </a:solidFill>
              <a:cs typeface="Amiri" panose="00000500000000000000" charset="0"/>
            </a:endParaRPr>
          </a:p>
        </p:txBody>
      </p:sp>
      <p:sp>
        <p:nvSpPr>
          <p:cNvPr id="13" name="矩形 12"/>
          <p:cNvSpPr/>
          <p:nvPr/>
        </p:nvSpPr>
        <p:spPr>
          <a:xfrm>
            <a:off x="6096000" y="3311358"/>
            <a:ext cx="800219" cy="461665"/>
          </a:xfrm>
          <a:prstGeom prst="rect">
            <a:avLst/>
          </a:prstGeom>
        </p:spPr>
        <p:txBody>
          <a:bodyPr wrap="none">
            <a:spAutoFit/>
          </a:bodyPr>
          <a:lstStyle/>
          <a:p>
            <a:r>
              <a:rPr lang="zh-TW" altLang="en-US" sz="2400" b="1" dirty="0">
                <a:solidFill>
                  <a:schemeClr val="tx1">
                    <a:lumMod val="85000"/>
                    <a:lumOff val="15000"/>
                  </a:schemeClr>
                </a:solidFill>
                <a:cs typeface="Amiri" panose="00000500000000000000" charset="0"/>
              </a:rPr>
              <a:t>受眾</a:t>
            </a:r>
            <a:endParaRPr lang="zh-CN" altLang="en-US" sz="2400" b="1" dirty="0">
              <a:solidFill>
                <a:schemeClr val="tx1">
                  <a:lumMod val="85000"/>
                  <a:lumOff val="15000"/>
                </a:schemeClr>
              </a:solidFill>
              <a:cs typeface="Amiri" panose="00000500000000000000" charset="0"/>
            </a:endParaRPr>
          </a:p>
        </p:txBody>
      </p:sp>
      <p:sp>
        <p:nvSpPr>
          <p:cNvPr id="14" name="矩形 13"/>
          <p:cNvSpPr/>
          <p:nvPr/>
        </p:nvSpPr>
        <p:spPr>
          <a:xfrm>
            <a:off x="6047515" y="3690952"/>
            <a:ext cx="5331708" cy="1142300"/>
          </a:xfrm>
          <a:prstGeom prst="rect">
            <a:avLst/>
          </a:prstGeom>
        </p:spPr>
        <p:txBody>
          <a:bodyPr wrap="square">
            <a:spAutoFit/>
          </a:bodyPr>
          <a:lstStyle/>
          <a:p>
            <a:pPr>
              <a:lnSpc>
                <a:spcPct val="130000"/>
              </a:lnSpc>
            </a:pPr>
            <a:r>
              <a:rPr lang="zh-TW" altLang="en-US" sz="1800" dirty="0">
                <a:solidFill>
                  <a:srgbClr val="0D0D0D"/>
                </a:solidFill>
                <a:effectLst/>
                <a:latin typeface="Poiret One" panose="00000500000000000000" pitchFamily="2" charset="0"/>
                <a:ea typeface="標楷體" panose="03000509000000000000" pitchFamily="65" charset="-120"/>
                <a:cs typeface="Gungsuh" panose="02030600000101010101" pitchFamily="18" charset="-127"/>
              </a:rPr>
              <a:t>．</a:t>
            </a:r>
            <a:r>
              <a:rPr lang="zh-TW" altLang="zh-TW" sz="1800" dirty="0">
                <a:solidFill>
                  <a:srgbClr val="0D0D0D"/>
                </a:solidFill>
                <a:effectLst/>
                <a:ea typeface="標楷體" panose="03000509000000000000" pitchFamily="65" charset="-120"/>
                <a:cs typeface="Gungsuh" panose="02030600000101010101" pitchFamily="18" charset="-127"/>
              </a:rPr>
              <a:t>學齡前兒童</a:t>
            </a:r>
            <a:endParaRPr lang="en-US" altLang="zh-TW" sz="1800" dirty="0">
              <a:solidFill>
                <a:srgbClr val="0D0D0D"/>
              </a:solidFill>
              <a:effectLst/>
              <a:ea typeface="標楷體" panose="03000509000000000000" pitchFamily="65" charset="-120"/>
              <a:cs typeface="Gungsuh" panose="02030600000101010101" pitchFamily="18" charset="-127"/>
            </a:endParaRPr>
          </a:p>
          <a:p>
            <a:pPr>
              <a:lnSpc>
                <a:spcPct val="130000"/>
              </a:lnSpc>
            </a:pPr>
            <a:r>
              <a:rPr lang="zh-TW" altLang="en-US" sz="1800" dirty="0">
                <a:solidFill>
                  <a:srgbClr val="0D0D0D"/>
                </a:solidFill>
                <a:effectLst/>
                <a:latin typeface="Poiret One" panose="00000500000000000000" pitchFamily="2" charset="0"/>
                <a:ea typeface="標楷體" panose="03000509000000000000" pitchFamily="65" charset="-120"/>
                <a:cs typeface="Gungsuh" panose="02030600000101010101" pitchFamily="18" charset="-127"/>
              </a:rPr>
              <a:t>．</a:t>
            </a:r>
            <a:r>
              <a:rPr lang="zh-TW" altLang="zh-TW" sz="1800" dirty="0">
                <a:solidFill>
                  <a:srgbClr val="0D0D0D"/>
                </a:solidFill>
                <a:effectLst/>
                <a:ea typeface="標楷體" panose="03000509000000000000" pitchFamily="65" charset="-120"/>
                <a:cs typeface="Gungsuh" panose="02030600000101010101" pitchFamily="18" charset="-127"/>
              </a:rPr>
              <a:t>長時間觀看螢幕的族群</a:t>
            </a:r>
            <a:endParaRPr lang="en-US" altLang="zh-TW" sz="1800" dirty="0">
              <a:solidFill>
                <a:srgbClr val="0D0D0D"/>
              </a:solidFill>
              <a:effectLst/>
              <a:ea typeface="標楷體" panose="03000509000000000000" pitchFamily="65" charset="-120"/>
              <a:cs typeface="Gungsuh" panose="02030600000101010101" pitchFamily="18" charset="-127"/>
            </a:endParaRPr>
          </a:p>
          <a:p>
            <a:pPr>
              <a:lnSpc>
                <a:spcPct val="130000"/>
              </a:lnSpc>
            </a:pPr>
            <a:r>
              <a:rPr lang="zh-TW" altLang="en-US" sz="1800" dirty="0">
                <a:solidFill>
                  <a:srgbClr val="0D0D0D"/>
                </a:solidFill>
                <a:effectLst/>
                <a:latin typeface="Poiret One" panose="00000500000000000000" pitchFamily="2" charset="0"/>
                <a:ea typeface="標楷體" panose="03000509000000000000" pitchFamily="65" charset="-120"/>
                <a:cs typeface="Gungsuh" panose="02030600000101010101" pitchFamily="18" charset="-127"/>
              </a:rPr>
              <a:t>．</a:t>
            </a:r>
            <a:r>
              <a:rPr lang="zh-TW" altLang="zh-TW" sz="1800" dirty="0">
                <a:solidFill>
                  <a:srgbClr val="0D0D0D"/>
                </a:solidFill>
                <a:effectLst/>
                <a:ea typeface="標楷體" panose="03000509000000000000" pitchFamily="65" charset="-120"/>
                <a:cs typeface="Gungsuh" panose="02030600000101010101" pitchFamily="18" charset="-127"/>
              </a:rPr>
              <a:t>老年族群</a:t>
            </a:r>
            <a:endParaRPr lang="zh-CN" altLang="en-US" sz="1200" dirty="0">
              <a:solidFill>
                <a:schemeClr val="tx1">
                  <a:lumMod val="85000"/>
                  <a:lumOff val="15000"/>
                </a:schemeClr>
              </a:solidFill>
              <a:cs typeface="Amiri" panose="00000500000000000000" charset="0"/>
            </a:endParaRPr>
          </a:p>
        </p:txBody>
      </p:sp>
      <p:sp>
        <p:nvSpPr>
          <p:cNvPr id="15" name="矩形 14"/>
          <p:cNvSpPr/>
          <p:nvPr/>
        </p:nvSpPr>
        <p:spPr>
          <a:xfrm>
            <a:off x="5989091" y="4946395"/>
            <a:ext cx="1723549" cy="461665"/>
          </a:xfrm>
          <a:prstGeom prst="rect">
            <a:avLst/>
          </a:prstGeom>
        </p:spPr>
        <p:txBody>
          <a:bodyPr wrap="none">
            <a:spAutoFit/>
          </a:bodyPr>
          <a:lstStyle/>
          <a:p>
            <a:r>
              <a:rPr lang="zh-TW" altLang="en-US" sz="2400" b="1" dirty="0">
                <a:solidFill>
                  <a:schemeClr val="tx1">
                    <a:lumMod val="85000"/>
                    <a:lumOff val="15000"/>
                  </a:schemeClr>
                </a:solidFill>
                <a:cs typeface="Amiri" panose="00000500000000000000" charset="0"/>
              </a:rPr>
              <a:t>可解決問題</a:t>
            </a:r>
            <a:endParaRPr lang="zh-CN" altLang="en-US" sz="2400" b="1" dirty="0">
              <a:solidFill>
                <a:schemeClr val="tx1">
                  <a:lumMod val="85000"/>
                  <a:lumOff val="15000"/>
                </a:schemeClr>
              </a:solidFill>
              <a:cs typeface="Amiri" panose="00000500000000000000" charset="0"/>
            </a:endParaRPr>
          </a:p>
        </p:txBody>
      </p:sp>
      <p:sp>
        <p:nvSpPr>
          <p:cNvPr id="16" name="矩形 15"/>
          <p:cNvSpPr/>
          <p:nvPr/>
        </p:nvSpPr>
        <p:spPr>
          <a:xfrm>
            <a:off x="5977976" y="5268643"/>
            <a:ext cx="5557482" cy="777649"/>
          </a:xfrm>
          <a:prstGeom prst="rect">
            <a:avLst/>
          </a:prstGeom>
        </p:spPr>
        <p:txBody>
          <a:bodyPr wrap="square">
            <a:spAutoFit/>
          </a:bodyPr>
          <a:lstStyle/>
          <a:p>
            <a:pPr>
              <a:lnSpc>
                <a:spcPct val="130000"/>
              </a:lnSpc>
            </a:pPr>
            <a:r>
              <a:rPr lang="zh-TW" altLang="en-US" dirty="0">
                <a:solidFill>
                  <a:srgbClr val="0D0D0D"/>
                </a:solidFill>
                <a:latin typeface="標楷體" panose="03000509000000000000" pitchFamily="65" charset="-120"/>
                <a:ea typeface="標楷體" panose="03000509000000000000" pitchFamily="65" charset="-120"/>
              </a:rPr>
              <a:t>協助眼科醫師監測記錄患者用眼紀錄並了解患者於自家實施療程狀況提醒患者在觀看螢幕時的正確姿態</a:t>
            </a:r>
            <a:endParaRPr lang="zh-CN" altLang="en-US"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8" name="矩形 17"/>
          <p:cNvSpPr/>
          <p:nvPr/>
        </p:nvSpPr>
        <p:spPr>
          <a:xfrm>
            <a:off x="972839" y="5126671"/>
            <a:ext cx="4167052" cy="313034"/>
          </a:xfrm>
          <a:prstGeom prst="rect">
            <a:avLst/>
          </a:prstGeom>
        </p:spPr>
        <p:txBody>
          <a:bodyPr wrap="square">
            <a:spAutoFit/>
          </a:bodyPr>
          <a:lstStyle/>
          <a:p>
            <a:pPr>
              <a:lnSpc>
                <a:spcPct val="130000"/>
              </a:lnSpc>
            </a:pPr>
            <a:endParaRPr lang="zh-CN" altLang="en-US" sz="1200" dirty="0">
              <a:solidFill>
                <a:schemeClr val="tx1">
                  <a:lumMod val="85000"/>
                  <a:lumOff val="15000"/>
                </a:schemeClr>
              </a:solidFill>
              <a:cs typeface="Amiri" panose="00000500000000000000" charset="0"/>
            </a:endParaRPr>
          </a:p>
        </p:txBody>
      </p:sp>
      <p:sp>
        <p:nvSpPr>
          <p:cNvPr id="19" name="文本框 18"/>
          <p:cNvSpPr txBox="1"/>
          <p:nvPr/>
        </p:nvSpPr>
        <p:spPr>
          <a:xfrm>
            <a:off x="972839" y="3429000"/>
            <a:ext cx="4555837" cy="584773"/>
          </a:xfrm>
          <a:prstGeom prst="rect">
            <a:avLst/>
          </a:prstGeom>
          <a:noFill/>
        </p:spPr>
        <p:txBody>
          <a:bodyPr wrap="square" lIns="91438" tIns="45719" rIns="91438" bIns="45719" rtlCol="0">
            <a:spAutoFit/>
          </a:bodyPr>
          <a:lstStyle/>
          <a:p>
            <a:endParaRPr lang="en-US" altLang="zh-CN" sz="3200" dirty="0">
              <a:solidFill>
                <a:srgbClr val="1A9895"/>
              </a:solidFill>
              <a:latin typeface="+mj-ea"/>
              <a:ea typeface="+mj-ea"/>
              <a:cs typeface="Amiri" panose="00000500000000000000" charset="0"/>
            </a:endParaRPr>
          </a:p>
        </p:txBody>
      </p:sp>
      <p:pic>
        <p:nvPicPr>
          <p:cNvPr id="4" name="圖片 3">
            <a:extLst>
              <a:ext uri="{FF2B5EF4-FFF2-40B4-BE49-F238E27FC236}">
                <a16:creationId xmlns:a16="http://schemas.microsoft.com/office/drawing/2014/main" id="{6A03B793-971A-9968-ADD2-C9529AFAFA0E}"/>
              </a:ext>
            </a:extLst>
          </p:cNvPr>
          <p:cNvPicPr>
            <a:picLocks noChangeAspect="1"/>
          </p:cNvPicPr>
          <p:nvPr/>
        </p:nvPicPr>
        <p:blipFill>
          <a:blip r:embed="rId2"/>
          <a:stretch>
            <a:fillRect/>
          </a:stretch>
        </p:blipFill>
        <p:spPr>
          <a:xfrm>
            <a:off x="771075" y="1808714"/>
            <a:ext cx="4662162" cy="45037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127" y="2557690"/>
            <a:ext cx="5826291" cy="1754326"/>
          </a:xfrm>
          <a:prstGeom prst="rect">
            <a:avLst/>
          </a:prstGeom>
          <a:noFill/>
        </p:spPr>
        <p:txBody>
          <a:bodyPr wrap="square" rtlCol="0">
            <a:spAutoFit/>
          </a:bodyPr>
          <a:lstStyle/>
          <a:p>
            <a:r>
              <a:rPr lang="en-US" altLang="zh-TW" sz="5400" b="1" dirty="0">
                <a:solidFill>
                  <a:schemeClr val="bg1"/>
                </a:solidFill>
                <a:cs typeface="Amiri" panose="00000500000000000000" charset="0"/>
              </a:rPr>
              <a:t>04</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產品架構及運作</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8328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9895"/>
        </a:solidFill>
        <a:effectLst/>
      </p:bgPr>
    </p:bg>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E7E7E7"/>
                </a:solidFill>
                <a:cs typeface="Amiri" panose="00000500000000000000" charset="0"/>
              </a:rPr>
              <a:t>0</a:t>
            </a:r>
            <a:r>
              <a:rPr lang="en-US" altLang="zh-TW" sz="4000" b="1" u="sng" dirty="0">
                <a:solidFill>
                  <a:srgbClr val="E7E7E7"/>
                </a:solidFill>
                <a:cs typeface="Amiri" panose="00000500000000000000" charset="0"/>
              </a:rPr>
              <a:t>4</a:t>
            </a:r>
            <a:endParaRPr lang="zh-CN" altLang="en-US" sz="4000" u="sng" dirty="0">
              <a:solidFill>
                <a:srgbClr val="E7E7E7"/>
              </a:solidFill>
              <a:cs typeface="Amiri" panose="00000500000000000000" charset="0"/>
            </a:endParaRPr>
          </a:p>
        </p:txBody>
      </p:sp>
      <p:cxnSp>
        <p:nvCxnSpPr>
          <p:cNvPr id="21" name="直接连接符 20"/>
          <p:cNvCxnSpPr/>
          <p:nvPr/>
        </p:nvCxnSpPr>
        <p:spPr>
          <a:xfrm>
            <a:off x="371475" y="4765904"/>
            <a:ext cx="0" cy="119380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22841" y="5623674"/>
            <a:ext cx="4387850" cy="398780"/>
          </a:xfrm>
          <a:prstGeom prst="rect">
            <a:avLst/>
          </a:prstGeom>
        </p:spPr>
        <p:txBody>
          <a:bodyPr wrap="square">
            <a:spAutoFit/>
          </a:bodyPr>
          <a:lstStyle/>
          <a:p>
            <a:r>
              <a:rPr lang="zh-TW" altLang="en-US" sz="2000" b="1" dirty="0">
                <a:solidFill>
                  <a:srgbClr val="E7E7E7"/>
                </a:solidFill>
                <a:cs typeface="Amiri" panose="00000500000000000000" charset="0"/>
              </a:rPr>
              <a:t>使用者登入介面</a:t>
            </a:r>
            <a:endParaRPr lang="zh-CN" altLang="en-US" sz="2000" b="1" dirty="0">
              <a:solidFill>
                <a:srgbClr val="E7E7E7"/>
              </a:solidFill>
              <a:cs typeface="Amiri" panose="00000500000000000000" charset="0"/>
            </a:endParaRPr>
          </a:p>
        </p:txBody>
      </p:sp>
      <p:cxnSp>
        <p:nvCxnSpPr>
          <p:cNvPr id="25" name="直接连接符 24"/>
          <p:cNvCxnSpPr/>
          <p:nvPr/>
        </p:nvCxnSpPr>
        <p:spPr>
          <a:xfrm>
            <a:off x="3877856" y="1206501"/>
            <a:ext cx="0" cy="119380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877856" y="1135031"/>
            <a:ext cx="3777615" cy="398780"/>
          </a:xfrm>
          <a:prstGeom prst="rect">
            <a:avLst/>
          </a:prstGeom>
        </p:spPr>
        <p:txBody>
          <a:bodyPr wrap="square">
            <a:spAutoFit/>
          </a:bodyPr>
          <a:lstStyle/>
          <a:p>
            <a:r>
              <a:rPr lang="zh-TW" altLang="en-US" sz="2000" b="1" dirty="0">
                <a:solidFill>
                  <a:srgbClr val="E7E7E7"/>
                </a:solidFill>
                <a:cs typeface="Amiri" panose="00000500000000000000" charset="0"/>
              </a:rPr>
              <a:t>用眼日記記錄表</a:t>
            </a:r>
            <a:endParaRPr lang="zh-CN" altLang="en-US" sz="2000" b="1" dirty="0">
              <a:solidFill>
                <a:srgbClr val="E7E7E7"/>
              </a:solidFill>
              <a:cs typeface="Amiri" panose="00000500000000000000" charset="0"/>
            </a:endParaRPr>
          </a:p>
        </p:txBody>
      </p:sp>
      <p:cxnSp>
        <p:nvCxnSpPr>
          <p:cNvPr id="28" name="直接连接符 27"/>
          <p:cNvCxnSpPr/>
          <p:nvPr/>
        </p:nvCxnSpPr>
        <p:spPr>
          <a:xfrm>
            <a:off x="5028894" y="5102998"/>
            <a:ext cx="0" cy="119380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5028894" y="5037787"/>
            <a:ext cx="3695065" cy="398780"/>
          </a:xfrm>
          <a:prstGeom prst="rect">
            <a:avLst/>
          </a:prstGeom>
        </p:spPr>
        <p:txBody>
          <a:bodyPr wrap="square">
            <a:spAutoFit/>
          </a:bodyPr>
          <a:lstStyle/>
          <a:p>
            <a:r>
              <a:rPr lang="zh-TW" altLang="en-US" sz="2000" b="1" dirty="0">
                <a:solidFill>
                  <a:srgbClr val="E7E7E7"/>
                </a:solidFill>
                <a:cs typeface="Amiri" panose="00000500000000000000" charset="0"/>
              </a:rPr>
              <a:t>警報視窗</a:t>
            </a:r>
            <a:endParaRPr lang="zh-CN" altLang="en-US" sz="2000" b="1" dirty="0">
              <a:solidFill>
                <a:srgbClr val="E7E7E7"/>
              </a:solidFill>
              <a:cs typeface="Amiri" panose="00000500000000000000" charset="0"/>
            </a:endParaRPr>
          </a:p>
        </p:txBody>
      </p:sp>
      <p:sp>
        <p:nvSpPr>
          <p:cNvPr id="4" name="矩形 3">
            <a:extLst>
              <a:ext uri="{FF2B5EF4-FFF2-40B4-BE49-F238E27FC236}">
                <a16:creationId xmlns:a16="http://schemas.microsoft.com/office/drawing/2014/main" id="{B102BED5-F9BE-D2D0-6422-9D9B15318845}"/>
              </a:ext>
            </a:extLst>
          </p:cNvPr>
          <p:cNvSpPr/>
          <p:nvPr/>
        </p:nvSpPr>
        <p:spPr>
          <a:xfrm>
            <a:off x="1651000" y="433705"/>
            <a:ext cx="6544945" cy="646331"/>
          </a:xfrm>
          <a:prstGeom prst="rect">
            <a:avLst/>
          </a:prstGeom>
        </p:spPr>
        <p:txBody>
          <a:bodyPr wrap="square">
            <a:spAutoFit/>
          </a:bodyPr>
          <a:lstStyle/>
          <a:p>
            <a:r>
              <a:rPr lang="zh-TW" altLang="en-US" sz="3600" dirty="0">
                <a:solidFill>
                  <a:srgbClr val="E7E7E7"/>
                </a:solidFill>
                <a:cs typeface="Amiri" panose="00000500000000000000" charset="0"/>
              </a:rPr>
              <a:t>產品架構及運作</a:t>
            </a:r>
            <a:endParaRPr lang="zh-CN" altLang="en-US" sz="3600" dirty="0">
              <a:solidFill>
                <a:srgbClr val="E7E7E7"/>
              </a:solidFill>
              <a:cs typeface="Amiri" panose="00000500000000000000" charset="0"/>
            </a:endParaRPr>
          </a:p>
        </p:txBody>
      </p:sp>
      <p:pic>
        <p:nvPicPr>
          <p:cNvPr id="19" name="image2.png">
            <a:extLst>
              <a:ext uri="{FF2B5EF4-FFF2-40B4-BE49-F238E27FC236}">
                <a16:creationId xmlns:a16="http://schemas.microsoft.com/office/drawing/2014/main" id="{BC14FDA9-E501-4137-859F-7E3F11740FDB}"/>
              </a:ext>
            </a:extLst>
          </p:cNvPr>
          <p:cNvPicPr/>
          <p:nvPr/>
        </p:nvPicPr>
        <p:blipFill>
          <a:blip r:embed="rId2"/>
          <a:srcRect/>
          <a:stretch>
            <a:fillRect/>
          </a:stretch>
        </p:blipFill>
        <p:spPr>
          <a:xfrm>
            <a:off x="472250" y="1803402"/>
            <a:ext cx="3227874" cy="3789499"/>
          </a:xfrm>
          <a:prstGeom prst="rect">
            <a:avLst/>
          </a:prstGeom>
          <a:ln/>
        </p:spPr>
      </p:pic>
      <p:pic>
        <p:nvPicPr>
          <p:cNvPr id="20" name="圖片 19">
            <a:extLst>
              <a:ext uri="{FF2B5EF4-FFF2-40B4-BE49-F238E27FC236}">
                <a16:creationId xmlns:a16="http://schemas.microsoft.com/office/drawing/2014/main" id="{F5D196E4-0B39-2066-96A9-19E46457D851}"/>
              </a:ext>
            </a:extLst>
          </p:cNvPr>
          <p:cNvPicPr>
            <a:picLocks noChangeAspect="1"/>
          </p:cNvPicPr>
          <p:nvPr/>
        </p:nvPicPr>
        <p:blipFill>
          <a:blip r:embed="rId3"/>
          <a:stretch>
            <a:fillRect/>
          </a:stretch>
        </p:blipFill>
        <p:spPr>
          <a:xfrm>
            <a:off x="4055590" y="1620823"/>
            <a:ext cx="3897564" cy="2853919"/>
          </a:xfrm>
          <a:prstGeom prst="rect">
            <a:avLst/>
          </a:prstGeom>
        </p:spPr>
      </p:pic>
      <p:pic>
        <p:nvPicPr>
          <p:cNvPr id="22" name="圖片 21">
            <a:extLst>
              <a:ext uri="{FF2B5EF4-FFF2-40B4-BE49-F238E27FC236}">
                <a16:creationId xmlns:a16="http://schemas.microsoft.com/office/drawing/2014/main" id="{DF200101-E327-2D38-3D89-335103FC4083}"/>
              </a:ext>
            </a:extLst>
          </p:cNvPr>
          <p:cNvPicPr>
            <a:picLocks noChangeAspect="1"/>
          </p:cNvPicPr>
          <p:nvPr/>
        </p:nvPicPr>
        <p:blipFill>
          <a:blip r:embed="rId4"/>
          <a:stretch>
            <a:fillRect/>
          </a:stretch>
        </p:blipFill>
        <p:spPr>
          <a:xfrm>
            <a:off x="5247098" y="5534731"/>
            <a:ext cx="3932261" cy="975445"/>
          </a:xfrm>
          <a:prstGeom prst="rect">
            <a:avLst/>
          </a:prstGeom>
        </p:spPr>
      </p:pic>
      <p:pic>
        <p:nvPicPr>
          <p:cNvPr id="31" name="圖片 30">
            <a:extLst>
              <a:ext uri="{FF2B5EF4-FFF2-40B4-BE49-F238E27FC236}">
                <a16:creationId xmlns:a16="http://schemas.microsoft.com/office/drawing/2014/main" id="{30763B50-2349-7EBF-4B91-3ADFFEC98151}"/>
              </a:ext>
            </a:extLst>
          </p:cNvPr>
          <p:cNvPicPr>
            <a:picLocks noChangeAspect="1"/>
          </p:cNvPicPr>
          <p:nvPr/>
        </p:nvPicPr>
        <p:blipFill>
          <a:blip r:embed="rId5"/>
          <a:stretch>
            <a:fillRect/>
          </a:stretch>
        </p:blipFill>
        <p:spPr>
          <a:xfrm>
            <a:off x="7953154" y="1760591"/>
            <a:ext cx="5310076" cy="26093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85D2A2-AC4E-83FB-AB85-4D743FF0FE95}"/>
              </a:ext>
            </a:extLst>
          </p:cNvPr>
          <p:cNvSpPr txBox="1"/>
          <p:nvPr/>
        </p:nvSpPr>
        <p:spPr>
          <a:xfrm>
            <a:off x="785794" y="402923"/>
            <a:ext cx="865206" cy="707886"/>
          </a:xfrm>
          <a:prstGeom prst="rect">
            <a:avLst/>
          </a:prstGeom>
          <a:noFill/>
        </p:spPr>
        <p:txBody>
          <a:bodyPr wrap="square" rtlCol="0">
            <a:spAutoFit/>
          </a:bodyPr>
          <a:lstStyle/>
          <a:p>
            <a:r>
              <a:rPr lang="en-US" altLang="zh-CN" sz="4000" b="1" u="sng" dirty="0">
                <a:solidFill>
                  <a:schemeClr val="bg2">
                    <a:lumMod val="50000"/>
                  </a:schemeClr>
                </a:solidFill>
                <a:cs typeface="Amiri" panose="00000500000000000000" charset="0"/>
              </a:rPr>
              <a:t>0</a:t>
            </a:r>
            <a:r>
              <a:rPr lang="en-US" altLang="zh-TW" sz="4000" b="1" u="sng" dirty="0">
                <a:solidFill>
                  <a:schemeClr val="bg2">
                    <a:lumMod val="50000"/>
                  </a:schemeClr>
                </a:solidFill>
                <a:cs typeface="Amiri" panose="00000500000000000000" charset="0"/>
              </a:rPr>
              <a:t>4</a:t>
            </a:r>
            <a:endParaRPr lang="zh-CN" altLang="en-US" sz="4000" u="sng" dirty="0">
              <a:solidFill>
                <a:schemeClr val="bg2">
                  <a:lumMod val="50000"/>
                </a:schemeClr>
              </a:solidFill>
              <a:cs typeface="Amiri" panose="00000500000000000000" charset="0"/>
            </a:endParaRPr>
          </a:p>
        </p:txBody>
      </p:sp>
      <p:sp>
        <p:nvSpPr>
          <p:cNvPr id="3" name="矩形 2">
            <a:extLst>
              <a:ext uri="{FF2B5EF4-FFF2-40B4-BE49-F238E27FC236}">
                <a16:creationId xmlns:a16="http://schemas.microsoft.com/office/drawing/2014/main" id="{ECAA88A7-5FFE-46AA-D5DF-63B097353D54}"/>
              </a:ext>
            </a:extLst>
          </p:cNvPr>
          <p:cNvSpPr/>
          <p:nvPr/>
        </p:nvSpPr>
        <p:spPr>
          <a:xfrm>
            <a:off x="1651000" y="433705"/>
            <a:ext cx="4174447" cy="646331"/>
          </a:xfrm>
          <a:prstGeom prst="rect">
            <a:avLst/>
          </a:prstGeom>
        </p:spPr>
        <p:txBody>
          <a:bodyPr wrap="square">
            <a:spAutoFit/>
          </a:bodyPr>
          <a:lstStyle/>
          <a:p>
            <a:r>
              <a:rPr lang="zh-TW" altLang="en-US" sz="3600" dirty="0">
                <a:solidFill>
                  <a:schemeClr val="bg2">
                    <a:lumMod val="50000"/>
                  </a:schemeClr>
                </a:solidFill>
                <a:cs typeface="Amiri" panose="00000500000000000000" charset="0"/>
              </a:rPr>
              <a:t>產品架構及運作</a:t>
            </a:r>
            <a:endParaRPr lang="zh-CN" altLang="en-US" sz="3600" dirty="0">
              <a:solidFill>
                <a:schemeClr val="bg2">
                  <a:lumMod val="50000"/>
                </a:schemeClr>
              </a:solidFill>
              <a:cs typeface="Amiri" panose="00000500000000000000" charset="0"/>
            </a:endParaRPr>
          </a:p>
        </p:txBody>
      </p:sp>
      <p:pic>
        <p:nvPicPr>
          <p:cNvPr id="5" name="圖片 4">
            <a:extLst>
              <a:ext uri="{FF2B5EF4-FFF2-40B4-BE49-F238E27FC236}">
                <a16:creationId xmlns:a16="http://schemas.microsoft.com/office/drawing/2014/main" id="{0DFDCC83-D088-CB9B-1A31-3ED76BA3BC2B}"/>
              </a:ext>
            </a:extLst>
          </p:cNvPr>
          <p:cNvPicPr>
            <a:picLocks noChangeAspect="1"/>
          </p:cNvPicPr>
          <p:nvPr/>
        </p:nvPicPr>
        <p:blipFill>
          <a:blip r:embed="rId2"/>
          <a:stretch>
            <a:fillRect/>
          </a:stretch>
        </p:blipFill>
        <p:spPr>
          <a:xfrm>
            <a:off x="191737" y="1822206"/>
            <a:ext cx="3432971" cy="2697334"/>
          </a:xfrm>
          <a:prstGeom prst="rect">
            <a:avLst/>
          </a:prstGeom>
        </p:spPr>
      </p:pic>
      <p:pic>
        <p:nvPicPr>
          <p:cNvPr id="7" name="圖片 6">
            <a:extLst>
              <a:ext uri="{FF2B5EF4-FFF2-40B4-BE49-F238E27FC236}">
                <a16:creationId xmlns:a16="http://schemas.microsoft.com/office/drawing/2014/main" id="{F2648282-244C-179D-5BF4-24CD44DE4533}"/>
              </a:ext>
            </a:extLst>
          </p:cNvPr>
          <p:cNvPicPr>
            <a:picLocks noChangeAspect="1"/>
          </p:cNvPicPr>
          <p:nvPr/>
        </p:nvPicPr>
        <p:blipFill>
          <a:blip r:embed="rId3"/>
          <a:stretch>
            <a:fillRect/>
          </a:stretch>
        </p:blipFill>
        <p:spPr>
          <a:xfrm>
            <a:off x="5930439" y="1060138"/>
            <a:ext cx="2661006" cy="745809"/>
          </a:xfrm>
          <a:prstGeom prst="rect">
            <a:avLst/>
          </a:prstGeom>
        </p:spPr>
      </p:pic>
      <p:pic>
        <p:nvPicPr>
          <p:cNvPr id="9" name="圖片 8">
            <a:extLst>
              <a:ext uri="{FF2B5EF4-FFF2-40B4-BE49-F238E27FC236}">
                <a16:creationId xmlns:a16="http://schemas.microsoft.com/office/drawing/2014/main" id="{AF943A8F-283E-CE9C-59E9-825B690D73F7}"/>
              </a:ext>
            </a:extLst>
          </p:cNvPr>
          <p:cNvPicPr>
            <a:picLocks noChangeAspect="1"/>
          </p:cNvPicPr>
          <p:nvPr/>
        </p:nvPicPr>
        <p:blipFill>
          <a:blip r:embed="rId4"/>
          <a:stretch>
            <a:fillRect/>
          </a:stretch>
        </p:blipFill>
        <p:spPr>
          <a:xfrm>
            <a:off x="7562799" y="2111272"/>
            <a:ext cx="3164442" cy="738720"/>
          </a:xfrm>
          <a:prstGeom prst="rect">
            <a:avLst/>
          </a:prstGeom>
        </p:spPr>
      </p:pic>
      <p:pic>
        <p:nvPicPr>
          <p:cNvPr id="11" name="圖片 10">
            <a:extLst>
              <a:ext uri="{FF2B5EF4-FFF2-40B4-BE49-F238E27FC236}">
                <a16:creationId xmlns:a16="http://schemas.microsoft.com/office/drawing/2014/main" id="{5CEC63AD-845D-58E1-F198-CE719FF064FE}"/>
              </a:ext>
            </a:extLst>
          </p:cNvPr>
          <p:cNvPicPr>
            <a:picLocks noChangeAspect="1"/>
          </p:cNvPicPr>
          <p:nvPr/>
        </p:nvPicPr>
        <p:blipFill>
          <a:blip r:embed="rId5"/>
          <a:stretch>
            <a:fillRect/>
          </a:stretch>
        </p:blipFill>
        <p:spPr>
          <a:xfrm>
            <a:off x="8696437" y="1058890"/>
            <a:ext cx="3164441" cy="748304"/>
          </a:xfrm>
          <a:prstGeom prst="rect">
            <a:avLst/>
          </a:prstGeom>
        </p:spPr>
      </p:pic>
      <p:cxnSp>
        <p:nvCxnSpPr>
          <p:cNvPr id="12" name="直線單箭頭接點 11">
            <a:extLst>
              <a:ext uri="{FF2B5EF4-FFF2-40B4-BE49-F238E27FC236}">
                <a16:creationId xmlns:a16="http://schemas.microsoft.com/office/drawing/2014/main" id="{EC6B990F-4ED7-BF8D-C451-101BFC1C6B0E}"/>
              </a:ext>
            </a:extLst>
          </p:cNvPr>
          <p:cNvCxnSpPr>
            <a:cxnSpLocks/>
          </p:cNvCxnSpPr>
          <p:nvPr/>
        </p:nvCxnSpPr>
        <p:spPr>
          <a:xfrm>
            <a:off x="4326544" y="1664771"/>
            <a:ext cx="974921"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cxnSp>
        <p:nvCxnSpPr>
          <p:cNvPr id="16" name="直接连接符 20">
            <a:extLst>
              <a:ext uri="{FF2B5EF4-FFF2-40B4-BE49-F238E27FC236}">
                <a16:creationId xmlns:a16="http://schemas.microsoft.com/office/drawing/2014/main" id="{E76E015C-5667-2BEF-85D4-069FD4970B8D}"/>
              </a:ext>
            </a:extLst>
          </p:cNvPr>
          <p:cNvCxnSpPr>
            <a:cxnSpLocks/>
          </p:cNvCxnSpPr>
          <p:nvPr/>
        </p:nvCxnSpPr>
        <p:spPr>
          <a:xfrm>
            <a:off x="361201" y="4778905"/>
            <a:ext cx="0" cy="220523"/>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922C6C7E-A724-757F-163B-599C59F93508}"/>
              </a:ext>
            </a:extLst>
          </p:cNvPr>
          <p:cNvSpPr/>
          <p:nvPr/>
        </p:nvSpPr>
        <p:spPr>
          <a:xfrm>
            <a:off x="436250" y="4751594"/>
            <a:ext cx="2943946" cy="400110"/>
          </a:xfrm>
          <a:prstGeom prst="rect">
            <a:avLst/>
          </a:prstGeom>
        </p:spPr>
        <p:txBody>
          <a:bodyPr wrap="square">
            <a:spAutoFit/>
          </a:bodyPr>
          <a:lstStyle/>
          <a:p>
            <a:r>
              <a:rPr lang="en-US" altLang="zh-CN" sz="2000" b="1" dirty="0" err="1">
                <a:solidFill>
                  <a:schemeClr val="accent5">
                    <a:lumMod val="75000"/>
                  </a:schemeClr>
                </a:solidFill>
                <a:cs typeface="Amiri" panose="00000500000000000000" charset="0"/>
              </a:rPr>
              <a:t>Dlib</a:t>
            </a:r>
            <a:r>
              <a:rPr lang="en-US" altLang="zh-CN" sz="2000" b="1" dirty="0">
                <a:solidFill>
                  <a:schemeClr val="accent5">
                    <a:lumMod val="75000"/>
                  </a:schemeClr>
                </a:solidFill>
                <a:cs typeface="Amiri" panose="00000500000000000000" charset="0"/>
              </a:rPr>
              <a:t>-</a:t>
            </a:r>
            <a:r>
              <a:rPr lang="zh-TW" altLang="en-US" sz="2000" b="1" dirty="0">
                <a:solidFill>
                  <a:schemeClr val="accent5">
                    <a:lumMod val="75000"/>
                  </a:schemeClr>
                </a:solidFill>
                <a:cs typeface="Amiri" panose="00000500000000000000" charset="0"/>
              </a:rPr>
              <a:t>人臉的</a:t>
            </a:r>
            <a:r>
              <a:rPr lang="en-US" altLang="zh-TW" sz="2000" b="1" dirty="0">
                <a:solidFill>
                  <a:schemeClr val="accent5">
                    <a:lumMod val="75000"/>
                  </a:schemeClr>
                </a:solidFill>
                <a:cs typeface="Amiri" panose="00000500000000000000" charset="0"/>
              </a:rPr>
              <a:t>68</a:t>
            </a:r>
            <a:r>
              <a:rPr lang="zh-TW" altLang="en-US" sz="2000" b="1" dirty="0">
                <a:solidFill>
                  <a:schemeClr val="accent5">
                    <a:lumMod val="75000"/>
                  </a:schemeClr>
                </a:solidFill>
                <a:cs typeface="Amiri" panose="00000500000000000000" charset="0"/>
              </a:rPr>
              <a:t>個特徵點</a:t>
            </a:r>
            <a:endParaRPr lang="zh-CN" altLang="en-US" sz="2000" b="1" dirty="0">
              <a:solidFill>
                <a:schemeClr val="accent5">
                  <a:lumMod val="75000"/>
                </a:schemeClr>
              </a:solidFill>
              <a:cs typeface="Amiri" panose="00000500000000000000" charset="0"/>
            </a:endParaRPr>
          </a:p>
        </p:txBody>
      </p:sp>
      <p:sp>
        <p:nvSpPr>
          <p:cNvPr id="19" name="矩形 18">
            <a:extLst>
              <a:ext uri="{FF2B5EF4-FFF2-40B4-BE49-F238E27FC236}">
                <a16:creationId xmlns:a16="http://schemas.microsoft.com/office/drawing/2014/main" id="{C29E2BFD-9254-B4AE-40FD-076F0F7020DE}"/>
              </a:ext>
            </a:extLst>
          </p:cNvPr>
          <p:cNvSpPr/>
          <p:nvPr/>
        </p:nvSpPr>
        <p:spPr>
          <a:xfrm>
            <a:off x="6181215" y="437288"/>
            <a:ext cx="3777615" cy="398780"/>
          </a:xfrm>
          <a:prstGeom prst="rect">
            <a:avLst/>
          </a:prstGeom>
        </p:spPr>
        <p:txBody>
          <a:bodyPr wrap="square">
            <a:spAutoFit/>
          </a:bodyPr>
          <a:lstStyle/>
          <a:p>
            <a:r>
              <a:rPr lang="zh-TW" altLang="en-US" sz="2000" b="1" dirty="0">
                <a:solidFill>
                  <a:schemeClr val="accent5">
                    <a:lumMod val="75000"/>
                  </a:schemeClr>
                </a:solidFill>
                <a:cs typeface="Amiri" panose="00000500000000000000" charset="0"/>
              </a:rPr>
              <a:t>眼睛的</a:t>
            </a:r>
            <a:r>
              <a:rPr lang="en-US" altLang="zh-TW" sz="2000" b="1" dirty="0">
                <a:solidFill>
                  <a:schemeClr val="accent5">
                    <a:lumMod val="75000"/>
                  </a:schemeClr>
                </a:solidFill>
                <a:cs typeface="Amiri" panose="00000500000000000000" charset="0"/>
              </a:rPr>
              <a:t>6</a:t>
            </a:r>
            <a:r>
              <a:rPr lang="zh-TW" altLang="en-US" sz="2000" b="1" dirty="0">
                <a:solidFill>
                  <a:schemeClr val="accent5">
                    <a:lumMod val="75000"/>
                  </a:schemeClr>
                </a:solidFill>
                <a:cs typeface="Amiri" panose="00000500000000000000" charset="0"/>
              </a:rPr>
              <a:t>座標</a:t>
            </a:r>
            <a:endParaRPr lang="zh-CN" altLang="en-US" sz="2000" b="1" dirty="0">
              <a:solidFill>
                <a:schemeClr val="accent5">
                  <a:lumMod val="75000"/>
                </a:schemeClr>
              </a:solidFill>
              <a:cs typeface="Amiri" panose="00000500000000000000" charset="0"/>
            </a:endParaRPr>
          </a:p>
        </p:txBody>
      </p:sp>
      <p:cxnSp>
        <p:nvCxnSpPr>
          <p:cNvPr id="20" name="直接连接符 20">
            <a:extLst>
              <a:ext uri="{FF2B5EF4-FFF2-40B4-BE49-F238E27FC236}">
                <a16:creationId xmlns:a16="http://schemas.microsoft.com/office/drawing/2014/main" id="{5114770C-68FD-CFAA-19D1-A7DC0CDFD4D6}"/>
              </a:ext>
            </a:extLst>
          </p:cNvPr>
          <p:cNvCxnSpPr>
            <a:cxnSpLocks/>
          </p:cNvCxnSpPr>
          <p:nvPr/>
        </p:nvCxnSpPr>
        <p:spPr>
          <a:xfrm>
            <a:off x="6054797" y="401581"/>
            <a:ext cx="0" cy="484800"/>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0">
            <a:extLst>
              <a:ext uri="{FF2B5EF4-FFF2-40B4-BE49-F238E27FC236}">
                <a16:creationId xmlns:a16="http://schemas.microsoft.com/office/drawing/2014/main" id="{49F37EDC-5E3C-4919-568D-7F49F5DC3EDB}"/>
              </a:ext>
            </a:extLst>
          </p:cNvPr>
          <p:cNvCxnSpPr>
            <a:cxnSpLocks/>
          </p:cNvCxnSpPr>
          <p:nvPr/>
        </p:nvCxnSpPr>
        <p:spPr>
          <a:xfrm>
            <a:off x="8696330" y="394278"/>
            <a:ext cx="0" cy="484800"/>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EBDBE4C8-90B2-4C1A-0B13-516BAFF72099}"/>
              </a:ext>
            </a:extLst>
          </p:cNvPr>
          <p:cNvSpPr/>
          <p:nvPr/>
        </p:nvSpPr>
        <p:spPr>
          <a:xfrm>
            <a:off x="8822747" y="437288"/>
            <a:ext cx="3777615" cy="398780"/>
          </a:xfrm>
          <a:prstGeom prst="rect">
            <a:avLst/>
          </a:prstGeom>
        </p:spPr>
        <p:txBody>
          <a:bodyPr wrap="square">
            <a:spAutoFit/>
          </a:bodyPr>
          <a:lstStyle/>
          <a:p>
            <a:r>
              <a:rPr lang="zh-TW" altLang="en-US" sz="2000" b="1" dirty="0">
                <a:solidFill>
                  <a:schemeClr val="accent5">
                    <a:lumMod val="75000"/>
                  </a:schemeClr>
                </a:solidFill>
                <a:cs typeface="Amiri" panose="00000500000000000000" charset="0"/>
              </a:rPr>
              <a:t>眼睛長寬比公式</a:t>
            </a:r>
            <a:endParaRPr lang="zh-CN" altLang="en-US" sz="2000" b="1" dirty="0">
              <a:solidFill>
                <a:schemeClr val="accent5">
                  <a:lumMod val="75000"/>
                </a:schemeClr>
              </a:solidFill>
              <a:cs typeface="Amiri" panose="00000500000000000000" charset="0"/>
            </a:endParaRPr>
          </a:p>
        </p:txBody>
      </p:sp>
      <p:cxnSp>
        <p:nvCxnSpPr>
          <p:cNvPr id="24" name="直接连接符 20">
            <a:extLst>
              <a:ext uri="{FF2B5EF4-FFF2-40B4-BE49-F238E27FC236}">
                <a16:creationId xmlns:a16="http://schemas.microsoft.com/office/drawing/2014/main" id="{59F2BF8A-22FD-7FAE-08C3-75D6B9E08247}"/>
              </a:ext>
            </a:extLst>
          </p:cNvPr>
          <p:cNvCxnSpPr>
            <a:cxnSpLocks/>
          </p:cNvCxnSpPr>
          <p:nvPr/>
        </p:nvCxnSpPr>
        <p:spPr>
          <a:xfrm>
            <a:off x="6096000" y="2205372"/>
            <a:ext cx="0" cy="484800"/>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3AA52F5D-6E4E-1DA3-CE69-3A06964C36F3}"/>
              </a:ext>
            </a:extLst>
          </p:cNvPr>
          <p:cNvSpPr/>
          <p:nvPr/>
        </p:nvSpPr>
        <p:spPr>
          <a:xfrm>
            <a:off x="6256477" y="2232991"/>
            <a:ext cx="3777615" cy="398780"/>
          </a:xfrm>
          <a:prstGeom prst="rect">
            <a:avLst/>
          </a:prstGeom>
        </p:spPr>
        <p:txBody>
          <a:bodyPr wrap="square">
            <a:spAutoFit/>
          </a:bodyPr>
          <a:lstStyle/>
          <a:p>
            <a:r>
              <a:rPr lang="zh-TW" altLang="en-US" sz="2000" b="1" dirty="0">
                <a:solidFill>
                  <a:schemeClr val="accent5">
                    <a:lumMod val="75000"/>
                  </a:schemeClr>
                </a:solidFill>
                <a:cs typeface="Amiri" panose="00000500000000000000" charset="0"/>
              </a:rPr>
              <a:t>閾值判斷</a:t>
            </a:r>
            <a:endParaRPr lang="zh-CN" altLang="en-US" sz="2000" b="1" dirty="0">
              <a:solidFill>
                <a:schemeClr val="accent5">
                  <a:lumMod val="75000"/>
                </a:schemeClr>
              </a:solidFill>
              <a:cs typeface="Amiri" panose="00000500000000000000" charset="0"/>
            </a:endParaRPr>
          </a:p>
        </p:txBody>
      </p:sp>
      <p:pic>
        <p:nvPicPr>
          <p:cNvPr id="21" name="圖片 20">
            <a:extLst>
              <a:ext uri="{FF2B5EF4-FFF2-40B4-BE49-F238E27FC236}">
                <a16:creationId xmlns:a16="http://schemas.microsoft.com/office/drawing/2014/main" id="{853266C0-D174-536E-3263-D49E2E5DBBB1}"/>
              </a:ext>
            </a:extLst>
          </p:cNvPr>
          <p:cNvPicPr>
            <a:picLocks noChangeAspect="1"/>
          </p:cNvPicPr>
          <p:nvPr/>
        </p:nvPicPr>
        <p:blipFill>
          <a:blip r:embed="rId6"/>
          <a:stretch>
            <a:fillRect/>
          </a:stretch>
        </p:blipFill>
        <p:spPr>
          <a:xfrm>
            <a:off x="4348218" y="3417637"/>
            <a:ext cx="3164443" cy="2492065"/>
          </a:xfrm>
          <a:prstGeom prst="rect">
            <a:avLst/>
          </a:prstGeom>
        </p:spPr>
      </p:pic>
      <p:cxnSp>
        <p:nvCxnSpPr>
          <p:cNvPr id="26" name="直接连接符 20">
            <a:extLst>
              <a:ext uri="{FF2B5EF4-FFF2-40B4-BE49-F238E27FC236}">
                <a16:creationId xmlns:a16="http://schemas.microsoft.com/office/drawing/2014/main" id="{6A9FD8A9-1B1A-1B27-679A-E89D54943FD6}"/>
              </a:ext>
            </a:extLst>
          </p:cNvPr>
          <p:cNvCxnSpPr>
            <a:cxnSpLocks/>
          </p:cNvCxnSpPr>
          <p:nvPr/>
        </p:nvCxnSpPr>
        <p:spPr>
          <a:xfrm>
            <a:off x="4602715" y="6081555"/>
            <a:ext cx="0" cy="494682"/>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795826D3-2571-6674-C07C-73C9FE45DA09}"/>
              </a:ext>
            </a:extLst>
          </p:cNvPr>
          <p:cNvSpPr/>
          <p:nvPr/>
        </p:nvSpPr>
        <p:spPr>
          <a:xfrm>
            <a:off x="4602715" y="6202795"/>
            <a:ext cx="2248554" cy="400110"/>
          </a:xfrm>
          <a:prstGeom prst="rect">
            <a:avLst/>
          </a:prstGeom>
        </p:spPr>
        <p:txBody>
          <a:bodyPr wrap="square">
            <a:spAutoFit/>
          </a:bodyPr>
          <a:lstStyle/>
          <a:p>
            <a:r>
              <a:rPr lang="zh-TW" altLang="en-US" sz="2000" b="1" dirty="0">
                <a:solidFill>
                  <a:schemeClr val="accent5">
                    <a:lumMod val="75000"/>
                  </a:schemeClr>
                </a:solidFill>
                <a:cs typeface="Amiri" panose="00000500000000000000" charset="0"/>
              </a:rPr>
              <a:t>眨眼觀測</a:t>
            </a:r>
            <a:endParaRPr lang="zh-CN" altLang="en-US" sz="2000" b="1" dirty="0">
              <a:solidFill>
                <a:schemeClr val="accent5">
                  <a:lumMod val="75000"/>
                </a:schemeClr>
              </a:solidFill>
              <a:cs typeface="Amiri" panose="00000500000000000000" charset="0"/>
            </a:endParaRPr>
          </a:p>
        </p:txBody>
      </p:sp>
      <p:pic>
        <p:nvPicPr>
          <p:cNvPr id="32" name="圖片 31">
            <a:extLst>
              <a:ext uri="{FF2B5EF4-FFF2-40B4-BE49-F238E27FC236}">
                <a16:creationId xmlns:a16="http://schemas.microsoft.com/office/drawing/2014/main" id="{D906FE3B-0CC3-4DF7-9442-2E43457B69F0}"/>
              </a:ext>
            </a:extLst>
          </p:cNvPr>
          <p:cNvPicPr>
            <a:picLocks noChangeAspect="1"/>
          </p:cNvPicPr>
          <p:nvPr/>
        </p:nvPicPr>
        <p:blipFill>
          <a:blip r:embed="rId7"/>
          <a:stretch>
            <a:fillRect/>
          </a:stretch>
        </p:blipFill>
        <p:spPr>
          <a:xfrm>
            <a:off x="7799858" y="3429000"/>
            <a:ext cx="3780671" cy="2459122"/>
          </a:xfrm>
          <a:prstGeom prst="rect">
            <a:avLst/>
          </a:prstGeom>
        </p:spPr>
      </p:pic>
      <p:cxnSp>
        <p:nvCxnSpPr>
          <p:cNvPr id="33" name="直接连接符 20">
            <a:extLst>
              <a:ext uri="{FF2B5EF4-FFF2-40B4-BE49-F238E27FC236}">
                <a16:creationId xmlns:a16="http://schemas.microsoft.com/office/drawing/2014/main" id="{3C3B8B10-266D-1E34-E14C-D605E95336D2}"/>
              </a:ext>
            </a:extLst>
          </p:cNvPr>
          <p:cNvCxnSpPr>
            <a:cxnSpLocks/>
          </p:cNvCxnSpPr>
          <p:nvPr/>
        </p:nvCxnSpPr>
        <p:spPr>
          <a:xfrm>
            <a:off x="7799858" y="6040342"/>
            <a:ext cx="0" cy="488609"/>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FFDF69B2-295E-2922-A967-68DCA0B3AF33}"/>
              </a:ext>
            </a:extLst>
          </p:cNvPr>
          <p:cNvSpPr/>
          <p:nvPr/>
        </p:nvSpPr>
        <p:spPr>
          <a:xfrm>
            <a:off x="7981243" y="6128841"/>
            <a:ext cx="1914334" cy="400110"/>
          </a:xfrm>
          <a:prstGeom prst="rect">
            <a:avLst/>
          </a:prstGeom>
        </p:spPr>
        <p:txBody>
          <a:bodyPr wrap="square">
            <a:spAutoFit/>
          </a:bodyPr>
          <a:lstStyle/>
          <a:p>
            <a:r>
              <a:rPr lang="zh-TW" altLang="en-US" sz="2000" b="1" dirty="0">
                <a:solidFill>
                  <a:schemeClr val="accent5">
                    <a:lumMod val="75000"/>
                  </a:schemeClr>
                </a:solidFill>
                <a:cs typeface="Amiri" panose="00000500000000000000" charset="0"/>
              </a:rPr>
              <a:t>眨眼記錄圖表</a:t>
            </a:r>
            <a:endParaRPr lang="zh-CN" altLang="en-US" sz="2000" b="1" dirty="0">
              <a:solidFill>
                <a:schemeClr val="accent5">
                  <a:lumMod val="75000"/>
                </a:schemeClr>
              </a:solidFill>
              <a:cs typeface="Amiri" panose="00000500000000000000" charset="0"/>
            </a:endParaRPr>
          </a:p>
        </p:txBody>
      </p:sp>
    </p:spTree>
    <p:extLst>
      <p:ext uri="{BB962C8B-B14F-4D97-AF65-F5344CB8AC3E}">
        <p14:creationId xmlns:p14="http://schemas.microsoft.com/office/powerpoint/2010/main" val="198785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04</a:t>
            </a:r>
            <a:endParaRPr lang="zh-CN" altLang="en-US" sz="4000" u="sng" dirty="0">
              <a:solidFill>
                <a:srgbClr val="1A9895"/>
              </a:solidFill>
              <a:cs typeface="Amiri" panose="00000500000000000000" charset="0"/>
            </a:endParaRPr>
          </a:p>
        </p:txBody>
      </p:sp>
      <p:sp>
        <p:nvSpPr>
          <p:cNvPr id="350" name="文本框 349"/>
          <p:cNvSpPr txBox="1"/>
          <p:nvPr/>
        </p:nvSpPr>
        <p:spPr>
          <a:xfrm>
            <a:off x="6621654" y="433705"/>
            <a:ext cx="4555837" cy="461663"/>
          </a:xfrm>
          <a:prstGeom prst="rect">
            <a:avLst/>
          </a:prstGeom>
          <a:noFill/>
        </p:spPr>
        <p:txBody>
          <a:bodyPr wrap="square" lIns="91438" tIns="45719" rIns="91438" bIns="45719" rtlCol="0">
            <a:spAutoFit/>
          </a:bodyPr>
          <a:lstStyle/>
          <a:p>
            <a:r>
              <a:rPr lang="zh-TW" altLang="en-US" sz="2400" dirty="0">
                <a:solidFill>
                  <a:schemeClr val="tx1">
                    <a:lumMod val="85000"/>
                    <a:lumOff val="15000"/>
                  </a:schemeClr>
                </a:solidFill>
                <a:latin typeface="+mj-ea"/>
                <a:ea typeface="+mj-ea"/>
                <a:cs typeface="Amiri" panose="00000500000000000000" charset="0"/>
              </a:rPr>
              <a:t>預估效果</a:t>
            </a:r>
            <a:endParaRPr lang="en-US" altLang="zh-CN" sz="2400" dirty="0">
              <a:solidFill>
                <a:schemeClr val="tx1">
                  <a:lumMod val="85000"/>
                  <a:lumOff val="15000"/>
                </a:schemeClr>
              </a:solidFill>
              <a:latin typeface="+mj-ea"/>
              <a:ea typeface="+mj-ea"/>
              <a:cs typeface="Amiri" panose="00000500000000000000" charset="0"/>
            </a:endParaRPr>
          </a:p>
        </p:txBody>
      </p:sp>
      <p:sp>
        <p:nvSpPr>
          <p:cNvPr id="4" name="矩形 3">
            <a:extLst>
              <a:ext uri="{FF2B5EF4-FFF2-40B4-BE49-F238E27FC236}">
                <a16:creationId xmlns:a16="http://schemas.microsoft.com/office/drawing/2014/main" id="{95258F2D-72BF-4284-163D-6063C889EE08}"/>
              </a:ext>
            </a:extLst>
          </p:cNvPr>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產品架構及運作</a:t>
            </a:r>
            <a:endParaRPr lang="zh-CN" altLang="en-US" sz="3600" dirty="0">
              <a:cs typeface="Amiri" panose="00000500000000000000" charset="0"/>
            </a:endParaRPr>
          </a:p>
        </p:txBody>
      </p:sp>
      <p:sp>
        <p:nvSpPr>
          <p:cNvPr id="366" name="文字方塊 365">
            <a:extLst>
              <a:ext uri="{FF2B5EF4-FFF2-40B4-BE49-F238E27FC236}">
                <a16:creationId xmlns:a16="http://schemas.microsoft.com/office/drawing/2014/main" id="{640C0DC6-EAD8-C37A-7EC8-96344A004502}"/>
              </a:ext>
            </a:extLst>
          </p:cNvPr>
          <p:cNvSpPr txBox="1"/>
          <p:nvPr/>
        </p:nvSpPr>
        <p:spPr>
          <a:xfrm>
            <a:off x="6655806" y="1032147"/>
            <a:ext cx="4555837" cy="1754326"/>
          </a:xfrm>
          <a:prstGeom prst="rect">
            <a:avLst/>
          </a:prstGeom>
          <a:noFill/>
        </p:spPr>
        <p:txBody>
          <a:bodyPr wrap="square">
            <a:spAutoFit/>
          </a:bodyPr>
          <a:lstStyle/>
          <a:p>
            <a:r>
              <a:rPr lang="zh-TW" altLang="en-US" dirty="0"/>
              <a:t>此產品於診所端訂閱此產品之服務後，可於自家使用桌機、筆電等長時間瀏覽螢幕時，即時監測記錄患者的用眼狀況。</a:t>
            </a:r>
            <a:endParaRPr lang="en-US" altLang="zh-TW" dirty="0"/>
          </a:p>
          <a:p>
            <a:r>
              <a:rPr lang="zh-TW" altLang="en-US" dirty="0"/>
              <a:t>用眼資料的紀錄有頭部偏轉角度以及眨眼次數，這兩項紀錄會回傳給眼科醫師進行評估，達到定期的患者療程紀錄和矯正。</a:t>
            </a:r>
          </a:p>
        </p:txBody>
      </p:sp>
      <p:pic>
        <p:nvPicPr>
          <p:cNvPr id="3" name="圖片 2">
            <a:extLst>
              <a:ext uri="{FF2B5EF4-FFF2-40B4-BE49-F238E27FC236}">
                <a16:creationId xmlns:a16="http://schemas.microsoft.com/office/drawing/2014/main" id="{3FC7E1CC-6F3A-8E4A-27F6-B7C97B3CE32E}"/>
              </a:ext>
            </a:extLst>
          </p:cNvPr>
          <p:cNvPicPr>
            <a:picLocks noChangeAspect="1"/>
          </p:cNvPicPr>
          <p:nvPr/>
        </p:nvPicPr>
        <p:blipFill>
          <a:blip r:embed="rId3"/>
          <a:stretch>
            <a:fillRect/>
          </a:stretch>
        </p:blipFill>
        <p:spPr>
          <a:xfrm>
            <a:off x="623789" y="1771398"/>
            <a:ext cx="5587365" cy="2072820"/>
          </a:xfrm>
          <a:prstGeom prst="rect">
            <a:avLst/>
          </a:prstGeom>
        </p:spPr>
      </p:pic>
      <p:pic>
        <p:nvPicPr>
          <p:cNvPr id="7" name="圖片 6">
            <a:extLst>
              <a:ext uri="{FF2B5EF4-FFF2-40B4-BE49-F238E27FC236}">
                <a16:creationId xmlns:a16="http://schemas.microsoft.com/office/drawing/2014/main" id="{647FC0E5-DF02-2B6F-F81B-27AA26846F8C}"/>
              </a:ext>
            </a:extLst>
          </p:cNvPr>
          <p:cNvPicPr>
            <a:picLocks noChangeAspect="1"/>
          </p:cNvPicPr>
          <p:nvPr/>
        </p:nvPicPr>
        <p:blipFill>
          <a:blip r:embed="rId4"/>
          <a:stretch>
            <a:fillRect/>
          </a:stretch>
        </p:blipFill>
        <p:spPr>
          <a:xfrm>
            <a:off x="7238365" y="3023759"/>
            <a:ext cx="3570048" cy="3056909"/>
          </a:xfrm>
          <a:prstGeom prst="rect">
            <a:avLst/>
          </a:prstGeom>
        </p:spPr>
      </p:pic>
      <p:pic>
        <p:nvPicPr>
          <p:cNvPr id="9" name="圖片 8">
            <a:extLst>
              <a:ext uri="{FF2B5EF4-FFF2-40B4-BE49-F238E27FC236}">
                <a16:creationId xmlns:a16="http://schemas.microsoft.com/office/drawing/2014/main" id="{D13D4303-7A14-B747-12C1-201EB7381AAA}"/>
              </a:ext>
            </a:extLst>
          </p:cNvPr>
          <p:cNvPicPr>
            <a:picLocks noChangeAspect="1"/>
          </p:cNvPicPr>
          <p:nvPr/>
        </p:nvPicPr>
        <p:blipFill>
          <a:blip r:embed="rId5"/>
          <a:stretch>
            <a:fillRect/>
          </a:stretch>
        </p:blipFill>
        <p:spPr>
          <a:xfrm>
            <a:off x="964936" y="4474035"/>
            <a:ext cx="5131064" cy="1606633"/>
          </a:xfrm>
          <a:prstGeom prst="rect">
            <a:avLst/>
          </a:prstGeom>
        </p:spPr>
      </p:pic>
    </p:spTree>
    <p:extLst>
      <p:ext uri="{BB962C8B-B14F-4D97-AF65-F5344CB8AC3E}">
        <p14:creationId xmlns:p14="http://schemas.microsoft.com/office/powerpoint/2010/main" val="420651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040" y="2557780"/>
            <a:ext cx="9104630" cy="1753235"/>
          </a:xfrm>
          <a:prstGeom prst="rect">
            <a:avLst/>
          </a:prstGeom>
          <a:noFill/>
        </p:spPr>
        <p:txBody>
          <a:bodyPr wrap="square" rtlCol="0">
            <a:spAutoFit/>
          </a:bodyPr>
          <a:lstStyle/>
          <a:p>
            <a:r>
              <a:rPr lang="en-US" altLang="zh-CN" sz="5400" b="1" dirty="0">
                <a:solidFill>
                  <a:schemeClr val="bg1"/>
                </a:solidFill>
                <a:cs typeface="Amiri" panose="00000500000000000000" charset="0"/>
              </a:rPr>
              <a:t>05</a:t>
            </a:r>
          </a:p>
          <a:p>
            <a:r>
              <a:rPr lang="zh-TW" altLang="en-US" sz="5400" dirty="0">
                <a:solidFill>
                  <a:schemeClr val="bg1"/>
                </a:solidFill>
                <a:cs typeface="Amiri" panose="00000500000000000000" charset="0"/>
              </a:rPr>
              <a:t>競品分析比對</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5</a:t>
            </a:r>
            <a:endParaRPr lang="zh-CN" altLang="en-US" sz="4000" u="sng" dirty="0">
              <a:solidFill>
                <a:srgbClr val="1A9895"/>
              </a:solidFill>
              <a:cs typeface="Amiri" panose="00000500000000000000" charset="0"/>
            </a:endParaRPr>
          </a:p>
        </p:txBody>
      </p:sp>
      <p:grpSp>
        <p:nvGrpSpPr>
          <p:cNvPr id="128" name="群組 127">
            <a:extLst>
              <a:ext uri="{FF2B5EF4-FFF2-40B4-BE49-F238E27FC236}">
                <a16:creationId xmlns:a16="http://schemas.microsoft.com/office/drawing/2014/main" id="{257B05EB-271F-B345-E8BE-E6224F050E52}"/>
              </a:ext>
            </a:extLst>
          </p:cNvPr>
          <p:cNvGrpSpPr/>
          <p:nvPr/>
        </p:nvGrpSpPr>
        <p:grpSpPr>
          <a:xfrm>
            <a:off x="1387204" y="2559397"/>
            <a:ext cx="2087578" cy="1711768"/>
            <a:chOff x="791897" y="1546679"/>
            <a:chExt cx="2031325" cy="1588320"/>
          </a:xfrm>
        </p:grpSpPr>
        <p:grpSp>
          <p:nvGrpSpPr>
            <p:cNvPr id="30" name="群組 29">
              <a:extLst>
                <a:ext uri="{FF2B5EF4-FFF2-40B4-BE49-F238E27FC236}">
                  <a16:creationId xmlns:a16="http://schemas.microsoft.com/office/drawing/2014/main" id="{F4D3109C-4355-4A9D-84C4-0429787BD15F}"/>
                </a:ext>
              </a:extLst>
            </p:cNvPr>
            <p:cNvGrpSpPr/>
            <p:nvPr/>
          </p:nvGrpSpPr>
          <p:grpSpPr>
            <a:xfrm>
              <a:off x="1209246" y="1546679"/>
              <a:ext cx="1152835" cy="921619"/>
              <a:chOff x="785794" y="1663741"/>
              <a:chExt cx="3116776" cy="2686878"/>
            </a:xfrm>
          </p:grpSpPr>
          <p:grpSp>
            <p:nvGrpSpPr>
              <p:cNvPr id="5" name="组合 4"/>
              <p:cNvGrpSpPr/>
              <p:nvPr/>
            </p:nvGrpSpPr>
            <p:grpSpPr>
              <a:xfrm flipH="1">
                <a:off x="785794" y="1663741"/>
                <a:ext cx="3116776" cy="2686878"/>
                <a:chOff x="3241129" y="967902"/>
                <a:chExt cx="5709753" cy="4922199"/>
              </a:xfrm>
            </p:grpSpPr>
            <p:grpSp>
              <p:nvGrpSpPr>
                <p:cNvPr id="6" name="组合 5"/>
                <p:cNvGrpSpPr/>
                <p:nvPr/>
              </p:nvGrpSpPr>
              <p:grpSpPr>
                <a:xfrm>
                  <a:off x="3241129" y="967902"/>
                  <a:ext cx="5709753" cy="4922199"/>
                  <a:chOff x="3241126" y="967902"/>
                  <a:chExt cx="5709748" cy="4922199"/>
                </a:xfrm>
              </p:grpSpPr>
              <p:sp>
                <p:nvSpPr>
                  <p:cNvPr id="9" name="等腰三角形 8"/>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10" name="直接连接符 9"/>
                  <p:cNvCxnSpPr>
                    <a:stCxn id="9"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7" name="等腰三角形 6"/>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8" name="等腰三角形 16"/>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29" name="等腰三角形 28"/>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34" name="文本框 33"/>
            <p:cNvSpPr txBox="1"/>
            <p:nvPr/>
          </p:nvSpPr>
          <p:spPr>
            <a:xfrm>
              <a:off x="1593072" y="1779086"/>
              <a:ext cx="393056" cy="584775"/>
            </a:xfrm>
            <a:prstGeom prst="rect">
              <a:avLst/>
            </a:prstGeom>
            <a:noFill/>
          </p:spPr>
          <p:txBody>
            <a:bodyPr wrap="none" rtlCol="0">
              <a:spAutoFit/>
            </a:bodyPr>
            <a:lstStyle/>
            <a:p>
              <a:r>
                <a:rPr lang="en-US" altLang="zh-CN" sz="3200" b="1" dirty="0">
                  <a:solidFill>
                    <a:schemeClr val="tx1">
                      <a:lumMod val="85000"/>
                      <a:lumOff val="15000"/>
                    </a:schemeClr>
                  </a:solidFill>
                  <a:cs typeface="Amiri" panose="00000500000000000000" charset="0"/>
                </a:rPr>
                <a:t>1</a:t>
              </a:r>
              <a:endParaRPr lang="zh-CN" altLang="en-US" sz="3200" b="1" dirty="0">
                <a:solidFill>
                  <a:schemeClr val="tx1">
                    <a:lumMod val="85000"/>
                    <a:lumOff val="15000"/>
                  </a:schemeClr>
                </a:solidFill>
                <a:cs typeface="Amiri" panose="00000500000000000000" charset="0"/>
              </a:endParaRPr>
            </a:p>
          </p:txBody>
        </p:sp>
        <p:sp>
          <p:nvSpPr>
            <p:cNvPr id="37" name="矩形 36"/>
            <p:cNvSpPr/>
            <p:nvPr/>
          </p:nvSpPr>
          <p:spPr>
            <a:xfrm>
              <a:off x="791897" y="2673334"/>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光柵療法訓練</a:t>
              </a:r>
              <a:endParaRPr lang="zh-CN" altLang="en-US" sz="2400" b="1" dirty="0">
                <a:solidFill>
                  <a:schemeClr val="tx1">
                    <a:lumMod val="75000"/>
                    <a:lumOff val="25000"/>
                  </a:schemeClr>
                </a:solidFill>
                <a:cs typeface="Amiri" panose="00000500000000000000" charset="0"/>
              </a:endParaRPr>
            </a:p>
          </p:txBody>
        </p:sp>
      </p:grpSp>
      <p:grpSp>
        <p:nvGrpSpPr>
          <p:cNvPr id="129" name="群組 128">
            <a:extLst>
              <a:ext uri="{FF2B5EF4-FFF2-40B4-BE49-F238E27FC236}">
                <a16:creationId xmlns:a16="http://schemas.microsoft.com/office/drawing/2014/main" id="{91CD6511-1CC0-3DEE-E060-CC7106B1ABC8}"/>
              </a:ext>
            </a:extLst>
          </p:cNvPr>
          <p:cNvGrpSpPr/>
          <p:nvPr/>
        </p:nvGrpSpPr>
        <p:grpSpPr>
          <a:xfrm>
            <a:off x="4407192" y="2595680"/>
            <a:ext cx="2031325" cy="1604359"/>
            <a:chOff x="3514305" y="1551496"/>
            <a:chExt cx="2031325" cy="1604359"/>
          </a:xfrm>
        </p:grpSpPr>
        <p:grpSp>
          <p:nvGrpSpPr>
            <p:cNvPr id="92" name="群組 91">
              <a:extLst>
                <a:ext uri="{FF2B5EF4-FFF2-40B4-BE49-F238E27FC236}">
                  <a16:creationId xmlns:a16="http://schemas.microsoft.com/office/drawing/2014/main" id="{8AD852FB-49C7-47F6-8D9C-137EA1000987}"/>
                </a:ext>
              </a:extLst>
            </p:cNvPr>
            <p:cNvGrpSpPr/>
            <p:nvPr/>
          </p:nvGrpSpPr>
          <p:grpSpPr>
            <a:xfrm>
              <a:off x="3891415" y="1551496"/>
              <a:ext cx="1152835" cy="921619"/>
              <a:chOff x="785794" y="1663741"/>
              <a:chExt cx="3116776" cy="2686878"/>
            </a:xfrm>
          </p:grpSpPr>
          <p:grpSp>
            <p:nvGrpSpPr>
              <p:cNvPr id="93" name="组合 4">
                <a:extLst>
                  <a:ext uri="{FF2B5EF4-FFF2-40B4-BE49-F238E27FC236}">
                    <a16:creationId xmlns:a16="http://schemas.microsoft.com/office/drawing/2014/main" id="{B74FA75B-F2D3-984A-2DA9-64CD66D9DB98}"/>
                  </a:ext>
                </a:extLst>
              </p:cNvPr>
              <p:cNvGrpSpPr/>
              <p:nvPr/>
            </p:nvGrpSpPr>
            <p:grpSpPr>
              <a:xfrm flipH="1">
                <a:off x="785794" y="1663741"/>
                <a:ext cx="3116776" cy="2686878"/>
                <a:chOff x="3241129" y="967902"/>
                <a:chExt cx="5709753" cy="4922199"/>
              </a:xfrm>
            </p:grpSpPr>
            <p:grpSp>
              <p:nvGrpSpPr>
                <p:cNvPr id="95" name="组合 5">
                  <a:extLst>
                    <a:ext uri="{FF2B5EF4-FFF2-40B4-BE49-F238E27FC236}">
                      <a16:creationId xmlns:a16="http://schemas.microsoft.com/office/drawing/2014/main" id="{907C6690-37A4-D212-EBF6-A2F5DC408F33}"/>
                    </a:ext>
                  </a:extLst>
                </p:cNvPr>
                <p:cNvGrpSpPr/>
                <p:nvPr/>
              </p:nvGrpSpPr>
              <p:grpSpPr>
                <a:xfrm>
                  <a:off x="3241129" y="967902"/>
                  <a:ext cx="5709753" cy="4922199"/>
                  <a:chOff x="3241126" y="967902"/>
                  <a:chExt cx="5709748" cy="4922199"/>
                </a:xfrm>
              </p:grpSpPr>
              <p:sp>
                <p:nvSpPr>
                  <p:cNvPr id="98" name="等腰三角形 97">
                    <a:extLst>
                      <a:ext uri="{FF2B5EF4-FFF2-40B4-BE49-F238E27FC236}">
                        <a16:creationId xmlns:a16="http://schemas.microsoft.com/office/drawing/2014/main" id="{B802896A-5502-D574-469E-9BF5FB1859D1}"/>
                      </a:ext>
                    </a:extLst>
                  </p:cNvPr>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99" name="直接连接符 9">
                    <a:extLst>
                      <a:ext uri="{FF2B5EF4-FFF2-40B4-BE49-F238E27FC236}">
                        <a16:creationId xmlns:a16="http://schemas.microsoft.com/office/drawing/2014/main" id="{E4777671-3FA1-62D0-861D-D22780BB0123}"/>
                      </a:ext>
                    </a:extLst>
                  </p:cNvPr>
                  <p:cNvCxnSpPr>
                    <a:stCxn id="98"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00" name="直接连接符 10">
                    <a:extLst>
                      <a:ext uri="{FF2B5EF4-FFF2-40B4-BE49-F238E27FC236}">
                        <a16:creationId xmlns:a16="http://schemas.microsoft.com/office/drawing/2014/main" id="{D17EA50B-F746-F859-939C-C296C0C7659D}"/>
                      </a:ext>
                    </a:extLst>
                  </p:cNvPr>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01" name="直接连接符 11">
                    <a:extLst>
                      <a:ext uri="{FF2B5EF4-FFF2-40B4-BE49-F238E27FC236}">
                        <a16:creationId xmlns:a16="http://schemas.microsoft.com/office/drawing/2014/main" id="{3C06A4F1-EF94-F5C5-6370-FAD616EA5DC1}"/>
                      </a:ext>
                    </a:extLst>
                  </p:cNvPr>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96" name="等腰三角形 95">
                  <a:extLst>
                    <a:ext uri="{FF2B5EF4-FFF2-40B4-BE49-F238E27FC236}">
                      <a16:creationId xmlns:a16="http://schemas.microsoft.com/office/drawing/2014/main" id="{A8144A6C-512C-386D-69AC-1093408529DF}"/>
                    </a:ext>
                  </a:extLst>
                </p:cNvPr>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97" name="等腰三角形 16">
                  <a:extLst>
                    <a:ext uri="{FF2B5EF4-FFF2-40B4-BE49-F238E27FC236}">
                      <a16:creationId xmlns:a16="http://schemas.microsoft.com/office/drawing/2014/main" id="{421D6FDF-7979-078D-CC97-7735F7633E49}"/>
                    </a:ext>
                  </a:extLst>
                </p:cNvPr>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94" name="等腰三角形 93">
                <a:extLst>
                  <a:ext uri="{FF2B5EF4-FFF2-40B4-BE49-F238E27FC236}">
                    <a16:creationId xmlns:a16="http://schemas.microsoft.com/office/drawing/2014/main" id="{7D8B02C5-448A-29F1-BEB0-10D64B40A93D}"/>
                  </a:ext>
                </a:extLst>
              </p:cNvPr>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35" name="文本框 34"/>
            <p:cNvSpPr txBox="1"/>
            <p:nvPr/>
          </p:nvSpPr>
          <p:spPr>
            <a:xfrm>
              <a:off x="4267439" y="1809632"/>
              <a:ext cx="393056" cy="584775"/>
            </a:xfrm>
            <a:prstGeom prst="rect">
              <a:avLst/>
            </a:prstGeom>
            <a:noFill/>
          </p:spPr>
          <p:txBody>
            <a:bodyPr wrap="none" rtlCol="0">
              <a:spAutoFit/>
            </a:bodyPr>
            <a:lstStyle/>
            <a:p>
              <a:r>
                <a:rPr lang="en-US" altLang="zh-CN" sz="3200" b="1" dirty="0">
                  <a:solidFill>
                    <a:schemeClr val="tx1">
                      <a:lumMod val="85000"/>
                      <a:lumOff val="15000"/>
                    </a:schemeClr>
                  </a:solidFill>
                  <a:cs typeface="Amiri" panose="00000500000000000000" charset="0"/>
                </a:rPr>
                <a:t>2</a:t>
              </a:r>
              <a:endParaRPr lang="zh-CN" altLang="en-US" sz="3200" b="1" dirty="0">
                <a:solidFill>
                  <a:schemeClr val="tx1">
                    <a:lumMod val="85000"/>
                    <a:lumOff val="15000"/>
                  </a:schemeClr>
                </a:solidFill>
                <a:cs typeface="Amiri" panose="00000500000000000000" charset="0"/>
              </a:endParaRPr>
            </a:p>
          </p:txBody>
        </p:sp>
        <p:sp>
          <p:nvSpPr>
            <p:cNvPr id="39" name="矩形 38"/>
            <p:cNvSpPr/>
            <p:nvPr/>
          </p:nvSpPr>
          <p:spPr>
            <a:xfrm>
              <a:off x="3514305" y="2694190"/>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光譜療法訓練</a:t>
              </a:r>
              <a:endParaRPr lang="zh-CN" altLang="en-US" sz="2400" b="1" dirty="0">
                <a:solidFill>
                  <a:schemeClr val="tx1">
                    <a:lumMod val="75000"/>
                    <a:lumOff val="25000"/>
                  </a:schemeClr>
                </a:solidFill>
                <a:cs typeface="Amiri" panose="00000500000000000000" charset="0"/>
              </a:endParaRPr>
            </a:p>
          </p:txBody>
        </p:sp>
      </p:grpSp>
      <p:grpSp>
        <p:nvGrpSpPr>
          <p:cNvPr id="130" name="群組 129">
            <a:extLst>
              <a:ext uri="{FF2B5EF4-FFF2-40B4-BE49-F238E27FC236}">
                <a16:creationId xmlns:a16="http://schemas.microsoft.com/office/drawing/2014/main" id="{127A5AE4-C1AC-C781-8BD3-A0FC178709A9}"/>
              </a:ext>
            </a:extLst>
          </p:cNvPr>
          <p:cNvGrpSpPr/>
          <p:nvPr/>
        </p:nvGrpSpPr>
        <p:grpSpPr>
          <a:xfrm>
            <a:off x="7388495" y="2599236"/>
            <a:ext cx="2031325" cy="1580138"/>
            <a:chOff x="6277306" y="1577075"/>
            <a:chExt cx="2031325" cy="1580138"/>
          </a:xfrm>
        </p:grpSpPr>
        <p:grpSp>
          <p:nvGrpSpPr>
            <p:cNvPr id="102" name="群組 101">
              <a:extLst>
                <a:ext uri="{FF2B5EF4-FFF2-40B4-BE49-F238E27FC236}">
                  <a16:creationId xmlns:a16="http://schemas.microsoft.com/office/drawing/2014/main" id="{EFA12C47-AC78-783F-E912-75B4EEAA35C7}"/>
                </a:ext>
              </a:extLst>
            </p:cNvPr>
            <p:cNvGrpSpPr/>
            <p:nvPr/>
          </p:nvGrpSpPr>
          <p:grpSpPr>
            <a:xfrm>
              <a:off x="6698108" y="1577075"/>
              <a:ext cx="1152835" cy="921619"/>
              <a:chOff x="785794" y="1663741"/>
              <a:chExt cx="3116776" cy="2686878"/>
            </a:xfrm>
          </p:grpSpPr>
          <p:grpSp>
            <p:nvGrpSpPr>
              <p:cNvPr id="103" name="组合 4">
                <a:extLst>
                  <a:ext uri="{FF2B5EF4-FFF2-40B4-BE49-F238E27FC236}">
                    <a16:creationId xmlns:a16="http://schemas.microsoft.com/office/drawing/2014/main" id="{09D6252A-5112-1D14-5377-4E63C3863ACC}"/>
                  </a:ext>
                </a:extLst>
              </p:cNvPr>
              <p:cNvGrpSpPr/>
              <p:nvPr/>
            </p:nvGrpSpPr>
            <p:grpSpPr>
              <a:xfrm flipH="1">
                <a:off x="785794" y="1663741"/>
                <a:ext cx="3116776" cy="2686878"/>
                <a:chOff x="3241129" y="967902"/>
                <a:chExt cx="5709753" cy="4922199"/>
              </a:xfrm>
            </p:grpSpPr>
            <p:grpSp>
              <p:nvGrpSpPr>
                <p:cNvPr id="105" name="组合 5">
                  <a:extLst>
                    <a:ext uri="{FF2B5EF4-FFF2-40B4-BE49-F238E27FC236}">
                      <a16:creationId xmlns:a16="http://schemas.microsoft.com/office/drawing/2014/main" id="{1F55D37E-77BC-C7A6-5793-F5C6516B250B}"/>
                    </a:ext>
                  </a:extLst>
                </p:cNvPr>
                <p:cNvGrpSpPr/>
                <p:nvPr/>
              </p:nvGrpSpPr>
              <p:grpSpPr>
                <a:xfrm>
                  <a:off x="3241129" y="967902"/>
                  <a:ext cx="5709753" cy="4922199"/>
                  <a:chOff x="3241126" y="967902"/>
                  <a:chExt cx="5709748" cy="4922199"/>
                </a:xfrm>
              </p:grpSpPr>
              <p:sp>
                <p:nvSpPr>
                  <p:cNvPr id="108" name="等腰三角形 107">
                    <a:extLst>
                      <a:ext uri="{FF2B5EF4-FFF2-40B4-BE49-F238E27FC236}">
                        <a16:creationId xmlns:a16="http://schemas.microsoft.com/office/drawing/2014/main" id="{D1CF7E3C-7D52-F1EF-3761-5476EF75CDF7}"/>
                      </a:ext>
                    </a:extLst>
                  </p:cNvPr>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109" name="直接连接符 9">
                    <a:extLst>
                      <a:ext uri="{FF2B5EF4-FFF2-40B4-BE49-F238E27FC236}">
                        <a16:creationId xmlns:a16="http://schemas.microsoft.com/office/drawing/2014/main" id="{A2D116B5-DC44-7CE4-539E-0BCA3B037967}"/>
                      </a:ext>
                    </a:extLst>
                  </p:cNvPr>
                  <p:cNvCxnSpPr>
                    <a:stCxn id="108"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10" name="直接连接符 10">
                    <a:extLst>
                      <a:ext uri="{FF2B5EF4-FFF2-40B4-BE49-F238E27FC236}">
                        <a16:creationId xmlns:a16="http://schemas.microsoft.com/office/drawing/2014/main" id="{EFE35704-7997-5F08-87C7-DA4B86D5D752}"/>
                      </a:ext>
                    </a:extLst>
                  </p:cNvPr>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11" name="直接连接符 11">
                    <a:extLst>
                      <a:ext uri="{FF2B5EF4-FFF2-40B4-BE49-F238E27FC236}">
                        <a16:creationId xmlns:a16="http://schemas.microsoft.com/office/drawing/2014/main" id="{B5874B47-FFDB-2FDE-EF93-3F3D5F87E1A8}"/>
                      </a:ext>
                    </a:extLst>
                  </p:cNvPr>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106" name="等腰三角形 105">
                  <a:extLst>
                    <a:ext uri="{FF2B5EF4-FFF2-40B4-BE49-F238E27FC236}">
                      <a16:creationId xmlns:a16="http://schemas.microsoft.com/office/drawing/2014/main" id="{40C08B44-8803-707B-248C-A4506B89BFCD}"/>
                    </a:ext>
                  </a:extLst>
                </p:cNvPr>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107" name="等腰三角形 16">
                  <a:extLst>
                    <a:ext uri="{FF2B5EF4-FFF2-40B4-BE49-F238E27FC236}">
                      <a16:creationId xmlns:a16="http://schemas.microsoft.com/office/drawing/2014/main" id="{0DAECB96-6882-696E-5114-76AEDD8FEABA}"/>
                    </a:ext>
                  </a:extLst>
                </p:cNvPr>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104" name="等腰三角形 103">
                <a:extLst>
                  <a:ext uri="{FF2B5EF4-FFF2-40B4-BE49-F238E27FC236}">
                    <a16:creationId xmlns:a16="http://schemas.microsoft.com/office/drawing/2014/main" id="{5CE6E9A6-5E53-69B2-DBA4-E87E3AB26FB9}"/>
                  </a:ext>
                </a:extLst>
              </p:cNvPr>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36" name="文本框 35"/>
            <p:cNvSpPr txBox="1"/>
            <p:nvPr/>
          </p:nvSpPr>
          <p:spPr>
            <a:xfrm>
              <a:off x="7082524" y="1841989"/>
              <a:ext cx="393056" cy="584775"/>
            </a:xfrm>
            <a:prstGeom prst="rect">
              <a:avLst/>
            </a:prstGeom>
            <a:noFill/>
          </p:spPr>
          <p:txBody>
            <a:bodyPr wrap="none" rtlCol="0">
              <a:spAutoFit/>
            </a:bodyPr>
            <a:lstStyle/>
            <a:p>
              <a:r>
                <a:rPr lang="en-US" altLang="zh-CN" sz="3200" b="1" dirty="0">
                  <a:solidFill>
                    <a:schemeClr val="tx1">
                      <a:lumMod val="85000"/>
                      <a:lumOff val="15000"/>
                    </a:schemeClr>
                  </a:solidFill>
                  <a:cs typeface="Amiri" panose="00000500000000000000" charset="0"/>
                </a:rPr>
                <a:t>3</a:t>
              </a:r>
              <a:endParaRPr lang="zh-CN" altLang="en-US" sz="3200" b="1" dirty="0">
                <a:solidFill>
                  <a:schemeClr val="tx1">
                    <a:lumMod val="85000"/>
                    <a:lumOff val="15000"/>
                  </a:schemeClr>
                </a:solidFill>
                <a:cs typeface="Amiri" panose="00000500000000000000" charset="0"/>
              </a:endParaRPr>
            </a:p>
          </p:txBody>
        </p:sp>
        <p:sp>
          <p:nvSpPr>
            <p:cNvPr id="41" name="矩形 40"/>
            <p:cNvSpPr/>
            <p:nvPr/>
          </p:nvSpPr>
          <p:spPr>
            <a:xfrm>
              <a:off x="6277306" y="2695548"/>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眼球肌肉訓練</a:t>
              </a:r>
              <a:endParaRPr lang="zh-CN" altLang="en-US" sz="2400" b="1" dirty="0">
                <a:solidFill>
                  <a:schemeClr val="tx1">
                    <a:lumMod val="75000"/>
                    <a:lumOff val="25000"/>
                  </a:schemeClr>
                </a:solidFill>
                <a:cs typeface="Amiri" panose="00000500000000000000" charset="0"/>
              </a:endParaRPr>
            </a:p>
          </p:txBody>
        </p:sp>
      </p:grpSp>
      <p:sp>
        <p:nvSpPr>
          <p:cNvPr id="2" name="矩形 1">
            <a:extLst>
              <a:ext uri="{FF2B5EF4-FFF2-40B4-BE49-F238E27FC236}">
                <a16:creationId xmlns:a16="http://schemas.microsoft.com/office/drawing/2014/main" id="{C5047E87-CFA2-24FB-EE98-41B5390E7584}"/>
              </a:ext>
            </a:extLst>
          </p:cNvPr>
          <p:cNvSpPr/>
          <p:nvPr/>
        </p:nvSpPr>
        <p:spPr>
          <a:xfrm>
            <a:off x="1672217" y="422661"/>
            <a:ext cx="5587365" cy="646331"/>
          </a:xfrm>
          <a:prstGeom prst="rect">
            <a:avLst/>
          </a:prstGeom>
        </p:spPr>
        <p:txBody>
          <a:bodyPr wrap="square">
            <a:spAutoFit/>
          </a:bodyPr>
          <a:lstStyle/>
          <a:p>
            <a:r>
              <a:rPr lang="zh-TW" altLang="en-US" sz="3600" dirty="0">
                <a:cs typeface="Amiri" panose="00000500000000000000" charset="0"/>
              </a:rPr>
              <a:t>競品分析比對</a:t>
            </a:r>
            <a:endParaRPr lang="zh-CN" altLang="en-US" sz="3600" dirty="0">
              <a:cs typeface="Amiri" panose="00000500000000000000" charset="0"/>
            </a:endParaRPr>
          </a:p>
        </p:txBody>
      </p:sp>
      <p:grpSp>
        <p:nvGrpSpPr>
          <p:cNvPr id="135" name="群組 134">
            <a:extLst>
              <a:ext uri="{FF2B5EF4-FFF2-40B4-BE49-F238E27FC236}">
                <a16:creationId xmlns:a16="http://schemas.microsoft.com/office/drawing/2014/main" id="{C59E2D2F-1E4A-3B07-D321-D07B91855807}"/>
              </a:ext>
            </a:extLst>
          </p:cNvPr>
          <p:cNvGrpSpPr/>
          <p:nvPr/>
        </p:nvGrpSpPr>
        <p:grpSpPr>
          <a:xfrm>
            <a:off x="1411783" y="4537571"/>
            <a:ext cx="2031325" cy="1569586"/>
            <a:chOff x="785794" y="3517310"/>
            <a:chExt cx="2031325" cy="1569586"/>
          </a:xfrm>
        </p:grpSpPr>
        <p:grpSp>
          <p:nvGrpSpPr>
            <p:cNvPr id="112" name="群組 111">
              <a:extLst>
                <a:ext uri="{FF2B5EF4-FFF2-40B4-BE49-F238E27FC236}">
                  <a16:creationId xmlns:a16="http://schemas.microsoft.com/office/drawing/2014/main" id="{145F7B62-F51C-FEB4-5426-3056E535FE48}"/>
                </a:ext>
              </a:extLst>
            </p:cNvPr>
            <p:cNvGrpSpPr/>
            <p:nvPr/>
          </p:nvGrpSpPr>
          <p:grpSpPr>
            <a:xfrm>
              <a:off x="1212699" y="3517310"/>
              <a:ext cx="1152835" cy="921619"/>
              <a:chOff x="785794" y="1663741"/>
              <a:chExt cx="3116776" cy="2686878"/>
            </a:xfrm>
          </p:grpSpPr>
          <p:grpSp>
            <p:nvGrpSpPr>
              <p:cNvPr id="113" name="组合 4">
                <a:extLst>
                  <a:ext uri="{FF2B5EF4-FFF2-40B4-BE49-F238E27FC236}">
                    <a16:creationId xmlns:a16="http://schemas.microsoft.com/office/drawing/2014/main" id="{1E4D0BAA-DD92-D211-90C8-90FEBC325392}"/>
                  </a:ext>
                </a:extLst>
              </p:cNvPr>
              <p:cNvGrpSpPr/>
              <p:nvPr/>
            </p:nvGrpSpPr>
            <p:grpSpPr>
              <a:xfrm flipH="1">
                <a:off x="785794" y="1663741"/>
                <a:ext cx="3116776" cy="2686878"/>
                <a:chOff x="3241129" y="967902"/>
                <a:chExt cx="5709753" cy="4922199"/>
              </a:xfrm>
            </p:grpSpPr>
            <p:grpSp>
              <p:nvGrpSpPr>
                <p:cNvPr id="115" name="组合 5">
                  <a:extLst>
                    <a:ext uri="{FF2B5EF4-FFF2-40B4-BE49-F238E27FC236}">
                      <a16:creationId xmlns:a16="http://schemas.microsoft.com/office/drawing/2014/main" id="{E2F7DA06-5D79-1F22-9E62-8C5F718E787C}"/>
                    </a:ext>
                  </a:extLst>
                </p:cNvPr>
                <p:cNvGrpSpPr/>
                <p:nvPr/>
              </p:nvGrpSpPr>
              <p:grpSpPr>
                <a:xfrm>
                  <a:off x="3241129" y="967902"/>
                  <a:ext cx="5709753" cy="4922199"/>
                  <a:chOff x="3241126" y="967902"/>
                  <a:chExt cx="5709748" cy="4922199"/>
                </a:xfrm>
              </p:grpSpPr>
              <p:sp>
                <p:nvSpPr>
                  <p:cNvPr id="118" name="等腰三角形 117">
                    <a:extLst>
                      <a:ext uri="{FF2B5EF4-FFF2-40B4-BE49-F238E27FC236}">
                        <a16:creationId xmlns:a16="http://schemas.microsoft.com/office/drawing/2014/main" id="{E19CC88F-E237-9820-DAA8-415A5B1CEB5A}"/>
                      </a:ext>
                    </a:extLst>
                  </p:cNvPr>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119" name="直接连接符 9">
                    <a:extLst>
                      <a:ext uri="{FF2B5EF4-FFF2-40B4-BE49-F238E27FC236}">
                        <a16:creationId xmlns:a16="http://schemas.microsoft.com/office/drawing/2014/main" id="{CEA4971D-74F9-48C2-94F2-F3285212C192}"/>
                      </a:ext>
                    </a:extLst>
                  </p:cNvPr>
                  <p:cNvCxnSpPr>
                    <a:stCxn id="118"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20" name="直接连接符 10">
                    <a:extLst>
                      <a:ext uri="{FF2B5EF4-FFF2-40B4-BE49-F238E27FC236}">
                        <a16:creationId xmlns:a16="http://schemas.microsoft.com/office/drawing/2014/main" id="{5126DC0F-35E9-F381-AF82-490EC2B6FFAA}"/>
                      </a:ext>
                    </a:extLst>
                  </p:cNvPr>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121" name="直接连接符 11">
                    <a:extLst>
                      <a:ext uri="{FF2B5EF4-FFF2-40B4-BE49-F238E27FC236}">
                        <a16:creationId xmlns:a16="http://schemas.microsoft.com/office/drawing/2014/main" id="{DC23F69D-74D5-7453-EDE8-C3AB97995907}"/>
                      </a:ext>
                    </a:extLst>
                  </p:cNvPr>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116" name="等腰三角形 115">
                  <a:extLst>
                    <a:ext uri="{FF2B5EF4-FFF2-40B4-BE49-F238E27FC236}">
                      <a16:creationId xmlns:a16="http://schemas.microsoft.com/office/drawing/2014/main" id="{BE45DDD5-464C-AA7C-5991-EC1A745CC7B6}"/>
                    </a:ext>
                  </a:extLst>
                </p:cNvPr>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117" name="等腰三角形 16">
                  <a:extLst>
                    <a:ext uri="{FF2B5EF4-FFF2-40B4-BE49-F238E27FC236}">
                      <a16:creationId xmlns:a16="http://schemas.microsoft.com/office/drawing/2014/main" id="{EC9ACA76-11CB-A6DF-D463-5A341725E52B}"/>
                    </a:ext>
                  </a:extLst>
                </p:cNvPr>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114" name="等腰三角形 113">
                <a:extLst>
                  <a:ext uri="{FF2B5EF4-FFF2-40B4-BE49-F238E27FC236}">
                    <a16:creationId xmlns:a16="http://schemas.microsoft.com/office/drawing/2014/main" id="{4F1A69F8-BC70-F6B7-6F20-304D3644C73E}"/>
                  </a:ext>
                </a:extLst>
              </p:cNvPr>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122" name="文本框 35">
              <a:extLst>
                <a:ext uri="{FF2B5EF4-FFF2-40B4-BE49-F238E27FC236}">
                  <a16:creationId xmlns:a16="http://schemas.microsoft.com/office/drawing/2014/main" id="{AF6680EE-A98A-301F-76F5-CCB5E269B50C}"/>
                </a:ext>
              </a:extLst>
            </p:cNvPr>
            <p:cNvSpPr txBox="1"/>
            <p:nvPr/>
          </p:nvSpPr>
          <p:spPr>
            <a:xfrm>
              <a:off x="1611032" y="3766683"/>
              <a:ext cx="393056" cy="584775"/>
            </a:xfrm>
            <a:prstGeom prst="rect">
              <a:avLst/>
            </a:prstGeom>
            <a:noFill/>
          </p:spPr>
          <p:txBody>
            <a:bodyPr wrap="none" rtlCol="0">
              <a:spAutoFit/>
            </a:bodyPr>
            <a:lstStyle/>
            <a:p>
              <a:r>
                <a:rPr lang="en-US" altLang="zh-TW" sz="3200" b="1" dirty="0">
                  <a:solidFill>
                    <a:schemeClr val="tx1">
                      <a:lumMod val="85000"/>
                      <a:lumOff val="15000"/>
                    </a:schemeClr>
                  </a:solidFill>
                  <a:cs typeface="Amiri" panose="00000500000000000000" charset="0"/>
                </a:rPr>
                <a:t>4</a:t>
              </a:r>
              <a:endParaRPr lang="zh-CN" altLang="en-US" sz="3200" b="1" dirty="0">
                <a:solidFill>
                  <a:schemeClr val="tx1">
                    <a:lumMod val="85000"/>
                    <a:lumOff val="15000"/>
                  </a:schemeClr>
                </a:solidFill>
                <a:cs typeface="Amiri" panose="00000500000000000000" charset="0"/>
              </a:endParaRPr>
            </a:p>
          </p:txBody>
        </p:sp>
        <p:sp>
          <p:nvSpPr>
            <p:cNvPr id="125" name="矩形 124">
              <a:extLst>
                <a:ext uri="{FF2B5EF4-FFF2-40B4-BE49-F238E27FC236}">
                  <a16:creationId xmlns:a16="http://schemas.microsoft.com/office/drawing/2014/main" id="{95C105AE-187F-1357-9E1C-2E3E06599751}"/>
                </a:ext>
              </a:extLst>
            </p:cNvPr>
            <p:cNvSpPr/>
            <p:nvPr/>
          </p:nvSpPr>
          <p:spPr>
            <a:xfrm>
              <a:off x="785794" y="4625231"/>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遮蔽辨識訓練</a:t>
              </a:r>
              <a:endParaRPr lang="zh-CN" altLang="en-US" sz="2400" b="1" dirty="0">
                <a:solidFill>
                  <a:schemeClr val="tx1">
                    <a:lumMod val="75000"/>
                    <a:lumOff val="25000"/>
                  </a:schemeClr>
                </a:solidFill>
                <a:cs typeface="Amiri" panose="00000500000000000000" charset="0"/>
              </a:endParaRPr>
            </a:p>
          </p:txBody>
        </p:sp>
      </p:grpSp>
      <p:grpSp>
        <p:nvGrpSpPr>
          <p:cNvPr id="136" name="群組 135">
            <a:extLst>
              <a:ext uri="{FF2B5EF4-FFF2-40B4-BE49-F238E27FC236}">
                <a16:creationId xmlns:a16="http://schemas.microsoft.com/office/drawing/2014/main" id="{A3DE78D4-D194-7CD5-3022-4B297C41D5CF}"/>
              </a:ext>
            </a:extLst>
          </p:cNvPr>
          <p:cNvGrpSpPr/>
          <p:nvPr/>
        </p:nvGrpSpPr>
        <p:grpSpPr>
          <a:xfrm>
            <a:off x="4407192" y="4580067"/>
            <a:ext cx="2031325" cy="1562038"/>
            <a:chOff x="3514304" y="3517310"/>
            <a:chExt cx="2031325" cy="1562038"/>
          </a:xfrm>
        </p:grpSpPr>
        <p:grpSp>
          <p:nvGrpSpPr>
            <p:cNvPr id="82" name="群組 81">
              <a:extLst>
                <a:ext uri="{FF2B5EF4-FFF2-40B4-BE49-F238E27FC236}">
                  <a16:creationId xmlns:a16="http://schemas.microsoft.com/office/drawing/2014/main" id="{6C96081B-A020-01D5-0D1B-48AEE4A757CA}"/>
                </a:ext>
              </a:extLst>
            </p:cNvPr>
            <p:cNvGrpSpPr/>
            <p:nvPr/>
          </p:nvGrpSpPr>
          <p:grpSpPr>
            <a:xfrm>
              <a:off x="3889482" y="3517310"/>
              <a:ext cx="1152835" cy="921619"/>
              <a:chOff x="785794" y="1663741"/>
              <a:chExt cx="3116776" cy="2686878"/>
            </a:xfrm>
          </p:grpSpPr>
          <p:grpSp>
            <p:nvGrpSpPr>
              <p:cNvPr id="83" name="组合 4">
                <a:extLst>
                  <a:ext uri="{FF2B5EF4-FFF2-40B4-BE49-F238E27FC236}">
                    <a16:creationId xmlns:a16="http://schemas.microsoft.com/office/drawing/2014/main" id="{B523B811-2647-BC44-9874-9D00340EC6CC}"/>
                  </a:ext>
                </a:extLst>
              </p:cNvPr>
              <p:cNvGrpSpPr/>
              <p:nvPr/>
            </p:nvGrpSpPr>
            <p:grpSpPr>
              <a:xfrm flipH="1">
                <a:off x="785794" y="1663741"/>
                <a:ext cx="3116776" cy="2686878"/>
                <a:chOff x="3241129" y="967902"/>
                <a:chExt cx="5709753" cy="4922199"/>
              </a:xfrm>
            </p:grpSpPr>
            <p:grpSp>
              <p:nvGrpSpPr>
                <p:cNvPr id="85" name="组合 5">
                  <a:extLst>
                    <a:ext uri="{FF2B5EF4-FFF2-40B4-BE49-F238E27FC236}">
                      <a16:creationId xmlns:a16="http://schemas.microsoft.com/office/drawing/2014/main" id="{D30F6F98-353E-BBB7-5CB0-FA0A7315C57B}"/>
                    </a:ext>
                  </a:extLst>
                </p:cNvPr>
                <p:cNvGrpSpPr/>
                <p:nvPr/>
              </p:nvGrpSpPr>
              <p:grpSpPr>
                <a:xfrm>
                  <a:off x="3241129" y="967902"/>
                  <a:ext cx="5709753" cy="4922199"/>
                  <a:chOff x="3241126" y="967902"/>
                  <a:chExt cx="5709748" cy="4922199"/>
                </a:xfrm>
              </p:grpSpPr>
              <p:sp>
                <p:nvSpPr>
                  <p:cNvPr id="88" name="等腰三角形 87">
                    <a:extLst>
                      <a:ext uri="{FF2B5EF4-FFF2-40B4-BE49-F238E27FC236}">
                        <a16:creationId xmlns:a16="http://schemas.microsoft.com/office/drawing/2014/main" id="{6A6C4E1B-EBAB-CF7F-F6F2-9D2190E0E744}"/>
                      </a:ext>
                    </a:extLst>
                  </p:cNvPr>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89" name="直接连接符 9">
                    <a:extLst>
                      <a:ext uri="{FF2B5EF4-FFF2-40B4-BE49-F238E27FC236}">
                        <a16:creationId xmlns:a16="http://schemas.microsoft.com/office/drawing/2014/main" id="{D34650A2-DF2A-CA3B-E8E8-834144BCF0D1}"/>
                      </a:ext>
                    </a:extLst>
                  </p:cNvPr>
                  <p:cNvCxnSpPr>
                    <a:stCxn id="88"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90" name="直接连接符 10">
                    <a:extLst>
                      <a:ext uri="{FF2B5EF4-FFF2-40B4-BE49-F238E27FC236}">
                        <a16:creationId xmlns:a16="http://schemas.microsoft.com/office/drawing/2014/main" id="{A8A7F17A-56BC-0983-A08D-9FC933943605}"/>
                      </a:ext>
                    </a:extLst>
                  </p:cNvPr>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91" name="直接连接符 11">
                    <a:extLst>
                      <a:ext uri="{FF2B5EF4-FFF2-40B4-BE49-F238E27FC236}">
                        <a16:creationId xmlns:a16="http://schemas.microsoft.com/office/drawing/2014/main" id="{2532E66B-B17F-5584-C80F-AF124C0D97C7}"/>
                      </a:ext>
                    </a:extLst>
                  </p:cNvPr>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86" name="等腰三角形 85">
                  <a:extLst>
                    <a:ext uri="{FF2B5EF4-FFF2-40B4-BE49-F238E27FC236}">
                      <a16:creationId xmlns:a16="http://schemas.microsoft.com/office/drawing/2014/main" id="{A8E87FC7-2673-A871-16F0-C4248E72D152}"/>
                    </a:ext>
                  </a:extLst>
                </p:cNvPr>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87" name="等腰三角形 16">
                  <a:extLst>
                    <a:ext uri="{FF2B5EF4-FFF2-40B4-BE49-F238E27FC236}">
                      <a16:creationId xmlns:a16="http://schemas.microsoft.com/office/drawing/2014/main" id="{E4CBD961-3F42-4483-ECEF-78218CD2F6EB}"/>
                    </a:ext>
                  </a:extLst>
                </p:cNvPr>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84" name="等腰三角形 83">
                <a:extLst>
                  <a:ext uri="{FF2B5EF4-FFF2-40B4-BE49-F238E27FC236}">
                    <a16:creationId xmlns:a16="http://schemas.microsoft.com/office/drawing/2014/main" id="{61E2B459-DE03-82F4-1F20-8DB6B8101028}"/>
                  </a:ext>
                </a:extLst>
              </p:cNvPr>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123" name="文本框 35">
              <a:extLst>
                <a:ext uri="{FF2B5EF4-FFF2-40B4-BE49-F238E27FC236}">
                  <a16:creationId xmlns:a16="http://schemas.microsoft.com/office/drawing/2014/main" id="{9C85D7AA-6859-075D-6962-CA3371295F9E}"/>
                </a:ext>
              </a:extLst>
            </p:cNvPr>
            <p:cNvSpPr txBox="1"/>
            <p:nvPr/>
          </p:nvSpPr>
          <p:spPr>
            <a:xfrm>
              <a:off x="4271788" y="3807507"/>
              <a:ext cx="393056" cy="584775"/>
            </a:xfrm>
            <a:prstGeom prst="rect">
              <a:avLst/>
            </a:prstGeom>
            <a:noFill/>
          </p:spPr>
          <p:txBody>
            <a:bodyPr wrap="none" rtlCol="0">
              <a:spAutoFit/>
            </a:bodyPr>
            <a:lstStyle/>
            <a:p>
              <a:r>
                <a:rPr lang="en-US" altLang="zh-TW" sz="3200" b="1" dirty="0">
                  <a:solidFill>
                    <a:schemeClr val="tx1">
                      <a:lumMod val="85000"/>
                      <a:lumOff val="15000"/>
                    </a:schemeClr>
                  </a:solidFill>
                  <a:cs typeface="Amiri" panose="00000500000000000000" charset="0"/>
                </a:rPr>
                <a:t>5</a:t>
              </a:r>
              <a:endParaRPr lang="zh-CN" altLang="en-US" sz="3200" b="1" dirty="0">
                <a:solidFill>
                  <a:schemeClr val="tx1">
                    <a:lumMod val="85000"/>
                    <a:lumOff val="15000"/>
                  </a:schemeClr>
                </a:solidFill>
                <a:cs typeface="Amiri" panose="00000500000000000000" charset="0"/>
              </a:endParaRPr>
            </a:p>
          </p:txBody>
        </p:sp>
        <p:sp>
          <p:nvSpPr>
            <p:cNvPr id="126" name="矩形 125">
              <a:extLst>
                <a:ext uri="{FF2B5EF4-FFF2-40B4-BE49-F238E27FC236}">
                  <a16:creationId xmlns:a16="http://schemas.microsoft.com/office/drawing/2014/main" id="{7B506A81-C0D4-355D-6271-09BA4D9F49D9}"/>
                </a:ext>
              </a:extLst>
            </p:cNvPr>
            <p:cNvSpPr/>
            <p:nvPr/>
          </p:nvSpPr>
          <p:spPr>
            <a:xfrm>
              <a:off x="3514304" y="4617683"/>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色覺能力訓練</a:t>
              </a:r>
              <a:endParaRPr lang="zh-CN" altLang="en-US" sz="2400" b="1" dirty="0">
                <a:solidFill>
                  <a:schemeClr val="tx1">
                    <a:lumMod val="75000"/>
                    <a:lumOff val="25000"/>
                  </a:schemeClr>
                </a:solidFill>
                <a:cs typeface="Amiri" panose="00000500000000000000" charset="0"/>
              </a:endParaRPr>
            </a:p>
          </p:txBody>
        </p:sp>
      </p:grpSp>
      <p:grpSp>
        <p:nvGrpSpPr>
          <p:cNvPr id="134" name="群組 133">
            <a:extLst>
              <a:ext uri="{FF2B5EF4-FFF2-40B4-BE49-F238E27FC236}">
                <a16:creationId xmlns:a16="http://schemas.microsoft.com/office/drawing/2014/main" id="{331FA107-2E3F-2792-5168-D615CAB82FDB}"/>
              </a:ext>
            </a:extLst>
          </p:cNvPr>
          <p:cNvGrpSpPr/>
          <p:nvPr/>
        </p:nvGrpSpPr>
        <p:grpSpPr>
          <a:xfrm>
            <a:off x="7406455" y="4600474"/>
            <a:ext cx="2031325" cy="1602506"/>
            <a:chOff x="6408869" y="3513096"/>
            <a:chExt cx="2031325" cy="1602506"/>
          </a:xfrm>
        </p:grpSpPr>
        <p:grpSp>
          <p:nvGrpSpPr>
            <p:cNvPr id="72" name="群組 71">
              <a:extLst>
                <a:ext uri="{FF2B5EF4-FFF2-40B4-BE49-F238E27FC236}">
                  <a16:creationId xmlns:a16="http://schemas.microsoft.com/office/drawing/2014/main" id="{FE4CDD9A-67E4-E1E4-4567-6CB140BF5AB0}"/>
                </a:ext>
              </a:extLst>
            </p:cNvPr>
            <p:cNvGrpSpPr/>
            <p:nvPr/>
          </p:nvGrpSpPr>
          <p:grpSpPr>
            <a:xfrm>
              <a:off x="6789469" y="3513096"/>
              <a:ext cx="1152835" cy="921619"/>
              <a:chOff x="785794" y="1663741"/>
              <a:chExt cx="3116776" cy="2686878"/>
            </a:xfrm>
          </p:grpSpPr>
          <p:grpSp>
            <p:nvGrpSpPr>
              <p:cNvPr id="73" name="组合 4">
                <a:extLst>
                  <a:ext uri="{FF2B5EF4-FFF2-40B4-BE49-F238E27FC236}">
                    <a16:creationId xmlns:a16="http://schemas.microsoft.com/office/drawing/2014/main" id="{D2E98C11-5E28-F8C6-7B87-A9E240D9A7E9}"/>
                  </a:ext>
                </a:extLst>
              </p:cNvPr>
              <p:cNvGrpSpPr/>
              <p:nvPr/>
            </p:nvGrpSpPr>
            <p:grpSpPr>
              <a:xfrm flipH="1">
                <a:off x="785794" y="1663741"/>
                <a:ext cx="3116776" cy="2686878"/>
                <a:chOff x="3241129" y="967902"/>
                <a:chExt cx="5709753" cy="4922199"/>
              </a:xfrm>
            </p:grpSpPr>
            <p:grpSp>
              <p:nvGrpSpPr>
                <p:cNvPr id="75" name="组合 5">
                  <a:extLst>
                    <a:ext uri="{FF2B5EF4-FFF2-40B4-BE49-F238E27FC236}">
                      <a16:creationId xmlns:a16="http://schemas.microsoft.com/office/drawing/2014/main" id="{71C77F70-6639-89F6-A9D8-9EC93FCF9B41}"/>
                    </a:ext>
                  </a:extLst>
                </p:cNvPr>
                <p:cNvGrpSpPr/>
                <p:nvPr/>
              </p:nvGrpSpPr>
              <p:grpSpPr>
                <a:xfrm>
                  <a:off x="3241129" y="967902"/>
                  <a:ext cx="5709753" cy="4922199"/>
                  <a:chOff x="3241126" y="967902"/>
                  <a:chExt cx="5709748" cy="4922199"/>
                </a:xfrm>
              </p:grpSpPr>
              <p:sp>
                <p:nvSpPr>
                  <p:cNvPr id="78" name="等腰三角形 77">
                    <a:extLst>
                      <a:ext uri="{FF2B5EF4-FFF2-40B4-BE49-F238E27FC236}">
                        <a16:creationId xmlns:a16="http://schemas.microsoft.com/office/drawing/2014/main" id="{1D9E43B2-FCAD-9525-9664-D51976A7CB46}"/>
                      </a:ext>
                    </a:extLst>
                  </p:cNvPr>
                  <p:cNvSpPr/>
                  <p:nvPr/>
                </p:nvSpPr>
                <p:spPr>
                  <a:xfrm>
                    <a:off x="3241126" y="967902"/>
                    <a:ext cx="5709747" cy="4922196"/>
                  </a:xfrm>
                  <a:prstGeom prst="triangle">
                    <a:avLst/>
                  </a:prstGeom>
                  <a:solidFill>
                    <a:srgbClr val="E9E9E9"/>
                  </a:solidFill>
                  <a:ln w="57150">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cxnSp>
                <p:nvCxnSpPr>
                  <p:cNvPr id="79" name="直接连接符 9">
                    <a:extLst>
                      <a:ext uri="{FF2B5EF4-FFF2-40B4-BE49-F238E27FC236}">
                        <a16:creationId xmlns:a16="http://schemas.microsoft.com/office/drawing/2014/main" id="{F164B6EA-9ED5-8B6B-2D74-B6679A1C1B69}"/>
                      </a:ext>
                    </a:extLst>
                  </p:cNvPr>
                  <p:cNvCxnSpPr>
                    <a:stCxn id="78" idx="0"/>
                  </p:cNvCxnSpPr>
                  <p:nvPr/>
                </p:nvCxnSpPr>
                <p:spPr>
                  <a:xfrm rot="11303420" flipH="1" flipV="1">
                    <a:off x="5858688" y="985309"/>
                    <a:ext cx="474623" cy="3217900"/>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80" name="直接连接符 10">
                    <a:extLst>
                      <a:ext uri="{FF2B5EF4-FFF2-40B4-BE49-F238E27FC236}">
                        <a16:creationId xmlns:a16="http://schemas.microsoft.com/office/drawing/2014/main" id="{CAE1F1BF-E435-3CB5-749B-0BFCCE3512F1}"/>
                      </a:ext>
                    </a:extLst>
                  </p:cNvPr>
                  <p:cNvCxnSpPr/>
                  <p:nvPr/>
                </p:nvCxnSpPr>
                <p:spPr>
                  <a:xfrm flipH="1" flipV="1">
                    <a:off x="6093606" y="4240456"/>
                    <a:ext cx="2857268" cy="1649645"/>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cxnSp>
                <p:nvCxnSpPr>
                  <p:cNvPr id="81" name="直接连接符 11">
                    <a:extLst>
                      <a:ext uri="{FF2B5EF4-FFF2-40B4-BE49-F238E27FC236}">
                        <a16:creationId xmlns:a16="http://schemas.microsoft.com/office/drawing/2014/main" id="{68AE0F62-26B9-DE65-4559-0A50AE52DFD3}"/>
                      </a:ext>
                    </a:extLst>
                  </p:cNvPr>
                  <p:cNvCxnSpPr/>
                  <p:nvPr/>
                </p:nvCxnSpPr>
                <p:spPr>
                  <a:xfrm flipV="1">
                    <a:off x="3241127" y="4236312"/>
                    <a:ext cx="2864445" cy="1653789"/>
                  </a:xfrm>
                  <a:prstGeom prst="line">
                    <a:avLst/>
                  </a:prstGeom>
                  <a:ln w="76200">
                    <a:solidFill>
                      <a:srgbClr val="1A9895"/>
                    </a:solidFill>
                  </a:ln>
                </p:spPr>
                <p:style>
                  <a:lnRef idx="1">
                    <a:schemeClr val="accent1"/>
                  </a:lnRef>
                  <a:fillRef idx="0">
                    <a:schemeClr val="accent1"/>
                  </a:fillRef>
                  <a:effectRef idx="0">
                    <a:schemeClr val="accent1"/>
                  </a:effectRef>
                  <a:fontRef idx="minor">
                    <a:schemeClr val="tx1"/>
                  </a:fontRef>
                </p:style>
              </p:cxnSp>
            </p:grpSp>
            <p:sp>
              <p:nvSpPr>
                <p:cNvPr id="76" name="等腰三角形 75">
                  <a:extLst>
                    <a:ext uri="{FF2B5EF4-FFF2-40B4-BE49-F238E27FC236}">
                      <a16:creationId xmlns:a16="http://schemas.microsoft.com/office/drawing/2014/main" id="{E7E15CE4-0B71-F753-C2B4-379793FBB0AE}"/>
                    </a:ext>
                  </a:extLst>
                </p:cNvPr>
                <p:cNvSpPr/>
                <p:nvPr/>
              </p:nvSpPr>
              <p:spPr>
                <a:xfrm>
                  <a:off x="5353054" y="4334047"/>
                  <a:ext cx="1485901" cy="451940"/>
                </a:xfrm>
                <a:prstGeom prst="triangle">
                  <a:avLst/>
                </a:pr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sp>
              <p:nvSpPr>
                <p:cNvPr id="77" name="等腰三角形 16">
                  <a:extLst>
                    <a:ext uri="{FF2B5EF4-FFF2-40B4-BE49-F238E27FC236}">
                      <a16:creationId xmlns:a16="http://schemas.microsoft.com/office/drawing/2014/main" id="{4A5C0478-68D3-F51B-3389-667E45858403}"/>
                    </a:ext>
                  </a:extLst>
                </p:cNvPr>
                <p:cNvSpPr/>
                <p:nvPr/>
              </p:nvSpPr>
              <p:spPr>
                <a:xfrm rot="16200000">
                  <a:off x="5407214" y="1449360"/>
                  <a:ext cx="742950" cy="451940"/>
                </a:xfrm>
                <a:custGeom>
                  <a:avLst/>
                  <a:gdLst>
                    <a:gd name="connsiteX0" fmla="*/ 0 w 1485900"/>
                    <a:gd name="connsiteY0" fmla="*/ 451940 h 451940"/>
                    <a:gd name="connsiteX1" fmla="*/ 742950 w 1485900"/>
                    <a:gd name="connsiteY1" fmla="*/ 0 h 451940"/>
                    <a:gd name="connsiteX2" fmla="*/ 1485900 w 1485900"/>
                    <a:gd name="connsiteY2" fmla="*/ 451940 h 451940"/>
                    <a:gd name="connsiteX3" fmla="*/ 0 w 1485900"/>
                    <a:gd name="connsiteY3" fmla="*/ 451940 h 451940"/>
                    <a:gd name="connsiteX0-1" fmla="*/ 123324 w 742950"/>
                    <a:gd name="connsiteY0-2" fmla="*/ 432689 h 451940"/>
                    <a:gd name="connsiteX1-3" fmla="*/ 0 w 742950"/>
                    <a:gd name="connsiteY1-4" fmla="*/ 0 h 451940"/>
                    <a:gd name="connsiteX2-5" fmla="*/ 742950 w 742950"/>
                    <a:gd name="connsiteY2-6" fmla="*/ 451940 h 451940"/>
                    <a:gd name="connsiteX3-7" fmla="*/ 123324 w 742950"/>
                    <a:gd name="connsiteY3-8" fmla="*/ 432689 h 451940"/>
                  </a:gdLst>
                  <a:ahLst/>
                  <a:cxnLst>
                    <a:cxn ang="0">
                      <a:pos x="connsiteX0-1" y="connsiteY0-2"/>
                    </a:cxn>
                    <a:cxn ang="0">
                      <a:pos x="connsiteX1-3" y="connsiteY1-4"/>
                    </a:cxn>
                    <a:cxn ang="0">
                      <a:pos x="connsiteX2-5" y="connsiteY2-6"/>
                    </a:cxn>
                    <a:cxn ang="0">
                      <a:pos x="connsiteX3-7" y="connsiteY3-8"/>
                    </a:cxn>
                  </a:cxnLst>
                  <a:rect l="l" t="t" r="r" b="b"/>
                  <a:pathLst>
                    <a:path w="742950" h="451940">
                      <a:moveTo>
                        <a:pt x="123324" y="432689"/>
                      </a:moveTo>
                      <a:lnTo>
                        <a:pt x="0" y="0"/>
                      </a:lnTo>
                      <a:lnTo>
                        <a:pt x="742950" y="451940"/>
                      </a:lnTo>
                      <a:lnTo>
                        <a:pt x="123324" y="432689"/>
                      </a:lnTo>
                      <a:close/>
                    </a:path>
                  </a:pathLst>
                </a:custGeom>
                <a:solidFill>
                  <a:srgbClr val="1A9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Amiri" panose="00000500000000000000" charset="0"/>
                  </a:endParaRPr>
                </a:p>
              </p:txBody>
            </p:sp>
          </p:grpSp>
          <p:sp>
            <p:nvSpPr>
              <p:cNvPr id="74" name="等腰三角形 73">
                <a:extLst>
                  <a:ext uri="{FF2B5EF4-FFF2-40B4-BE49-F238E27FC236}">
                    <a16:creationId xmlns:a16="http://schemas.microsoft.com/office/drawing/2014/main" id="{CBA24005-C550-ACCF-A49F-C826340B4394}"/>
                  </a:ext>
                </a:extLst>
              </p:cNvPr>
              <p:cNvSpPr/>
              <p:nvPr/>
            </p:nvSpPr>
            <p:spPr>
              <a:xfrm rot="3600000">
                <a:off x="1376413" y="1905544"/>
                <a:ext cx="2567202" cy="2213104"/>
              </a:xfrm>
              <a:prstGeom prst="triangle">
                <a:avLst/>
              </a:prstGeom>
              <a:solidFill>
                <a:srgbClr val="E9E9E9"/>
              </a:solidFill>
              <a:ln>
                <a:solidFill>
                  <a:srgbClr val="1A98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Amiri" panose="00000500000000000000" charset="0"/>
                </a:endParaRPr>
              </a:p>
            </p:txBody>
          </p:sp>
        </p:grpSp>
        <p:sp>
          <p:nvSpPr>
            <p:cNvPr id="124" name="文本框 35">
              <a:extLst>
                <a:ext uri="{FF2B5EF4-FFF2-40B4-BE49-F238E27FC236}">
                  <a16:creationId xmlns:a16="http://schemas.microsoft.com/office/drawing/2014/main" id="{07F82D1F-EE56-51C4-32A4-320FB09D38C5}"/>
                </a:ext>
              </a:extLst>
            </p:cNvPr>
            <p:cNvSpPr txBox="1"/>
            <p:nvPr/>
          </p:nvSpPr>
          <p:spPr>
            <a:xfrm>
              <a:off x="7187802" y="3807508"/>
              <a:ext cx="393056" cy="584775"/>
            </a:xfrm>
            <a:prstGeom prst="rect">
              <a:avLst/>
            </a:prstGeom>
            <a:noFill/>
          </p:spPr>
          <p:txBody>
            <a:bodyPr wrap="none" rtlCol="0">
              <a:spAutoFit/>
            </a:bodyPr>
            <a:lstStyle/>
            <a:p>
              <a:r>
                <a:rPr lang="en-US" altLang="zh-TW" sz="3200" b="1" dirty="0">
                  <a:solidFill>
                    <a:schemeClr val="tx1">
                      <a:lumMod val="85000"/>
                      <a:lumOff val="15000"/>
                    </a:schemeClr>
                  </a:solidFill>
                  <a:cs typeface="Amiri" panose="00000500000000000000" charset="0"/>
                </a:rPr>
                <a:t>6</a:t>
              </a:r>
              <a:endParaRPr lang="zh-CN" altLang="en-US" sz="3200" b="1" dirty="0">
                <a:solidFill>
                  <a:schemeClr val="tx1">
                    <a:lumMod val="85000"/>
                    <a:lumOff val="15000"/>
                  </a:schemeClr>
                </a:solidFill>
                <a:cs typeface="Amiri" panose="00000500000000000000" charset="0"/>
              </a:endParaRPr>
            </a:p>
          </p:txBody>
        </p:sp>
        <p:sp>
          <p:nvSpPr>
            <p:cNvPr id="127" name="矩形 126">
              <a:extLst>
                <a:ext uri="{FF2B5EF4-FFF2-40B4-BE49-F238E27FC236}">
                  <a16:creationId xmlns:a16="http://schemas.microsoft.com/office/drawing/2014/main" id="{FFB74CD2-4FA5-38E1-97B1-F2DC30E12FB9}"/>
                </a:ext>
              </a:extLst>
            </p:cNvPr>
            <p:cNvSpPr/>
            <p:nvPr/>
          </p:nvSpPr>
          <p:spPr>
            <a:xfrm>
              <a:off x="6408869" y="4653937"/>
              <a:ext cx="2031325"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手眼協調訓練</a:t>
              </a:r>
              <a:endParaRPr lang="zh-CN" altLang="en-US" sz="2400" b="1" dirty="0">
                <a:solidFill>
                  <a:schemeClr val="tx1">
                    <a:lumMod val="75000"/>
                    <a:lumOff val="25000"/>
                  </a:schemeClr>
                </a:solidFill>
                <a:cs typeface="Amiri" panose="00000500000000000000" charset="0"/>
              </a:endParaRPr>
            </a:p>
          </p:txBody>
        </p:sp>
      </p:grpSp>
      <p:sp>
        <p:nvSpPr>
          <p:cNvPr id="137" name="文字方塊 136">
            <a:extLst>
              <a:ext uri="{FF2B5EF4-FFF2-40B4-BE49-F238E27FC236}">
                <a16:creationId xmlns:a16="http://schemas.microsoft.com/office/drawing/2014/main" id="{6ECC1417-605D-14CB-043A-B8890064CE05}"/>
              </a:ext>
            </a:extLst>
          </p:cNvPr>
          <p:cNvSpPr txBox="1"/>
          <p:nvPr/>
        </p:nvSpPr>
        <p:spPr>
          <a:xfrm>
            <a:off x="793135" y="1362206"/>
            <a:ext cx="3461204" cy="523220"/>
          </a:xfrm>
          <a:prstGeom prst="rect">
            <a:avLst/>
          </a:prstGeom>
          <a:noFill/>
        </p:spPr>
        <p:txBody>
          <a:bodyPr wrap="none" rtlCol="0">
            <a:spAutoFit/>
          </a:bodyPr>
          <a:lstStyle/>
          <a:p>
            <a:r>
              <a:rPr lang="zh-TW" altLang="en-US" sz="2800" b="1" dirty="0">
                <a:solidFill>
                  <a:srgbClr val="1A9895"/>
                </a:solidFill>
              </a:rPr>
              <a:t>救視英雄</a:t>
            </a:r>
            <a:r>
              <a:rPr lang="en-US" altLang="zh-TW" sz="2800" b="1" dirty="0">
                <a:solidFill>
                  <a:srgbClr val="1A9895"/>
                </a:solidFill>
              </a:rPr>
              <a:t>FULL-</a:t>
            </a:r>
            <a:r>
              <a:rPr lang="zh-TW" altLang="en-US" sz="2000" b="1" dirty="0">
                <a:solidFill>
                  <a:srgbClr val="1A9895"/>
                </a:solidFill>
              </a:rPr>
              <a:t>點睛科技</a:t>
            </a:r>
            <a:endParaRPr lang="zh-TW" altLang="en-US" sz="2800" b="1" dirty="0">
              <a:solidFill>
                <a:srgbClr val="1A9895"/>
              </a:solidFill>
            </a:endParaRPr>
          </a:p>
        </p:txBody>
      </p:sp>
      <p:sp>
        <p:nvSpPr>
          <p:cNvPr id="139" name="文字方塊 138">
            <a:extLst>
              <a:ext uri="{FF2B5EF4-FFF2-40B4-BE49-F238E27FC236}">
                <a16:creationId xmlns:a16="http://schemas.microsoft.com/office/drawing/2014/main" id="{4BE89B07-E10A-8DEA-ED25-58B9529D08E7}"/>
              </a:ext>
            </a:extLst>
          </p:cNvPr>
          <p:cNvSpPr txBox="1"/>
          <p:nvPr/>
        </p:nvSpPr>
        <p:spPr>
          <a:xfrm>
            <a:off x="1108853" y="1975302"/>
            <a:ext cx="6596678" cy="400110"/>
          </a:xfrm>
          <a:prstGeom prst="rect">
            <a:avLst/>
          </a:prstGeom>
          <a:noFill/>
        </p:spPr>
        <p:txBody>
          <a:bodyPr wrap="none" rtlCol="0">
            <a:spAutoFit/>
          </a:bodyPr>
          <a:lstStyle/>
          <a:p>
            <a:r>
              <a:rPr lang="zh-TW" altLang="en-US" sz="2000" dirty="0"/>
              <a:t>輔助幼兒每日的弱視矯正訓練及密集性眼球肌肉運動為主</a:t>
            </a:r>
          </a:p>
        </p:txBody>
      </p:sp>
      <p:pic>
        <p:nvPicPr>
          <p:cNvPr id="1026" name="Picture 2" descr="救視英雄Full by Ideabus">
            <a:extLst>
              <a:ext uri="{FF2B5EF4-FFF2-40B4-BE49-F238E27FC236}">
                <a16:creationId xmlns:a16="http://schemas.microsoft.com/office/drawing/2014/main" id="{FD7CD986-B8D3-BD1B-C510-81C24A4847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5394" y="250067"/>
            <a:ext cx="4092050" cy="2302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05</a:t>
            </a:r>
            <a:endParaRPr lang="zh-CN" altLang="en-US" sz="4000" u="sng" dirty="0">
              <a:solidFill>
                <a:srgbClr val="1A9895"/>
              </a:solidFill>
              <a:cs typeface="Amiri" panose="00000500000000000000" charset="0"/>
            </a:endParaRPr>
          </a:p>
        </p:txBody>
      </p:sp>
      <p:sp>
        <p:nvSpPr>
          <p:cNvPr id="6" name="L 形 5"/>
          <p:cNvSpPr/>
          <p:nvPr/>
        </p:nvSpPr>
        <p:spPr>
          <a:xfrm rot="2686645">
            <a:off x="4407754" y="2077532"/>
            <a:ext cx="1820938" cy="1838258"/>
          </a:xfrm>
          <a:prstGeom prst="corner">
            <a:avLst/>
          </a:prstGeom>
          <a:solidFill>
            <a:srgbClr val="A1D3D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2700">
              <a:solidFill>
                <a:prstClr val="white"/>
              </a:solidFill>
              <a:cs typeface="Amiri" panose="00000500000000000000" charset="0"/>
            </a:endParaRPr>
          </a:p>
        </p:txBody>
      </p:sp>
      <p:sp>
        <p:nvSpPr>
          <p:cNvPr id="7" name="L 形 6"/>
          <p:cNvSpPr/>
          <p:nvPr/>
        </p:nvSpPr>
        <p:spPr>
          <a:xfrm rot="8086645">
            <a:off x="5953185" y="2082916"/>
            <a:ext cx="1808999" cy="1772856"/>
          </a:xfrm>
          <a:prstGeom prst="corner">
            <a:avLst/>
          </a:prstGeom>
          <a:solidFill>
            <a:srgbClr val="1A989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2700">
              <a:solidFill>
                <a:prstClr val="white"/>
              </a:solidFill>
              <a:cs typeface="Amiri" panose="00000500000000000000" charset="0"/>
            </a:endParaRPr>
          </a:p>
        </p:txBody>
      </p:sp>
      <p:sp>
        <p:nvSpPr>
          <p:cNvPr id="8" name="L 形 7"/>
          <p:cNvSpPr/>
          <p:nvPr/>
        </p:nvSpPr>
        <p:spPr>
          <a:xfrm rot="13486645">
            <a:off x="5968158" y="3603286"/>
            <a:ext cx="1819350" cy="1819350"/>
          </a:xfrm>
          <a:prstGeom prst="corner">
            <a:avLst/>
          </a:prstGeom>
          <a:solidFill>
            <a:srgbClr val="A1D3D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2700">
              <a:solidFill>
                <a:prstClr val="white"/>
              </a:solidFill>
              <a:cs typeface="Amiri" panose="00000500000000000000" charset="0"/>
            </a:endParaRPr>
          </a:p>
        </p:txBody>
      </p:sp>
      <p:sp>
        <p:nvSpPr>
          <p:cNvPr id="9" name="L 形 8"/>
          <p:cNvSpPr/>
          <p:nvPr/>
        </p:nvSpPr>
        <p:spPr>
          <a:xfrm rot="18886645">
            <a:off x="4439908" y="3641424"/>
            <a:ext cx="1819350" cy="1819350"/>
          </a:xfrm>
          <a:prstGeom prst="corner">
            <a:avLst/>
          </a:prstGeom>
          <a:solidFill>
            <a:srgbClr val="1A989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2700">
              <a:solidFill>
                <a:prstClr val="white"/>
              </a:solidFill>
              <a:cs typeface="Amiri" panose="00000500000000000000" charset="0"/>
            </a:endParaRPr>
          </a:p>
        </p:txBody>
      </p:sp>
      <p:sp>
        <p:nvSpPr>
          <p:cNvPr id="15" name="文本框 14"/>
          <p:cNvSpPr txBox="1"/>
          <p:nvPr/>
        </p:nvSpPr>
        <p:spPr>
          <a:xfrm>
            <a:off x="4973720" y="2365811"/>
            <a:ext cx="740908" cy="1200329"/>
          </a:xfrm>
          <a:prstGeom prst="rect">
            <a:avLst/>
          </a:prstGeom>
          <a:noFill/>
        </p:spPr>
        <p:txBody>
          <a:bodyPr wrap="none" rtlCol="0">
            <a:spAutoFit/>
          </a:bodyPr>
          <a:lstStyle/>
          <a:p>
            <a:r>
              <a:rPr lang="en-US" altLang="zh-CN" sz="7200" b="1" dirty="0">
                <a:solidFill>
                  <a:schemeClr val="tx1">
                    <a:lumMod val="85000"/>
                    <a:lumOff val="15000"/>
                  </a:schemeClr>
                </a:solidFill>
                <a:cs typeface="Amiri" panose="00000500000000000000" charset="0"/>
              </a:rPr>
              <a:t>S</a:t>
            </a:r>
            <a:endParaRPr lang="zh-CN" altLang="en-US" sz="7200" b="1" dirty="0">
              <a:solidFill>
                <a:schemeClr val="tx1">
                  <a:lumMod val="85000"/>
                  <a:lumOff val="15000"/>
                </a:schemeClr>
              </a:solidFill>
              <a:cs typeface="Amiri" panose="00000500000000000000" charset="0"/>
            </a:endParaRPr>
          </a:p>
        </p:txBody>
      </p:sp>
      <p:sp>
        <p:nvSpPr>
          <p:cNvPr id="16" name="文本框 15"/>
          <p:cNvSpPr txBox="1"/>
          <p:nvPr/>
        </p:nvSpPr>
        <p:spPr>
          <a:xfrm>
            <a:off x="4874334" y="4235762"/>
            <a:ext cx="939681" cy="1200329"/>
          </a:xfrm>
          <a:prstGeom prst="rect">
            <a:avLst/>
          </a:prstGeom>
          <a:noFill/>
        </p:spPr>
        <p:txBody>
          <a:bodyPr wrap="none" rtlCol="0">
            <a:spAutoFit/>
          </a:bodyPr>
          <a:lstStyle/>
          <a:p>
            <a:r>
              <a:rPr lang="en-US" altLang="zh-CN" sz="7200" b="1" dirty="0">
                <a:solidFill>
                  <a:schemeClr val="tx1">
                    <a:lumMod val="85000"/>
                    <a:lumOff val="15000"/>
                  </a:schemeClr>
                </a:solidFill>
                <a:cs typeface="Amiri" panose="00000500000000000000" charset="0"/>
              </a:rPr>
              <a:t>O</a:t>
            </a:r>
            <a:endParaRPr lang="zh-CN" altLang="en-US" sz="7200" b="1" dirty="0">
              <a:solidFill>
                <a:schemeClr val="tx1">
                  <a:lumMod val="85000"/>
                  <a:lumOff val="15000"/>
                </a:schemeClr>
              </a:solidFill>
              <a:cs typeface="Amiri" panose="00000500000000000000" charset="0"/>
            </a:endParaRPr>
          </a:p>
        </p:txBody>
      </p:sp>
      <p:sp>
        <p:nvSpPr>
          <p:cNvPr id="17" name="文本框 16"/>
          <p:cNvSpPr txBox="1"/>
          <p:nvPr/>
        </p:nvSpPr>
        <p:spPr>
          <a:xfrm>
            <a:off x="6392232" y="4235762"/>
            <a:ext cx="761747" cy="1200329"/>
          </a:xfrm>
          <a:prstGeom prst="rect">
            <a:avLst/>
          </a:prstGeom>
          <a:noFill/>
        </p:spPr>
        <p:txBody>
          <a:bodyPr wrap="none" rtlCol="0">
            <a:spAutoFit/>
          </a:bodyPr>
          <a:lstStyle/>
          <a:p>
            <a:r>
              <a:rPr lang="en-US" altLang="zh-CN" sz="7200" b="1" dirty="0">
                <a:solidFill>
                  <a:schemeClr val="tx1">
                    <a:lumMod val="85000"/>
                    <a:lumOff val="15000"/>
                  </a:schemeClr>
                </a:solidFill>
                <a:cs typeface="Amiri" panose="00000500000000000000" charset="0"/>
              </a:rPr>
              <a:t>T</a:t>
            </a:r>
            <a:endParaRPr lang="zh-CN" altLang="en-US" sz="7200" b="1" dirty="0">
              <a:solidFill>
                <a:schemeClr val="tx1">
                  <a:lumMod val="85000"/>
                  <a:lumOff val="15000"/>
                </a:schemeClr>
              </a:solidFill>
              <a:cs typeface="Amiri" panose="00000500000000000000" charset="0"/>
            </a:endParaRPr>
          </a:p>
        </p:txBody>
      </p:sp>
      <p:sp>
        <p:nvSpPr>
          <p:cNvPr id="18" name="文本框 17"/>
          <p:cNvSpPr txBox="1"/>
          <p:nvPr/>
        </p:nvSpPr>
        <p:spPr>
          <a:xfrm>
            <a:off x="6183841" y="2365811"/>
            <a:ext cx="1178528" cy="1200329"/>
          </a:xfrm>
          <a:prstGeom prst="rect">
            <a:avLst/>
          </a:prstGeom>
          <a:noFill/>
        </p:spPr>
        <p:txBody>
          <a:bodyPr wrap="none" rtlCol="0">
            <a:spAutoFit/>
          </a:bodyPr>
          <a:lstStyle/>
          <a:p>
            <a:r>
              <a:rPr lang="en-US" altLang="zh-CN" sz="7200" b="1" dirty="0">
                <a:solidFill>
                  <a:schemeClr val="tx1">
                    <a:lumMod val="85000"/>
                    <a:lumOff val="15000"/>
                  </a:schemeClr>
                </a:solidFill>
                <a:cs typeface="Amiri" panose="00000500000000000000" charset="0"/>
              </a:rPr>
              <a:t>W</a:t>
            </a:r>
            <a:endParaRPr lang="zh-CN" altLang="en-US" sz="7200" b="1" dirty="0">
              <a:solidFill>
                <a:schemeClr val="tx1">
                  <a:lumMod val="85000"/>
                  <a:lumOff val="15000"/>
                </a:schemeClr>
              </a:solidFill>
              <a:cs typeface="Amiri" panose="00000500000000000000" charset="0"/>
            </a:endParaRPr>
          </a:p>
        </p:txBody>
      </p:sp>
      <p:sp>
        <p:nvSpPr>
          <p:cNvPr id="21" name="矩形 20"/>
          <p:cNvSpPr/>
          <p:nvPr/>
        </p:nvSpPr>
        <p:spPr>
          <a:xfrm>
            <a:off x="8124003" y="4584580"/>
            <a:ext cx="4055919" cy="369332"/>
          </a:xfrm>
          <a:prstGeom prst="rect">
            <a:avLst/>
          </a:prstGeom>
        </p:spPr>
        <p:txBody>
          <a:bodyPr wrap="none">
            <a:spAutoFit/>
          </a:bodyPr>
          <a:lstStyle/>
          <a:p>
            <a:r>
              <a:rPr lang="en-US" altLang="zh-TW" b="1" dirty="0">
                <a:solidFill>
                  <a:schemeClr val="tx1">
                    <a:lumMod val="85000"/>
                    <a:lumOff val="15000"/>
                  </a:schemeClr>
                </a:solidFill>
                <a:cs typeface="Amiri" panose="00000500000000000000" charset="0"/>
              </a:rPr>
              <a:t>1.</a:t>
            </a: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對手</a:t>
            </a:r>
            <a:r>
              <a:rPr lang="zh-TW" altLang="zh-TW" b="1" dirty="0">
                <a:solidFill>
                  <a:srgbClr val="0D0D0D"/>
                </a:solidFill>
                <a:effectLst/>
                <a:ea typeface="標楷體" panose="03000509000000000000" pitchFamily="65" charset="-120"/>
                <a:cs typeface="Gungsuh" panose="02030600000101010101" pitchFamily="18" charset="-127"/>
              </a:rPr>
              <a:t>可能開始開發有類似特性的產品</a:t>
            </a:r>
            <a:endParaRPr lang="zh-CN" altLang="en-US" b="1" dirty="0">
              <a:solidFill>
                <a:schemeClr val="tx1">
                  <a:lumMod val="85000"/>
                  <a:lumOff val="15000"/>
                </a:schemeClr>
              </a:solidFill>
              <a:cs typeface="Amiri" panose="00000500000000000000" charset="0"/>
            </a:endParaRPr>
          </a:p>
        </p:txBody>
      </p:sp>
      <p:sp>
        <p:nvSpPr>
          <p:cNvPr id="22" name="矩形 21"/>
          <p:cNvSpPr/>
          <p:nvPr/>
        </p:nvSpPr>
        <p:spPr>
          <a:xfrm>
            <a:off x="8331135" y="2291253"/>
            <a:ext cx="2941016" cy="1137747"/>
          </a:xfrm>
          <a:prstGeom prst="rect">
            <a:avLst/>
          </a:prstGeom>
        </p:spPr>
        <p:txBody>
          <a:bodyPr wrap="square">
            <a:spAutoFit/>
          </a:bodyPr>
          <a:lstStyle/>
          <a:p>
            <a:pPr>
              <a:lnSpc>
                <a:spcPct val="130000"/>
              </a:lnSpc>
            </a:pPr>
            <a:r>
              <a:rPr lang="en-US" altLang="zh-TW"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1.</a:t>
            </a: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開發成熟度不足</a:t>
            </a:r>
            <a:endParaRPr lang="en-US" altLang="zh-TW"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en-US" altLang="zh-TW"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2.</a:t>
            </a: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硬體處理速度仍須加強</a:t>
            </a:r>
            <a:endParaRPr lang="en-US" altLang="zh-TW"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en-US" altLang="zh-TW"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3.</a:t>
            </a: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須通過相關醫療法規</a:t>
            </a:r>
            <a:endParaRPr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24" name="矩形 23"/>
          <p:cNvSpPr/>
          <p:nvPr/>
        </p:nvSpPr>
        <p:spPr>
          <a:xfrm>
            <a:off x="873385" y="2454849"/>
            <a:ext cx="3189732" cy="782202"/>
          </a:xfrm>
          <a:prstGeom prst="rect">
            <a:avLst/>
          </a:prstGeom>
        </p:spPr>
        <p:txBody>
          <a:bodyPr wrap="square">
            <a:spAutoFit/>
          </a:bodyPr>
          <a:lstStyle/>
          <a:p>
            <a:pPr algn="ctr">
              <a:lnSpc>
                <a:spcPct val="130000"/>
              </a:lnSpc>
            </a:pPr>
            <a:r>
              <a:rPr lang="en-US" altLang="zh-TW" b="1" dirty="0">
                <a:solidFill>
                  <a:srgbClr val="0D0D0D"/>
                </a:solidFill>
                <a:ea typeface="標楷體" panose="03000509000000000000" pitchFamily="65" charset="-120"/>
                <a:cs typeface="Gungsuh" panose="02030600000101010101" pitchFamily="18" charset="-127"/>
              </a:rPr>
              <a:t>1.</a:t>
            </a:r>
            <a:r>
              <a:rPr lang="zh-TW" altLang="zh-TW" sz="1800" b="1" dirty="0">
                <a:solidFill>
                  <a:srgbClr val="0D0D0D"/>
                </a:solidFill>
                <a:effectLst/>
                <a:ea typeface="標楷體" panose="03000509000000000000" pitchFamily="65" charset="-120"/>
                <a:cs typeface="Gungsuh" panose="02030600000101010101" pitchFamily="18" charset="-127"/>
              </a:rPr>
              <a:t>定期的患者療程紀錄和矯正</a:t>
            </a:r>
            <a:br>
              <a:rPr lang="zh-TW" altLang="zh-TW" sz="1800" b="1" dirty="0">
                <a:solidFill>
                  <a:srgbClr val="0D0D0D"/>
                </a:solidFill>
                <a:effectLst/>
                <a:ea typeface="標楷體" panose="03000509000000000000" pitchFamily="65" charset="-120"/>
                <a:cs typeface="Gungsuh" panose="02030600000101010101" pitchFamily="18" charset="-127"/>
              </a:rPr>
            </a:br>
            <a:r>
              <a:rPr lang="en-US" altLang="zh-TW" sz="1800" b="1" dirty="0">
                <a:solidFill>
                  <a:srgbClr val="0D0D0D"/>
                </a:solidFill>
                <a:effectLst/>
                <a:ea typeface="標楷體" panose="03000509000000000000" pitchFamily="65" charset="-120"/>
                <a:cs typeface="Gungsuh" panose="02030600000101010101" pitchFamily="18" charset="-127"/>
              </a:rPr>
              <a:t>2.</a:t>
            </a:r>
            <a:r>
              <a:rPr lang="zh-TW" altLang="zh-TW" sz="1800" b="1" dirty="0">
                <a:solidFill>
                  <a:srgbClr val="0D0D0D"/>
                </a:solidFill>
                <a:effectLst/>
                <a:ea typeface="標楷體" panose="03000509000000000000" pitchFamily="65" charset="-120"/>
                <a:cs typeface="Gungsuh" panose="02030600000101010101" pitchFamily="18" charset="-127"/>
              </a:rPr>
              <a:t>具備獨特的使用者分析功能</a:t>
            </a:r>
            <a:endParaRPr sz="1200" b="1" dirty="0">
              <a:solidFill>
                <a:schemeClr val="tx1">
                  <a:lumMod val="85000"/>
                  <a:lumOff val="15000"/>
                </a:schemeClr>
              </a:solidFill>
              <a:latin typeface="Amiri" panose="00000500000000000000" charset="0"/>
              <a:ea typeface="Amiri" panose="00000500000000000000" charset="0"/>
              <a:cs typeface="Amiri" panose="00000500000000000000" charset="0"/>
            </a:endParaRPr>
          </a:p>
        </p:txBody>
      </p:sp>
      <p:sp>
        <p:nvSpPr>
          <p:cNvPr id="25" name="矩形 24"/>
          <p:cNvSpPr/>
          <p:nvPr/>
        </p:nvSpPr>
        <p:spPr>
          <a:xfrm>
            <a:off x="1093460" y="4290397"/>
            <a:ext cx="2670924" cy="923330"/>
          </a:xfrm>
          <a:prstGeom prst="rect">
            <a:avLst/>
          </a:prstGeom>
        </p:spPr>
        <p:txBody>
          <a:bodyPr wrap="none">
            <a:spAutoFit/>
          </a:bodyPr>
          <a:lstStyle/>
          <a:p>
            <a:pPr algn="ctr"/>
            <a:r>
              <a:rPr lang="en-US" altLang="zh-TW" b="1" dirty="0">
                <a:cs typeface="Amiri" panose="00000500000000000000" charset="0"/>
              </a:rPr>
              <a:t>1.</a:t>
            </a:r>
            <a:r>
              <a:rPr lang="zh-TW" altLang="zh-TW" b="1" dirty="0">
                <a:effectLst/>
                <a:ea typeface="標楷體" panose="03000509000000000000" pitchFamily="65" charset="-120"/>
                <a:cs typeface="Gungsuh" panose="02030600000101010101" pitchFamily="18" charset="-127"/>
              </a:rPr>
              <a:t>遠距醫療輔助醫師參考</a:t>
            </a:r>
            <a:endParaRPr lang="en-US" altLang="zh-TW" b="1" dirty="0">
              <a:effectLst/>
              <a:ea typeface="標楷體" panose="03000509000000000000" pitchFamily="65" charset="-120"/>
              <a:cs typeface="Gungsuh" panose="02030600000101010101" pitchFamily="18" charset="-127"/>
            </a:endParaRPr>
          </a:p>
          <a:p>
            <a:pPr algn="ctr"/>
            <a:r>
              <a:rPr lang="en-US" altLang="zh-TW" b="1" dirty="0">
                <a:ea typeface="標楷體" panose="03000509000000000000" pitchFamily="65" charset="-120"/>
                <a:cs typeface="Amiri" panose="00000500000000000000" charset="0"/>
              </a:rPr>
              <a:t>2.</a:t>
            </a:r>
            <a:r>
              <a:rPr lang="zh-TW" altLang="zh-TW" b="1" dirty="0">
                <a:effectLst/>
                <a:ea typeface="標楷體" panose="03000509000000000000" pitchFamily="65" charset="-120"/>
                <a:cs typeface="Gungsuh" panose="02030600000101010101" pitchFamily="18" charset="-127"/>
              </a:rPr>
              <a:t>數據分析技術的進步</a:t>
            </a:r>
            <a:endParaRPr lang="en-US" altLang="zh-TW" b="1" dirty="0">
              <a:effectLst/>
              <a:ea typeface="標楷體" panose="03000509000000000000" pitchFamily="65" charset="-120"/>
              <a:cs typeface="Gungsuh" panose="02030600000101010101" pitchFamily="18" charset="-127"/>
            </a:endParaRPr>
          </a:p>
          <a:p>
            <a:pPr algn="ctr"/>
            <a:r>
              <a:rPr lang="en-US" altLang="zh-TW" b="1" dirty="0">
                <a:effectLst/>
                <a:ea typeface="標楷體" panose="03000509000000000000" pitchFamily="65" charset="-120"/>
                <a:cs typeface="Gungsuh" panose="02030600000101010101" pitchFamily="18" charset="-127"/>
              </a:rPr>
              <a:t>3.</a:t>
            </a:r>
            <a:r>
              <a:rPr lang="zh-TW" altLang="zh-TW" b="1" dirty="0">
                <a:effectLst/>
                <a:ea typeface="標楷體" panose="03000509000000000000" pitchFamily="65" charset="-120"/>
                <a:cs typeface="Gungsuh" panose="02030600000101010101" pitchFamily="18" charset="-127"/>
              </a:rPr>
              <a:t>遊戲取向走回饋機制</a:t>
            </a:r>
            <a:endParaRPr lang="zh-CN" altLang="en-US" b="1" dirty="0">
              <a:cs typeface="Amiri" panose="00000500000000000000" charset="0"/>
            </a:endParaRPr>
          </a:p>
        </p:txBody>
      </p:sp>
      <p:sp>
        <p:nvSpPr>
          <p:cNvPr id="2" name="矩形 1">
            <a:extLst>
              <a:ext uri="{FF2B5EF4-FFF2-40B4-BE49-F238E27FC236}">
                <a16:creationId xmlns:a16="http://schemas.microsoft.com/office/drawing/2014/main" id="{904F711E-37B3-737E-EE31-612B8EAFD2F4}"/>
              </a:ext>
            </a:extLst>
          </p:cNvPr>
          <p:cNvSpPr/>
          <p:nvPr/>
        </p:nvSpPr>
        <p:spPr>
          <a:xfrm>
            <a:off x="1672217" y="422661"/>
            <a:ext cx="5587365" cy="646331"/>
          </a:xfrm>
          <a:prstGeom prst="rect">
            <a:avLst/>
          </a:prstGeom>
        </p:spPr>
        <p:txBody>
          <a:bodyPr wrap="square">
            <a:spAutoFit/>
          </a:bodyPr>
          <a:lstStyle/>
          <a:p>
            <a:r>
              <a:rPr lang="zh-TW" altLang="en-US" sz="3600" dirty="0">
                <a:cs typeface="Amiri" panose="00000500000000000000" charset="0"/>
              </a:rPr>
              <a:t>競品分析比對</a:t>
            </a:r>
            <a:endParaRPr lang="zh-CN" altLang="en-US" sz="3600" dirty="0">
              <a:cs typeface="Amiri" panose="00000500000000000000"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040" y="2557780"/>
            <a:ext cx="8989695" cy="1753235"/>
          </a:xfrm>
          <a:prstGeom prst="rect">
            <a:avLst/>
          </a:prstGeom>
          <a:noFill/>
        </p:spPr>
        <p:txBody>
          <a:bodyPr wrap="square" rtlCol="0">
            <a:spAutoFit/>
          </a:bodyPr>
          <a:lstStyle/>
          <a:p>
            <a:r>
              <a:rPr lang="en-US" altLang="zh-TW" sz="5400" b="1" dirty="0">
                <a:solidFill>
                  <a:schemeClr val="bg1"/>
                </a:solidFill>
                <a:cs typeface="Amiri" panose="00000500000000000000" charset="0"/>
              </a:rPr>
              <a:t>06</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醫療器材法規及專利</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6</a:t>
            </a:r>
            <a:endParaRPr lang="zh-CN" altLang="en-US" sz="4000" u="sng" dirty="0">
              <a:solidFill>
                <a:srgbClr val="1A9895"/>
              </a:solidFill>
              <a:cs typeface="Amiri" panose="00000500000000000000" charset="0"/>
            </a:endParaRPr>
          </a:p>
        </p:txBody>
      </p:sp>
      <p:sp>
        <p:nvSpPr>
          <p:cNvPr id="3" name="矩形 2"/>
          <p:cNvSpPr/>
          <p:nvPr/>
        </p:nvSpPr>
        <p:spPr>
          <a:xfrm>
            <a:off x="1651000" y="433705"/>
            <a:ext cx="6544945" cy="1200329"/>
          </a:xfrm>
          <a:prstGeom prst="rect">
            <a:avLst/>
          </a:prstGeom>
        </p:spPr>
        <p:txBody>
          <a:bodyPr wrap="square">
            <a:spAutoFit/>
          </a:bodyPr>
          <a:lstStyle/>
          <a:p>
            <a:endParaRPr lang="zh-CN" altLang="en-US" sz="3600" dirty="0">
              <a:cs typeface="Amiri" panose="00000500000000000000" charset="0"/>
            </a:endParaRPr>
          </a:p>
          <a:p>
            <a:endParaRPr lang="zh-CN" altLang="en-US" sz="3600" dirty="0">
              <a:cs typeface="Amiri" panose="00000500000000000000" charset="0"/>
            </a:endParaRPr>
          </a:p>
        </p:txBody>
      </p:sp>
      <p:sp>
        <p:nvSpPr>
          <p:cNvPr id="5" name="矩形 4"/>
          <p:cNvSpPr/>
          <p:nvPr/>
        </p:nvSpPr>
        <p:spPr>
          <a:xfrm>
            <a:off x="667658" y="1329892"/>
            <a:ext cx="1723549"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醫療器材法</a:t>
            </a:r>
            <a:endParaRPr lang="zh-CN" altLang="en-US" sz="2400" b="1" dirty="0">
              <a:solidFill>
                <a:schemeClr val="tx1">
                  <a:lumMod val="75000"/>
                  <a:lumOff val="25000"/>
                </a:schemeClr>
              </a:solidFill>
              <a:cs typeface="Amiri" panose="00000500000000000000" charset="0"/>
            </a:endParaRPr>
          </a:p>
        </p:txBody>
      </p:sp>
      <p:sp>
        <p:nvSpPr>
          <p:cNvPr id="6" name="矩形 5"/>
          <p:cNvSpPr/>
          <p:nvPr/>
        </p:nvSpPr>
        <p:spPr>
          <a:xfrm>
            <a:off x="785794" y="1802351"/>
            <a:ext cx="10539860" cy="2646878"/>
          </a:xfrm>
          <a:prstGeom prst="rect">
            <a:avLst/>
          </a:prstGeom>
        </p:spPr>
        <p:txBody>
          <a:bodyPr wrap="square">
            <a:spAutoFit/>
          </a:bodyPr>
          <a:lstStyle/>
          <a:p>
            <a:pPr algn="just">
              <a:spcBef>
                <a:spcPts val="1000"/>
              </a:spcBef>
              <a:spcAft>
                <a:spcPts val="600"/>
              </a:spcAft>
            </a:pPr>
            <a:r>
              <a:rPr lang="zh-TW" altLang="zh-TW" sz="1800" dirty="0">
                <a:solidFill>
                  <a:srgbClr val="404040"/>
                </a:solidFill>
                <a:effectLst/>
                <a:latin typeface="Arial" panose="020B0604020202020204" pitchFamily="34" charset="0"/>
                <a:ea typeface="標楷體" panose="03000509000000000000" pitchFamily="65" charset="-120"/>
                <a:cs typeface="Gungsuh" panose="02030600000101010101" pitchFamily="18" charset="-127"/>
              </a:rPr>
              <a:t>符合《醫療器材管理法》第 3 條醫療器材定義，根據本署公告修正《醫用軟體分類分級參考指引》，「醫用軟體」泛指蒐集、儲存、分析、顯示、轉換人體健康狀態、生理參數、醫療相關紀錄等處理軟體，使用場所涵蓋醫療院所、個人居家使用及遠距醫療照護，而「醫用軟體」判定屬醫療器材 110/5/7 4 管理者，則稱為「醫療器材軟體」。</a:t>
            </a:r>
            <a:endParaRPr lang="en-US" altLang="zh-TW" sz="1800" dirty="0">
              <a:solidFill>
                <a:srgbClr val="404040"/>
              </a:solidFill>
              <a:effectLst/>
              <a:latin typeface="Arial" panose="020B0604020202020204" pitchFamily="34" charset="0"/>
              <a:ea typeface="標楷體" panose="03000509000000000000" pitchFamily="65" charset="-120"/>
              <a:cs typeface="Gungsuh" panose="02030600000101010101" pitchFamily="18" charset="-127"/>
            </a:endParaRPr>
          </a:p>
          <a:p>
            <a:pPr algn="just">
              <a:spcBef>
                <a:spcPts val="1000"/>
              </a:spcBef>
              <a:spcAft>
                <a:spcPts val="600"/>
              </a:spcAft>
            </a:pPr>
            <a:r>
              <a:rPr lang="zh-TW" altLang="zh-TW" sz="1800" b="1" dirty="0">
                <a:solidFill>
                  <a:srgbClr val="1A9895"/>
                </a:solidFill>
                <a:effectLst/>
                <a:ea typeface="標楷體" panose="03000509000000000000" pitchFamily="65" charset="-120"/>
                <a:cs typeface="Gungsuh" panose="02030600000101010101" pitchFamily="18" charset="-127"/>
              </a:rPr>
              <a:t>針對醫療軟體需參考的法規或指引</a:t>
            </a:r>
            <a:endParaRPr lang="en-US" altLang="zh-TW" sz="1800" b="1" dirty="0">
              <a:solidFill>
                <a:srgbClr val="1A9895"/>
              </a:solidFill>
              <a:effectLst/>
              <a:ea typeface="標楷體" panose="03000509000000000000" pitchFamily="65" charset="-120"/>
              <a:cs typeface="Gungsuh" panose="02030600000101010101" pitchFamily="18" charset="-127"/>
            </a:endParaRPr>
          </a:p>
          <a:p>
            <a:pPr algn="just">
              <a:spcBef>
                <a:spcPts val="1000"/>
              </a:spcBef>
              <a:spcAft>
                <a:spcPts val="600"/>
              </a:spcAft>
            </a:pPr>
            <a:r>
              <a:rPr lang="zh-TW" altLang="zh-TW" sz="1800" dirty="0">
                <a:solidFill>
                  <a:srgbClr val="404040"/>
                </a:solidFill>
                <a:effectLst/>
                <a:ea typeface="標楷體" panose="03000509000000000000" pitchFamily="65" charset="-120"/>
                <a:cs typeface="Gungsuh" panose="02030600000101010101" pitchFamily="18" charset="-127"/>
              </a:rPr>
              <a:t>軟體確效</a:t>
            </a:r>
            <a:r>
              <a:rPr lang="en-US" altLang="zh-TW" sz="1800" dirty="0">
                <a:solidFill>
                  <a:srgbClr val="404040"/>
                </a:solidFill>
                <a:effectLst/>
                <a:ea typeface="標楷體" panose="03000509000000000000" pitchFamily="65" charset="-120"/>
                <a:cs typeface="Gungsuh" panose="02030600000101010101" pitchFamily="18" charset="-127"/>
              </a:rPr>
              <a:t>:</a:t>
            </a:r>
            <a:r>
              <a:rPr lang="zh-TW" altLang="zh-TW" sz="1800" dirty="0">
                <a:solidFill>
                  <a:srgbClr val="404040"/>
                </a:solidFill>
                <a:effectLst/>
                <a:ea typeface="標楷體" panose="03000509000000000000" pitchFamily="65" charset="-120"/>
                <a:cs typeface="Times New Roman" panose="02020603050405020304" pitchFamily="18" charset="0"/>
              </a:rPr>
              <a:t>IEC 62304</a:t>
            </a:r>
            <a:r>
              <a:rPr lang="zh-TW" altLang="en-US" sz="1800" dirty="0">
                <a:solidFill>
                  <a:srgbClr val="404040"/>
                </a:solidFill>
                <a:effectLst/>
                <a:ea typeface="標楷體" panose="03000509000000000000" pitchFamily="65" charset="-120"/>
                <a:cs typeface="Times New Roman" panose="02020603050405020304" pitchFamily="18" charset="0"/>
              </a:rPr>
              <a:t>、</a:t>
            </a:r>
            <a:r>
              <a:rPr lang="zh-TW" altLang="zh-TW" sz="1800" u="none" strike="noStrike" dirty="0">
                <a:solidFill>
                  <a:srgbClr val="404040"/>
                </a:solidFill>
                <a:effectLst/>
                <a:latin typeface="Arial" panose="020B0604020202020204" pitchFamily="34" charset="0"/>
                <a:ea typeface="標楷體" panose="03000509000000000000" pitchFamily="65" charset="-120"/>
                <a:cs typeface="Gungsuh" panose="02030600000101010101" pitchFamily="18" charset="-127"/>
              </a:rPr>
              <a:t>醫療器材軟體確效指引</a:t>
            </a:r>
            <a:endParaRPr lang="en-US" altLang="zh-TW" sz="1800" u="none" strike="noStrike" dirty="0">
              <a:solidFill>
                <a:srgbClr val="404040"/>
              </a:solidFill>
              <a:effectLst/>
              <a:latin typeface="Arial" panose="020B0604020202020204" pitchFamily="34" charset="0"/>
              <a:ea typeface="標楷體" panose="03000509000000000000" pitchFamily="65" charset="-120"/>
              <a:cs typeface="Gungsuh" panose="02030600000101010101" pitchFamily="18" charset="-127"/>
            </a:endParaRPr>
          </a:p>
          <a:p>
            <a:pPr algn="just">
              <a:spcBef>
                <a:spcPts val="1000"/>
              </a:spcBef>
              <a:spcAft>
                <a:spcPts val="600"/>
              </a:spcAft>
            </a:pPr>
            <a:r>
              <a:rPr lang="zh-TW" altLang="zh-TW" sz="1800" dirty="0">
                <a:solidFill>
                  <a:srgbClr val="404040"/>
                </a:solidFill>
                <a:effectLst/>
                <a:ea typeface="標楷體" panose="03000509000000000000" pitchFamily="65" charset="-120"/>
                <a:cs typeface="Gungsuh" panose="02030600000101010101" pitchFamily="18" charset="-127"/>
              </a:rPr>
              <a:t>網路安全</a:t>
            </a:r>
            <a:r>
              <a:rPr lang="en-US" altLang="zh-TW" dirty="0">
                <a:solidFill>
                  <a:srgbClr val="404040"/>
                </a:solidFill>
                <a:latin typeface="Arial" panose="020B0604020202020204" pitchFamily="34" charset="0"/>
                <a:ea typeface="標楷體" panose="03000509000000000000" pitchFamily="65" charset="-120"/>
                <a:cs typeface="Gungsuh" panose="02030600000101010101" pitchFamily="18" charset="-127"/>
              </a:rPr>
              <a:t>:</a:t>
            </a:r>
            <a:r>
              <a:rPr lang="zh-TW" altLang="zh-TW" sz="1800" dirty="0">
                <a:solidFill>
                  <a:srgbClr val="404040"/>
                </a:solidFill>
                <a:effectLst/>
                <a:ea typeface="標楷體" panose="03000509000000000000" pitchFamily="65" charset="-120"/>
                <a:cs typeface="Gungsuh" panose="02030600000101010101" pitchFamily="18" charset="-127"/>
              </a:rPr>
              <a:t>製造廠之醫療器材網路安全指引</a:t>
            </a:r>
            <a:r>
              <a:rPr lang="zh-TW" altLang="en-US" sz="1800" dirty="0">
                <a:solidFill>
                  <a:srgbClr val="404040"/>
                </a:solidFill>
                <a:effectLst/>
                <a:ea typeface="標楷體" panose="03000509000000000000" pitchFamily="65" charset="-120"/>
                <a:cs typeface="Gungsuh" panose="02030600000101010101" pitchFamily="18" charset="-127"/>
              </a:rPr>
              <a:t>、醫療器材網路安全評估分析參考範本</a:t>
            </a:r>
            <a:endParaRPr lang="zh-TW" altLang="zh-TW" sz="1800" dirty="0">
              <a:effectLst/>
              <a:latin typeface="Arial" panose="020B0604020202020204" pitchFamily="34" charset="0"/>
              <a:ea typeface="新細明體" panose="02020500000000000000" pitchFamily="18" charset="-120"/>
            </a:endParaRPr>
          </a:p>
        </p:txBody>
      </p:sp>
      <p:sp>
        <p:nvSpPr>
          <p:cNvPr id="7" name="矩形 6"/>
          <p:cNvSpPr/>
          <p:nvPr/>
        </p:nvSpPr>
        <p:spPr>
          <a:xfrm>
            <a:off x="697573" y="4510775"/>
            <a:ext cx="800219" cy="461665"/>
          </a:xfrm>
          <a:prstGeom prst="rect">
            <a:avLst/>
          </a:prstGeom>
        </p:spPr>
        <p:txBody>
          <a:bodyPr wrap="none">
            <a:spAutoFit/>
          </a:bodyPr>
          <a:lstStyle/>
          <a:p>
            <a:r>
              <a:rPr lang="zh-TW" altLang="en-US" sz="2400" b="1" dirty="0">
                <a:solidFill>
                  <a:schemeClr val="tx1">
                    <a:lumMod val="75000"/>
                    <a:lumOff val="25000"/>
                  </a:schemeClr>
                </a:solidFill>
                <a:cs typeface="Amiri" panose="00000500000000000000" charset="0"/>
              </a:rPr>
              <a:t>專利</a:t>
            </a:r>
            <a:endParaRPr lang="zh-CN" altLang="en-US" sz="2400" b="1" dirty="0">
              <a:solidFill>
                <a:schemeClr val="tx1">
                  <a:lumMod val="75000"/>
                  <a:lumOff val="25000"/>
                </a:schemeClr>
              </a:solidFill>
              <a:cs typeface="Amiri" panose="00000500000000000000" charset="0"/>
            </a:endParaRPr>
          </a:p>
        </p:txBody>
      </p:sp>
      <p:sp>
        <p:nvSpPr>
          <p:cNvPr id="4" name="矩形 3">
            <a:extLst>
              <a:ext uri="{FF2B5EF4-FFF2-40B4-BE49-F238E27FC236}">
                <a16:creationId xmlns:a16="http://schemas.microsoft.com/office/drawing/2014/main" id="{0BF9D0CE-0D4B-C17E-BDEC-11249C12DE65}"/>
              </a:ext>
            </a:extLst>
          </p:cNvPr>
          <p:cNvSpPr/>
          <p:nvPr/>
        </p:nvSpPr>
        <p:spPr>
          <a:xfrm>
            <a:off x="1672217" y="422661"/>
            <a:ext cx="5587365" cy="646331"/>
          </a:xfrm>
          <a:prstGeom prst="rect">
            <a:avLst/>
          </a:prstGeom>
        </p:spPr>
        <p:txBody>
          <a:bodyPr wrap="square">
            <a:spAutoFit/>
          </a:bodyPr>
          <a:lstStyle/>
          <a:p>
            <a:r>
              <a:rPr lang="zh-TW" altLang="en-US" sz="3600" dirty="0">
                <a:cs typeface="Amiri" panose="00000500000000000000" charset="0"/>
              </a:rPr>
              <a:t>醫療器材法規及專利</a:t>
            </a:r>
            <a:endParaRPr lang="zh-CN" altLang="en-US" sz="3600" dirty="0">
              <a:cs typeface="Amiri" panose="00000500000000000000" charset="0"/>
            </a:endParaRPr>
          </a:p>
        </p:txBody>
      </p:sp>
      <p:pic>
        <p:nvPicPr>
          <p:cNvPr id="8" name="圖片 7" descr="一張含有 文字, 字型, 螢幕擷取畫面, 水 的圖片&#10;&#10;自動產生的描述">
            <a:extLst>
              <a:ext uri="{FF2B5EF4-FFF2-40B4-BE49-F238E27FC236}">
                <a16:creationId xmlns:a16="http://schemas.microsoft.com/office/drawing/2014/main" id="{9EE425AB-3A8F-A7F4-CC5C-E1D11CAC3EFA}"/>
              </a:ext>
            </a:extLst>
          </p:cNvPr>
          <p:cNvPicPr>
            <a:picLocks noChangeAspect="1"/>
          </p:cNvPicPr>
          <p:nvPr/>
        </p:nvPicPr>
        <p:blipFill>
          <a:blip r:embed="rId3"/>
          <a:stretch>
            <a:fillRect/>
          </a:stretch>
        </p:blipFill>
        <p:spPr>
          <a:xfrm>
            <a:off x="1097682" y="4972440"/>
            <a:ext cx="9297279" cy="1162546"/>
          </a:xfrm>
          <a:prstGeom prst="rect">
            <a:avLst/>
          </a:prstGeom>
        </p:spPr>
      </p:pic>
    </p:spTree>
    <p:extLst>
      <p:ext uri="{BB962C8B-B14F-4D97-AF65-F5344CB8AC3E}">
        <p14:creationId xmlns:p14="http://schemas.microsoft.com/office/powerpoint/2010/main" val="263418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040" y="2557780"/>
            <a:ext cx="8989695" cy="1753235"/>
          </a:xfrm>
          <a:prstGeom prst="rect">
            <a:avLst/>
          </a:prstGeom>
          <a:noFill/>
        </p:spPr>
        <p:txBody>
          <a:bodyPr wrap="square" rtlCol="0">
            <a:spAutoFit/>
          </a:bodyPr>
          <a:lstStyle/>
          <a:p>
            <a:r>
              <a:rPr lang="en-US" altLang="zh-TW" sz="5400" b="1" dirty="0">
                <a:solidFill>
                  <a:schemeClr val="bg1"/>
                </a:solidFill>
                <a:cs typeface="Amiri" panose="00000500000000000000" charset="0"/>
              </a:rPr>
              <a:t>07</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商業模式</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435756"/>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8"/>
          <p:cNvCxnSpPr/>
          <p:nvPr/>
        </p:nvCxnSpPr>
        <p:spPr>
          <a:xfrm>
            <a:off x="6441007" y="1728776"/>
            <a:ext cx="0" cy="2112000"/>
          </a:xfrm>
          <a:prstGeom prst="line">
            <a:avLst/>
          </a:prstGeom>
          <a:noFill/>
          <a:ln w="9525" cap="flat" cmpd="sng" algn="ctr">
            <a:solidFill>
              <a:schemeClr val="tx1">
                <a:lumMod val="85000"/>
                <a:lumOff val="15000"/>
              </a:schemeClr>
            </a:solidFill>
            <a:prstDash val="solid"/>
          </a:ln>
          <a:effectLst/>
        </p:spPr>
      </p:cxnSp>
      <p:sp>
        <p:nvSpPr>
          <p:cNvPr id="3" name="文本框 2"/>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7</a:t>
            </a:r>
            <a:endParaRPr lang="zh-CN" altLang="en-US" sz="4000" u="sng" dirty="0">
              <a:solidFill>
                <a:srgbClr val="1A9895"/>
              </a:solidFill>
              <a:cs typeface="Amiri" panose="00000500000000000000" charset="0"/>
            </a:endParaRPr>
          </a:p>
        </p:txBody>
      </p:sp>
      <p:sp>
        <p:nvSpPr>
          <p:cNvPr id="11" name="文本框 8"/>
          <p:cNvSpPr txBox="1"/>
          <p:nvPr/>
        </p:nvSpPr>
        <p:spPr>
          <a:xfrm>
            <a:off x="4040809" y="1731504"/>
            <a:ext cx="1929819"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219200">
              <a:defRPr/>
            </a:pP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預估收益模式</a:t>
            </a:r>
            <a:endParaRPr lang="en-US" altLang="zh-CN"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p:txBody>
      </p:sp>
      <p:grpSp>
        <p:nvGrpSpPr>
          <p:cNvPr id="26" name="群組 25">
            <a:extLst>
              <a:ext uri="{FF2B5EF4-FFF2-40B4-BE49-F238E27FC236}">
                <a16:creationId xmlns:a16="http://schemas.microsoft.com/office/drawing/2014/main" id="{5954EA71-E545-A360-807B-113848EB09E9}"/>
              </a:ext>
            </a:extLst>
          </p:cNvPr>
          <p:cNvGrpSpPr/>
          <p:nvPr/>
        </p:nvGrpSpPr>
        <p:grpSpPr>
          <a:xfrm>
            <a:off x="489098" y="1984349"/>
            <a:ext cx="8284697" cy="4893728"/>
            <a:chOff x="463678" y="1501369"/>
            <a:chExt cx="8284697" cy="4893728"/>
          </a:xfrm>
        </p:grpSpPr>
        <p:cxnSp>
          <p:nvCxnSpPr>
            <p:cNvPr id="16" name="直接连接符 20"/>
            <p:cNvCxnSpPr/>
            <p:nvPr/>
          </p:nvCxnSpPr>
          <p:spPr>
            <a:xfrm>
              <a:off x="3929357" y="1889426"/>
              <a:ext cx="0" cy="1344000"/>
            </a:xfrm>
            <a:prstGeom prst="line">
              <a:avLst/>
            </a:prstGeom>
            <a:noFill/>
            <a:ln w="9525" cap="flat" cmpd="sng" algn="ctr">
              <a:solidFill>
                <a:schemeClr val="tx1">
                  <a:lumMod val="85000"/>
                  <a:lumOff val="15000"/>
                </a:schemeClr>
              </a:solidFill>
              <a:prstDash val="solid"/>
            </a:ln>
            <a:effectLst/>
          </p:spPr>
        </p:cxnSp>
        <p:sp>
          <p:nvSpPr>
            <p:cNvPr id="5" name="等腰三角形 4"/>
            <p:cNvSpPr>
              <a:spLocks noChangeAspect="1"/>
            </p:cNvSpPr>
            <p:nvPr/>
          </p:nvSpPr>
          <p:spPr>
            <a:xfrm rot="6331942">
              <a:off x="6821410" y="2988437"/>
              <a:ext cx="1933929" cy="1920000"/>
            </a:xfrm>
            <a:prstGeom prst="triangle">
              <a:avLst>
                <a:gd name="adj" fmla="val 29723"/>
              </a:avLst>
            </a:prstGeom>
            <a:solidFill>
              <a:srgbClr val="1A9895"/>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6" name="等腰三角形 5"/>
            <p:cNvSpPr>
              <a:spLocks noChangeAspect="1"/>
            </p:cNvSpPr>
            <p:nvPr/>
          </p:nvSpPr>
          <p:spPr>
            <a:xfrm rot="6331942">
              <a:off x="5833251" y="3228438"/>
              <a:ext cx="1450447" cy="1440000"/>
            </a:xfrm>
            <a:prstGeom prst="triangle">
              <a:avLst>
                <a:gd name="adj" fmla="val 29723"/>
              </a:avLst>
            </a:prstGeom>
            <a:solidFill>
              <a:srgbClr val="A1D3D0"/>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7" name="等腰三角形 6"/>
            <p:cNvSpPr>
              <a:spLocks noChangeAspect="1"/>
            </p:cNvSpPr>
            <p:nvPr/>
          </p:nvSpPr>
          <p:spPr>
            <a:xfrm rot="6331942">
              <a:off x="4762150" y="3228438"/>
              <a:ext cx="1450447" cy="1440000"/>
            </a:xfrm>
            <a:prstGeom prst="triangle">
              <a:avLst>
                <a:gd name="adj" fmla="val 29723"/>
              </a:avLst>
            </a:prstGeom>
            <a:solidFill>
              <a:schemeClr val="bg1">
                <a:lumMod val="50000"/>
              </a:schemeClr>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8" name="等腰三角形 7"/>
            <p:cNvSpPr>
              <a:spLocks noChangeAspect="1"/>
            </p:cNvSpPr>
            <p:nvPr/>
          </p:nvSpPr>
          <p:spPr>
            <a:xfrm rot="6331942">
              <a:off x="3682134" y="3228438"/>
              <a:ext cx="1450447" cy="1440000"/>
            </a:xfrm>
            <a:prstGeom prst="triangle">
              <a:avLst>
                <a:gd name="adj" fmla="val 29723"/>
              </a:avLst>
            </a:prstGeom>
            <a:solidFill>
              <a:schemeClr val="bg1">
                <a:lumMod val="75000"/>
              </a:schemeClr>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9" name="等腰三角形 8"/>
            <p:cNvSpPr>
              <a:spLocks noChangeAspect="1"/>
            </p:cNvSpPr>
            <p:nvPr/>
          </p:nvSpPr>
          <p:spPr>
            <a:xfrm rot="6331942">
              <a:off x="2637931" y="3250033"/>
              <a:ext cx="1307691" cy="1452101"/>
            </a:xfrm>
            <a:custGeom>
              <a:avLst/>
              <a:gdLst>
                <a:gd name="connsiteX0" fmla="*/ 0 w 1096977"/>
                <a:gd name="connsiteY0" fmla="*/ 1089076 h 1089076"/>
                <a:gd name="connsiteX1" fmla="*/ 326054 w 1096977"/>
                <a:gd name="connsiteY1" fmla="*/ 0 h 1089076"/>
                <a:gd name="connsiteX2" fmla="*/ 1096977 w 1096977"/>
                <a:gd name="connsiteY2" fmla="*/ 1089076 h 1089076"/>
                <a:gd name="connsiteX3" fmla="*/ 0 w 1096977"/>
                <a:gd name="connsiteY3" fmla="*/ 1089076 h 1089076"/>
                <a:gd name="connsiteX0-1" fmla="*/ 0 w 980768"/>
                <a:gd name="connsiteY0-2" fmla="*/ 819512 h 1089076"/>
                <a:gd name="connsiteX1-3" fmla="*/ 209845 w 980768"/>
                <a:gd name="connsiteY1-4" fmla="*/ 0 h 1089076"/>
                <a:gd name="connsiteX2-5" fmla="*/ 980768 w 980768"/>
                <a:gd name="connsiteY2-6" fmla="*/ 1089076 h 1089076"/>
                <a:gd name="connsiteX3-7" fmla="*/ 0 w 980768"/>
                <a:gd name="connsiteY3-8" fmla="*/ 819512 h 1089076"/>
              </a:gdLst>
              <a:ahLst/>
              <a:cxnLst>
                <a:cxn ang="0">
                  <a:pos x="connsiteX0-1" y="connsiteY0-2"/>
                </a:cxn>
                <a:cxn ang="0">
                  <a:pos x="connsiteX1-3" y="connsiteY1-4"/>
                </a:cxn>
                <a:cxn ang="0">
                  <a:pos x="connsiteX2-5" y="connsiteY2-6"/>
                </a:cxn>
                <a:cxn ang="0">
                  <a:pos x="connsiteX3-7" y="connsiteY3-8"/>
                </a:cxn>
              </a:cxnLst>
              <a:rect l="l" t="t" r="r" b="b"/>
              <a:pathLst>
                <a:path w="980768" h="1089076">
                  <a:moveTo>
                    <a:pt x="0" y="819512"/>
                  </a:moveTo>
                  <a:lnTo>
                    <a:pt x="209845" y="0"/>
                  </a:lnTo>
                  <a:lnTo>
                    <a:pt x="980768" y="1089076"/>
                  </a:lnTo>
                  <a:lnTo>
                    <a:pt x="0" y="819512"/>
                  </a:lnTo>
                  <a:close/>
                </a:path>
              </a:pathLst>
            </a:custGeom>
            <a:solidFill>
              <a:schemeClr val="bg1">
                <a:lumMod val="85000"/>
              </a:schemeClr>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10" name="椭圆 9"/>
            <p:cNvSpPr/>
            <p:nvPr/>
          </p:nvSpPr>
          <p:spPr>
            <a:xfrm>
              <a:off x="7662107" y="3472126"/>
              <a:ext cx="240000" cy="240000"/>
            </a:xfrm>
            <a:prstGeom prst="ellipse">
              <a:avLst/>
            </a:prstGeom>
            <a:solidFill>
              <a:sysClr val="window" lastClr="FFFFFF"/>
            </a:solidFill>
            <a:ln w="25400" cap="flat" cmpd="sng" algn="ctr">
              <a:noFill/>
              <a:prstDash val="solid"/>
            </a:ln>
            <a:effectLst/>
          </p:spPr>
          <p:txBody>
            <a:bodyPr rtlCol="0" anchor="ctr"/>
            <a:lstStyle/>
            <a:p>
              <a:pPr algn="ctr" defTabSz="1219200">
                <a:defRPr/>
              </a:pPr>
              <a:endParaRPr lang="en-US" kern="0">
                <a:solidFill>
                  <a:sysClr val="window" lastClr="FFFFFF"/>
                </a:solidFill>
                <a:latin typeface="Amiri" panose="00000500000000000000" charset="0"/>
                <a:ea typeface="Amiri" panose="00000500000000000000" charset="0"/>
                <a:cs typeface="Amiri" panose="00000500000000000000" charset="0"/>
              </a:endParaRPr>
            </a:p>
          </p:txBody>
        </p:sp>
        <p:sp>
          <p:nvSpPr>
            <p:cNvPr id="12" name="文本框 8"/>
            <p:cNvSpPr txBox="1"/>
            <p:nvPr/>
          </p:nvSpPr>
          <p:spPr>
            <a:xfrm>
              <a:off x="2159957" y="1834921"/>
              <a:ext cx="1749247"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219200">
                <a:defRPr/>
              </a:pPr>
              <a:r>
                <a:rPr lang="zh-TW" altLang="en-US"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rPr>
                <a:t>產品行銷策略</a:t>
              </a:r>
              <a:endParaRPr lang="en-US" altLang="zh-CN" b="1" dirty="0">
                <a:solidFill>
                  <a:schemeClr val="tx1">
                    <a:lumMod val="85000"/>
                    <a:lumOff val="1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 name="文本框 8"/>
            <p:cNvSpPr txBox="1"/>
            <p:nvPr/>
          </p:nvSpPr>
          <p:spPr>
            <a:xfrm>
              <a:off x="3494464" y="4447447"/>
              <a:ext cx="196932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219200">
                <a:defRPr/>
              </a:pPr>
              <a:r>
                <a:rPr lang="zh-TW" altLang="en-US" b="1" dirty="0">
                  <a:solidFill>
                    <a:sysClr val="windowText" lastClr="000000">
                      <a:lumMod val="85000"/>
                      <a:lumOff val="15000"/>
                    </a:sysClr>
                  </a:solidFill>
                  <a:latin typeface="標楷體" panose="03000509000000000000" pitchFamily="65" charset="-120"/>
                  <a:ea typeface="標楷體" panose="03000509000000000000" pitchFamily="65" charset="-120"/>
                  <a:cs typeface="Amiri" panose="00000500000000000000" charset="0"/>
                </a:rPr>
                <a:t>必要成本結構</a:t>
              </a:r>
              <a:endParaRPr lang="en-US" altLang="zh-CN" b="1" dirty="0">
                <a:solidFill>
                  <a:sysClr val="windowText" lastClr="000000">
                    <a:lumMod val="85000"/>
                    <a:lumOff val="15000"/>
                  </a:sysClr>
                </a:solidFill>
                <a:latin typeface="標楷體" panose="03000509000000000000" pitchFamily="65" charset="-120"/>
                <a:ea typeface="標楷體" panose="03000509000000000000" pitchFamily="65" charset="-120"/>
                <a:cs typeface="Amiri" panose="00000500000000000000" charset="0"/>
              </a:endParaRPr>
            </a:p>
          </p:txBody>
        </p:sp>
        <p:cxnSp>
          <p:nvCxnSpPr>
            <p:cNvPr id="15" name="直接连接符 19"/>
            <p:cNvCxnSpPr/>
            <p:nvPr/>
          </p:nvCxnSpPr>
          <p:spPr>
            <a:xfrm>
              <a:off x="5420779" y="4133765"/>
              <a:ext cx="0" cy="1720255"/>
            </a:xfrm>
            <a:prstGeom prst="line">
              <a:avLst/>
            </a:prstGeom>
            <a:noFill/>
            <a:ln w="9525" cap="flat" cmpd="sng" algn="ctr">
              <a:solidFill>
                <a:sysClr val="windowText" lastClr="000000">
                  <a:lumMod val="75000"/>
                  <a:lumOff val="25000"/>
                </a:sysClr>
              </a:solidFill>
              <a:prstDash val="solid"/>
            </a:ln>
            <a:effectLst/>
          </p:spPr>
        </p:cxnSp>
        <p:cxnSp>
          <p:nvCxnSpPr>
            <p:cNvPr id="17" name="直接连接符 21"/>
            <p:cNvCxnSpPr/>
            <p:nvPr/>
          </p:nvCxnSpPr>
          <p:spPr>
            <a:xfrm>
              <a:off x="3136181" y="4122346"/>
              <a:ext cx="0" cy="1344000"/>
            </a:xfrm>
            <a:prstGeom prst="line">
              <a:avLst/>
            </a:prstGeom>
            <a:noFill/>
            <a:ln w="9525" cap="flat" cmpd="sng" algn="ctr">
              <a:solidFill>
                <a:srgbClr val="215968"/>
              </a:solidFill>
              <a:prstDash val="solid"/>
            </a:ln>
            <a:effectLst/>
          </p:spPr>
        </p:cxnSp>
        <p:sp>
          <p:nvSpPr>
            <p:cNvPr id="18" name="矩形 17"/>
            <p:cNvSpPr/>
            <p:nvPr/>
          </p:nvSpPr>
          <p:spPr>
            <a:xfrm>
              <a:off x="4426186" y="1501369"/>
              <a:ext cx="2142191" cy="1021626"/>
            </a:xfrm>
            <a:prstGeom prst="rect">
              <a:avLst/>
            </a:prstGeom>
          </p:spPr>
          <p:txBody>
            <a:bodyPr wrap="square">
              <a:spAutoFit/>
            </a:bodyPr>
            <a:lstStyle/>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1.</a:t>
              </a:r>
              <a:r>
                <a:rPr lang="zh-TW" altLang="en-US" sz="1600" dirty="0">
                  <a:latin typeface="標楷體" panose="03000509000000000000" pitchFamily="65" charset="-120"/>
                  <a:ea typeface="標楷體" panose="03000509000000000000" pitchFamily="65" charset="-120"/>
                  <a:cs typeface="Arial" panose="020B0604020202020204" pitchFamily="34" charset="0"/>
                </a:rPr>
                <a:t>向醫院收取授權費</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2.</a:t>
              </a:r>
              <a:r>
                <a:rPr lang="zh-TW" altLang="en-US" sz="1600" dirty="0">
                  <a:latin typeface="標楷體" panose="03000509000000000000" pitchFamily="65" charset="-120"/>
                  <a:ea typeface="標楷體" panose="03000509000000000000" pitchFamily="65" charset="-120"/>
                  <a:cs typeface="Arial" panose="020B0604020202020204" pitchFamily="34" charset="0"/>
                </a:rPr>
                <a:t>向用戶收取訂閱費</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3.</a:t>
              </a:r>
              <a:r>
                <a:rPr lang="zh-TW" altLang="en-US" sz="1600" dirty="0">
                  <a:latin typeface="標楷體" panose="03000509000000000000" pitchFamily="65" charset="-120"/>
                  <a:ea typeface="標楷體" panose="03000509000000000000" pitchFamily="65" charset="-120"/>
                  <a:cs typeface="Arial" panose="020B0604020202020204" pitchFamily="34" charset="0"/>
                </a:rPr>
                <a:t>販售數據</a:t>
              </a:r>
              <a:endParaRPr lang="zh-CN" altLang="en-US" sz="1600" dirty="0">
                <a:latin typeface="標楷體" panose="03000509000000000000" pitchFamily="65" charset="-120"/>
                <a:ea typeface="標楷體" panose="03000509000000000000" pitchFamily="65" charset="-120"/>
                <a:cs typeface="Arial" panose="020B0604020202020204" pitchFamily="34" charset="0"/>
              </a:endParaRPr>
            </a:p>
          </p:txBody>
        </p:sp>
        <p:sp>
          <p:nvSpPr>
            <p:cNvPr id="19" name="矩形 18"/>
            <p:cNvSpPr/>
            <p:nvPr/>
          </p:nvSpPr>
          <p:spPr>
            <a:xfrm>
              <a:off x="3909204" y="4733295"/>
              <a:ext cx="2142191" cy="1661802"/>
            </a:xfrm>
            <a:prstGeom prst="rect">
              <a:avLst/>
            </a:prstGeom>
          </p:spPr>
          <p:txBody>
            <a:bodyPr wrap="square">
              <a:spAutoFit/>
            </a:bodyPr>
            <a:lstStyle/>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1.</a:t>
              </a:r>
              <a:r>
                <a:rPr lang="zh-TW" altLang="en-US" sz="1600" dirty="0">
                  <a:latin typeface="標楷體" panose="03000509000000000000" pitchFamily="65" charset="-120"/>
                  <a:ea typeface="標楷體" panose="03000509000000000000" pitchFamily="65" charset="-120"/>
                  <a:cs typeface="Arial" panose="020B0604020202020204" pitchFamily="34" charset="0"/>
                </a:rPr>
                <a:t>研發費用</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2.</a:t>
              </a:r>
              <a:r>
                <a:rPr lang="zh-TW" altLang="en-US" sz="1600" dirty="0">
                  <a:latin typeface="標楷體" panose="03000509000000000000" pitchFamily="65" charset="-120"/>
                  <a:ea typeface="標楷體" panose="03000509000000000000" pitchFamily="65" charset="-120"/>
                  <a:cs typeface="Arial" panose="020B0604020202020204" pitchFamily="34" charset="0"/>
                </a:rPr>
                <a:t>行銷推廣費用</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3.</a:t>
              </a:r>
              <a:r>
                <a:rPr lang="zh-TW" altLang="en-US" sz="1600" dirty="0">
                  <a:latin typeface="標楷體" panose="03000509000000000000" pitchFamily="65" charset="-120"/>
                  <a:ea typeface="標楷體" panose="03000509000000000000" pitchFamily="65" charset="-120"/>
                  <a:cs typeface="Arial" panose="020B0604020202020204" pitchFamily="34" charset="0"/>
                </a:rPr>
                <a:t>營運費用</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4.</a:t>
              </a:r>
              <a:r>
                <a:rPr lang="zh-TW" altLang="en-US" sz="1600" dirty="0">
                  <a:latin typeface="標楷體" panose="03000509000000000000" pitchFamily="65" charset="-120"/>
                  <a:ea typeface="標楷體" panose="03000509000000000000" pitchFamily="65" charset="-120"/>
                  <a:cs typeface="Arial" panose="020B0604020202020204" pitchFamily="34" charset="0"/>
                </a:rPr>
                <a:t>獲客成本</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5.</a:t>
              </a:r>
              <a:r>
                <a:rPr lang="zh-TW" altLang="en-US" sz="1600" dirty="0">
                  <a:latin typeface="標楷體" panose="03000509000000000000" pitchFamily="65" charset="-120"/>
                  <a:ea typeface="標楷體" panose="03000509000000000000" pitchFamily="65" charset="-120"/>
                  <a:cs typeface="Arial" panose="020B0604020202020204" pitchFamily="34" charset="0"/>
                </a:rPr>
                <a:t>人力成本</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p:txBody>
        </p:sp>
        <p:sp>
          <p:nvSpPr>
            <p:cNvPr id="20" name="文本框 8"/>
            <p:cNvSpPr txBox="1"/>
            <p:nvPr/>
          </p:nvSpPr>
          <p:spPr>
            <a:xfrm>
              <a:off x="1617348" y="4895271"/>
              <a:ext cx="150101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219200">
                <a:defRPr/>
              </a:pPr>
              <a:r>
                <a:rPr lang="zh-TW" altLang="en-US" sz="2000" b="1" dirty="0">
                  <a:solidFill>
                    <a:sysClr val="windowText" lastClr="000000">
                      <a:lumMod val="85000"/>
                      <a:lumOff val="15000"/>
                    </a:sysClr>
                  </a:solidFill>
                  <a:latin typeface="標楷體" panose="03000509000000000000" pitchFamily="65" charset="-120"/>
                  <a:ea typeface="標楷體" panose="03000509000000000000" pitchFamily="65" charset="-120"/>
                  <a:cs typeface="Amiri" panose="00000500000000000000" charset="0"/>
                </a:rPr>
                <a:t>合作團隊</a:t>
              </a:r>
              <a:endParaRPr lang="en-US" altLang="zh-CN" sz="2000" b="1" dirty="0">
                <a:solidFill>
                  <a:sysClr val="windowText" lastClr="000000">
                    <a:lumMod val="85000"/>
                    <a:lumOff val="15000"/>
                  </a:sysClr>
                </a:solidFill>
                <a:latin typeface="標楷體" panose="03000509000000000000" pitchFamily="65" charset="-120"/>
                <a:ea typeface="標楷體" panose="03000509000000000000" pitchFamily="65" charset="-120"/>
                <a:cs typeface="Amiri" panose="00000500000000000000" charset="0"/>
              </a:endParaRPr>
            </a:p>
          </p:txBody>
        </p:sp>
        <p:sp>
          <p:nvSpPr>
            <p:cNvPr id="21" name="矩形 20"/>
            <p:cNvSpPr/>
            <p:nvPr/>
          </p:nvSpPr>
          <p:spPr>
            <a:xfrm>
              <a:off x="1787167" y="2140166"/>
              <a:ext cx="2142191" cy="1021626"/>
            </a:xfrm>
            <a:prstGeom prst="rect">
              <a:avLst/>
            </a:prstGeom>
          </p:spPr>
          <p:txBody>
            <a:bodyPr wrap="square">
              <a:spAutoFit/>
            </a:bodyPr>
            <a:lstStyle/>
            <a:p>
              <a:pPr lvl="0" algn="r">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1.</a:t>
              </a:r>
              <a:r>
                <a:rPr lang="zh-TW" altLang="en-US" sz="1600" dirty="0">
                  <a:latin typeface="標楷體" panose="03000509000000000000" pitchFamily="65" charset="-120"/>
                  <a:ea typeface="標楷體" panose="03000509000000000000" pitchFamily="65" charset="-120"/>
                  <a:cs typeface="Arial" panose="020B0604020202020204" pitchFamily="34" charset="0"/>
                </a:rPr>
                <a:t>醫院合作</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gn="r">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2.</a:t>
              </a:r>
              <a:r>
                <a:rPr lang="zh-TW" altLang="en-US" sz="1600" dirty="0">
                  <a:latin typeface="標楷體" panose="03000509000000000000" pitchFamily="65" charset="-120"/>
                  <a:ea typeface="標楷體" panose="03000509000000000000" pitchFamily="65" charset="-120"/>
                  <a:cs typeface="Arial" panose="020B0604020202020204" pitchFamily="34" charset="0"/>
                </a:rPr>
                <a:t>線上行銷</a:t>
              </a:r>
              <a:endParaRPr lang="en-US" altLang="zh-TW" sz="1600" dirty="0">
                <a:latin typeface="標楷體" panose="03000509000000000000" pitchFamily="65" charset="-120"/>
                <a:ea typeface="標楷體" panose="03000509000000000000" pitchFamily="65" charset="-120"/>
                <a:cs typeface="Arial" panose="020B0604020202020204" pitchFamily="34" charset="0"/>
              </a:endParaRPr>
            </a:p>
            <a:p>
              <a:pPr lvl="0" algn="r">
                <a:lnSpc>
                  <a:spcPct val="130000"/>
                </a:lnSpc>
              </a:pPr>
              <a:r>
                <a:rPr lang="en-US" altLang="zh-TW" sz="1600" dirty="0">
                  <a:latin typeface="標楷體" panose="03000509000000000000" pitchFamily="65" charset="-120"/>
                  <a:ea typeface="標楷體" panose="03000509000000000000" pitchFamily="65" charset="-120"/>
                  <a:cs typeface="Arial" panose="020B0604020202020204" pitchFamily="34" charset="0"/>
                </a:rPr>
                <a:t>3.</a:t>
              </a:r>
              <a:r>
                <a:rPr lang="zh-TW" altLang="en-US" sz="1600" dirty="0">
                  <a:latin typeface="標楷體" panose="03000509000000000000" pitchFamily="65" charset="-120"/>
                  <a:ea typeface="標楷體" panose="03000509000000000000" pitchFamily="65" charset="-120"/>
                  <a:cs typeface="Arial" panose="020B0604020202020204" pitchFamily="34" charset="0"/>
                </a:rPr>
                <a:t>口碑推薦</a:t>
              </a:r>
              <a:endParaRPr lang="zh-CN" altLang="en-US" sz="1600" dirty="0">
                <a:latin typeface="標楷體" panose="03000509000000000000" pitchFamily="65" charset="-120"/>
                <a:ea typeface="標楷體" panose="03000509000000000000" pitchFamily="65" charset="-120"/>
                <a:cs typeface="Arial" panose="020B0604020202020204" pitchFamily="34" charset="0"/>
              </a:endParaRPr>
            </a:p>
          </p:txBody>
        </p:sp>
        <p:sp>
          <p:nvSpPr>
            <p:cNvPr id="22" name="矩形 21"/>
            <p:cNvSpPr/>
            <p:nvPr/>
          </p:nvSpPr>
          <p:spPr>
            <a:xfrm>
              <a:off x="463678" y="5211664"/>
              <a:ext cx="2690318" cy="705065"/>
            </a:xfrm>
            <a:prstGeom prst="rect">
              <a:avLst/>
            </a:prstGeom>
          </p:spPr>
          <p:txBody>
            <a:bodyPr wrap="square">
              <a:spAutoFit/>
            </a:bodyPr>
            <a:lstStyle/>
            <a:p>
              <a:pPr lvl="0" algn="r">
                <a:lnSpc>
                  <a:spcPct val="130000"/>
                </a:lnSpc>
              </a:pPr>
              <a:r>
                <a:rPr lang="zh-TW" altLang="en-US" sz="1600" dirty="0">
                  <a:latin typeface="標楷體" panose="03000509000000000000" pitchFamily="65" charset="-120"/>
                  <a:ea typeface="標楷體" panose="03000509000000000000" pitchFamily="65" charset="-120"/>
                  <a:cs typeface="Arial" panose="020B0604020202020204" pitchFamily="34" charset="0"/>
                </a:rPr>
                <a:t>眼科醫師、視光師、復健師、工程師組成專業團隊</a:t>
              </a:r>
              <a:endParaRPr lang="zh-CN" altLang="en-US" sz="1600" dirty="0">
                <a:latin typeface="標楷體" panose="03000509000000000000" pitchFamily="65" charset="-120"/>
                <a:ea typeface="標楷體" panose="03000509000000000000" pitchFamily="65" charset="-120"/>
                <a:cs typeface="Arial" panose="020B0604020202020204" pitchFamily="34" charset="0"/>
              </a:endParaRPr>
            </a:p>
          </p:txBody>
        </p:sp>
      </p:grpSp>
      <p:grpSp>
        <p:nvGrpSpPr>
          <p:cNvPr id="23" name="组 21"/>
          <p:cNvGrpSpPr/>
          <p:nvPr/>
        </p:nvGrpSpPr>
        <p:grpSpPr>
          <a:xfrm>
            <a:off x="8927237" y="2191516"/>
            <a:ext cx="3380874" cy="2956764"/>
            <a:chOff x="3559158" y="669460"/>
            <a:chExt cx="2304086" cy="2217570"/>
          </a:xfrm>
        </p:grpSpPr>
        <p:sp>
          <p:nvSpPr>
            <p:cNvPr id="24" name="文本框 8"/>
            <p:cNvSpPr txBox="1"/>
            <p:nvPr/>
          </p:nvSpPr>
          <p:spPr>
            <a:xfrm>
              <a:off x="3560787" y="920773"/>
              <a:ext cx="2302457" cy="19662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rPr>
                <a:t>1.</a:t>
              </a:r>
              <a:r>
                <a:rPr lang="zh-TW" altLang="en-US" sz="1600" b="1" dirty="0">
                  <a:solidFill>
                    <a:srgbClr val="404040"/>
                  </a:solidFill>
                  <a:latin typeface="標楷體" panose="03000509000000000000" pitchFamily="65" charset="-120"/>
                  <a:ea typeface="標楷體" panose="03000509000000000000" pitchFamily="65" charset="-120"/>
                  <a:cs typeface="Amiri" panose="00000500000000000000" charset="0"/>
                </a:rPr>
                <a:t>收益預測</a:t>
              </a:r>
              <a:endPar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zh-TW" altLang="en-US" sz="1600" dirty="0"/>
                <a:t> </a:t>
              </a:r>
              <a:r>
                <a:rPr lang="zh-TW" altLang="en-US" sz="1600" dirty="0">
                  <a:latin typeface="標楷體" panose="03000509000000000000" pitchFamily="65" charset="-120"/>
                  <a:ea typeface="標楷體" panose="03000509000000000000" pitchFamily="65" charset="-120"/>
                </a:rPr>
                <a:t>預測發展未來三年後能有收益進帳</a:t>
              </a:r>
              <a:endParaRPr lang="en-US" altLang="zh-TW" sz="1600" dirty="0">
                <a:solidFill>
                  <a:srgbClr val="404040"/>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rPr>
                <a:t>2.</a:t>
              </a:r>
              <a:r>
                <a:rPr lang="zh-TW" altLang="en-US" sz="1600" b="1" dirty="0">
                  <a:solidFill>
                    <a:srgbClr val="404040"/>
                  </a:solidFill>
                  <a:latin typeface="標楷體" panose="03000509000000000000" pitchFamily="65" charset="-120"/>
                  <a:ea typeface="標楷體" panose="03000509000000000000" pitchFamily="65" charset="-120"/>
                  <a:cs typeface="Amiri" panose="00000500000000000000" charset="0"/>
                </a:rPr>
                <a:t>成本預測</a:t>
              </a:r>
              <a:endPar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zh-TW" altLang="en-US" sz="1600" dirty="0">
                  <a:latin typeface="標楷體" panose="03000509000000000000" pitchFamily="65" charset="-120"/>
                  <a:ea typeface="標楷體" panose="03000509000000000000" pitchFamily="65" charset="-120"/>
                </a:rPr>
                <a:t>根據研發、行銷、營運等費用預測三年內成本能損益兩平</a:t>
              </a:r>
              <a:endParaRPr lang="en-US" altLang="zh-TW" sz="1600" dirty="0">
                <a:solidFill>
                  <a:srgbClr val="404040"/>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rPr>
                <a:t>3.</a:t>
              </a:r>
              <a:r>
                <a:rPr lang="zh-TW" altLang="en-US" sz="1600" b="1" dirty="0">
                  <a:solidFill>
                    <a:srgbClr val="404040"/>
                  </a:solidFill>
                  <a:latin typeface="標楷體" panose="03000509000000000000" pitchFamily="65" charset="-120"/>
                  <a:ea typeface="標楷體" panose="03000509000000000000" pitchFamily="65" charset="-120"/>
                  <a:cs typeface="Amiri" panose="00000500000000000000" charset="0"/>
                </a:rPr>
                <a:t>獲利預測</a:t>
              </a:r>
              <a:endParaRPr lang="en-US" altLang="zh-TW" sz="1600" b="1" dirty="0">
                <a:solidFill>
                  <a:srgbClr val="404040"/>
                </a:solidFill>
                <a:latin typeface="標楷體" panose="03000509000000000000" pitchFamily="65" charset="-120"/>
                <a:ea typeface="標楷體" panose="03000509000000000000" pitchFamily="65" charset="-120"/>
                <a:cs typeface="Amiri" panose="00000500000000000000" charset="0"/>
              </a:endParaRPr>
            </a:p>
            <a:p>
              <a:pPr>
                <a:lnSpc>
                  <a:spcPct val="130000"/>
                </a:lnSpc>
              </a:pPr>
              <a:r>
                <a:rPr lang="zh-TW" altLang="en-US" sz="1600" dirty="0">
                  <a:latin typeface="標楷體" panose="03000509000000000000" pitchFamily="65" charset="-120"/>
                  <a:ea typeface="標楷體" panose="03000509000000000000" pitchFamily="65" charset="-120"/>
                </a:rPr>
                <a:t>根據收益和成本預測，預測未來三年後開始獲利</a:t>
              </a:r>
              <a:endParaRPr lang="zh-CN" altLang="en-US" sz="1600" dirty="0">
                <a:solidFill>
                  <a:srgbClr val="404040"/>
                </a:solidFill>
                <a:latin typeface="標楷體" panose="03000509000000000000" pitchFamily="65" charset="-120"/>
                <a:ea typeface="標楷體" panose="03000509000000000000" pitchFamily="65" charset="-120"/>
                <a:cs typeface="Amiri" panose="00000500000000000000" charset="0"/>
              </a:endParaRPr>
            </a:p>
          </p:txBody>
        </p:sp>
        <p:sp>
          <p:nvSpPr>
            <p:cNvPr id="25" name="矩形 24"/>
            <p:cNvSpPr/>
            <p:nvPr/>
          </p:nvSpPr>
          <p:spPr>
            <a:xfrm>
              <a:off x="3559158" y="669460"/>
              <a:ext cx="907940" cy="300082"/>
            </a:xfrm>
            <a:prstGeom prst="rect">
              <a:avLst/>
            </a:prstGeom>
          </p:spPr>
          <p:txBody>
            <a:bodyPr wrap="none">
              <a:spAutoFit/>
            </a:bodyPr>
            <a:lstStyle/>
            <a:p>
              <a:r>
                <a:rPr lang="zh-TW" altLang="en-US" sz="2000" b="1" dirty="0">
                  <a:solidFill>
                    <a:srgbClr val="2FB7A3"/>
                  </a:solidFill>
                  <a:latin typeface="標楷體" panose="03000509000000000000" pitchFamily="65" charset="-120"/>
                  <a:ea typeface="標楷體" panose="03000509000000000000" pitchFamily="65" charset="-120"/>
                  <a:cs typeface="Amiri" panose="00000500000000000000" charset="0"/>
                </a:rPr>
                <a:t>財務預測</a:t>
              </a:r>
              <a:endParaRPr lang="zh-CN" altLang="en-US" sz="2000" b="1" dirty="0">
                <a:solidFill>
                  <a:srgbClr val="2FB7A3"/>
                </a:solidFill>
                <a:latin typeface="標楷體" panose="03000509000000000000" pitchFamily="65" charset="-120"/>
                <a:ea typeface="標楷體" panose="03000509000000000000" pitchFamily="65" charset="-120"/>
                <a:cs typeface="Amiri" panose="00000500000000000000" charset="0"/>
              </a:endParaRPr>
            </a:p>
          </p:txBody>
        </p:sp>
      </p:grpSp>
      <p:sp>
        <p:nvSpPr>
          <p:cNvPr id="2" name="矩形 1">
            <a:extLst>
              <a:ext uri="{FF2B5EF4-FFF2-40B4-BE49-F238E27FC236}">
                <a16:creationId xmlns:a16="http://schemas.microsoft.com/office/drawing/2014/main" id="{A623CEB9-4EE2-BC0E-C822-E22C8640815F}"/>
              </a:ext>
            </a:extLst>
          </p:cNvPr>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商業模式</a:t>
            </a:r>
            <a:endParaRPr lang="zh-CN" altLang="en-US" sz="3600" dirty="0">
              <a:cs typeface="Amiri" panose="00000500000000000000" charset="0"/>
            </a:endParaRPr>
          </a:p>
        </p:txBody>
      </p:sp>
      <p:sp>
        <p:nvSpPr>
          <p:cNvPr id="27" name="文字方塊 26">
            <a:extLst>
              <a:ext uri="{FF2B5EF4-FFF2-40B4-BE49-F238E27FC236}">
                <a16:creationId xmlns:a16="http://schemas.microsoft.com/office/drawing/2014/main" id="{66A1B26A-E8F8-5BDB-A11D-20AB9B563A20}"/>
              </a:ext>
            </a:extLst>
          </p:cNvPr>
          <p:cNvSpPr txBox="1"/>
          <p:nvPr/>
        </p:nvSpPr>
        <p:spPr>
          <a:xfrm>
            <a:off x="1343854" y="1149663"/>
            <a:ext cx="10572125" cy="646331"/>
          </a:xfrm>
          <a:prstGeom prst="rect">
            <a:avLst/>
          </a:prstGeom>
          <a:noFill/>
        </p:spPr>
        <p:txBody>
          <a:bodyPr wrap="none" rtlCol="0">
            <a:spAutoFit/>
          </a:bodyPr>
          <a:lstStyle/>
          <a:p>
            <a:r>
              <a:rPr lang="zh-TW" altLang="zh-TW" sz="1800" dirty="0">
                <a:solidFill>
                  <a:srgbClr val="0D0D0D"/>
                </a:solidFill>
                <a:effectLst/>
                <a:latin typeface="Arial" panose="020B0604020202020204" pitchFamily="34" charset="0"/>
                <a:ea typeface="標楷體" panose="03000509000000000000" pitchFamily="65" charset="-120"/>
                <a:cs typeface="Gungsuh" panose="02030600000101010101" pitchFamily="18" charset="-127"/>
              </a:rPr>
              <a:t>將包括裝置的銷售和行動應用程式的訂閱服務。用戶可以透過購買裝置和訂閱方案來使用產品和服務。</a:t>
            </a:r>
            <a:endParaRPr lang="zh-TW" altLang="zh-TW" sz="1800" dirty="0">
              <a:effectLst/>
              <a:latin typeface="Arial" panose="020B0604020202020204" pitchFamily="34" charset="0"/>
              <a:ea typeface="新細明體" panose="02020500000000000000" pitchFamily="18" charset="-120"/>
            </a:endParaRPr>
          </a:p>
          <a:p>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040" y="2557780"/>
            <a:ext cx="8989695" cy="1753235"/>
          </a:xfrm>
          <a:prstGeom prst="rect">
            <a:avLst/>
          </a:prstGeom>
          <a:noFill/>
        </p:spPr>
        <p:txBody>
          <a:bodyPr wrap="square" rtlCol="0">
            <a:spAutoFit/>
          </a:bodyPr>
          <a:lstStyle/>
          <a:p>
            <a:r>
              <a:rPr lang="en-US" altLang="zh-TW" sz="5400" b="1" dirty="0">
                <a:solidFill>
                  <a:schemeClr val="bg1"/>
                </a:solidFill>
                <a:cs typeface="Amiri" panose="00000500000000000000" charset="0"/>
              </a:rPr>
              <a:t>08</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時間與詳細規劃</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21194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8</a:t>
            </a:r>
            <a:endParaRPr lang="zh-CN" altLang="en-US" sz="4000" u="sng" dirty="0">
              <a:solidFill>
                <a:srgbClr val="1A9895"/>
              </a:solidFill>
              <a:cs typeface="Amiri" panose="00000500000000000000" charset="0"/>
            </a:endParaRPr>
          </a:p>
        </p:txBody>
      </p:sp>
      <p:grpSp>
        <p:nvGrpSpPr>
          <p:cNvPr id="6" name="群組 5">
            <a:extLst>
              <a:ext uri="{FF2B5EF4-FFF2-40B4-BE49-F238E27FC236}">
                <a16:creationId xmlns:a16="http://schemas.microsoft.com/office/drawing/2014/main" id="{D48D2A37-B53F-BB0A-8BDD-7288645FA09A}"/>
              </a:ext>
            </a:extLst>
          </p:cNvPr>
          <p:cNvGrpSpPr/>
          <p:nvPr/>
        </p:nvGrpSpPr>
        <p:grpSpPr>
          <a:xfrm>
            <a:off x="2442924" y="2446193"/>
            <a:ext cx="904941" cy="1965613"/>
            <a:chOff x="2879619" y="1757360"/>
            <a:chExt cx="904941" cy="1965613"/>
          </a:xfrm>
        </p:grpSpPr>
        <p:sp>
          <p:nvSpPr>
            <p:cNvPr id="98" name="燕尾形 97"/>
            <p:cNvSpPr/>
            <p:nvPr/>
          </p:nvSpPr>
          <p:spPr>
            <a:xfrm>
              <a:off x="2879619" y="1757360"/>
              <a:ext cx="812269" cy="1965613"/>
            </a:xfrm>
            <a:prstGeom prst="chevron">
              <a:avLst>
                <a:gd name="adj" fmla="val 65810"/>
              </a:avLst>
            </a:prstGeom>
            <a:solidFill>
              <a:schemeClr val="bg1">
                <a:lumMod val="65000"/>
              </a:schemeClr>
            </a:solidFill>
            <a:ln w="25400"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Amiri" panose="00000500000000000000" charset="0"/>
                <a:ea typeface="Amiri" panose="00000500000000000000" charset="0"/>
                <a:cs typeface="Amiri" panose="00000500000000000000" charset="0"/>
              </a:endParaRPr>
            </a:p>
          </p:txBody>
        </p:sp>
        <p:sp>
          <p:nvSpPr>
            <p:cNvPr id="102" name="矩形 31"/>
            <p:cNvSpPr/>
            <p:nvPr/>
          </p:nvSpPr>
          <p:spPr>
            <a:xfrm>
              <a:off x="3066990" y="2381374"/>
              <a:ext cx="717570" cy="717569"/>
            </a:xfrm>
            <a:prstGeom prst="ellipse">
              <a:avLst/>
            </a:prstGeom>
            <a:solidFill>
              <a:srgbClr val="E9E9E9"/>
            </a:solidFill>
            <a:ln w="25400" cap="flat" cmpd="sng" algn="ctr">
              <a:solidFill>
                <a:srgbClr val="1A9895"/>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1A9895"/>
                  </a:solidFill>
                  <a:effectLst/>
                  <a:uLnTx/>
                  <a:uFillTx/>
                  <a:latin typeface="+mj-ea"/>
                  <a:ea typeface="+mj-ea"/>
                  <a:cs typeface="Amiri" panose="00000500000000000000" charset="0"/>
                </a:rPr>
                <a:t>1</a:t>
              </a:r>
              <a:endParaRPr kumimoji="0" lang="zh-CN" altLang="en-US" sz="2400" b="1" i="0" u="none" strike="noStrike" kern="0" cap="none" spc="0" normalizeH="0" baseline="0" noProof="0" dirty="0">
                <a:ln>
                  <a:noFill/>
                </a:ln>
                <a:solidFill>
                  <a:srgbClr val="1A9895"/>
                </a:solidFill>
                <a:effectLst/>
                <a:uLnTx/>
                <a:uFillTx/>
                <a:latin typeface="+mj-ea"/>
                <a:ea typeface="+mj-ea"/>
                <a:cs typeface="Amiri" panose="00000500000000000000" charset="0"/>
              </a:endParaRPr>
            </a:p>
          </p:txBody>
        </p:sp>
      </p:grpSp>
      <p:grpSp>
        <p:nvGrpSpPr>
          <p:cNvPr id="7" name="群組 6">
            <a:extLst>
              <a:ext uri="{FF2B5EF4-FFF2-40B4-BE49-F238E27FC236}">
                <a16:creationId xmlns:a16="http://schemas.microsoft.com/office/drawing/2014/main" id="{4175D284-1C11-FE35-C418-641C285F0E12}"/>
              </a:ext>
            </a:extLst>
          </p:cNvPr>
          <p:cNvGrpSpPr/>
          <p:nvPr/>
        </p:nvGrpSpPr>
        <p:grpSpPr>
          <a:xfrm>
            <a:off x="5148854" y="2448778"/>
            <a:ext cx="977499" cy="1965613"/>
            <a:chOff x="6308717" y="1757360"/>
            <a:chExt cx="977499" cy="1965613"/>
          </a:xfrm>
        </p:grpSpPr>
        <p:sp>
          <p:nvSpPr>
            <p:cNvPr id="110" name="燕尾形 109"/>
            <p:cNvSpPr/>
            <p:nvPr/>
          </p:nvSpPr>
          <p:spPr>
            <a:xfrm>
              <a:off x="6308717" y="1757360"/>
              <a:ext cx="812269" cy="1965613"/>
            </a:xfrm>
            <a:prstGeom prst="chevron">
              <a:avLst>
                <a:gd name="adj" fmla="val 65810"/>
              </a:avLst>
            </a:prstGeom>
            <a:solidFill>
              <a:srgbClr val="A1D3D0"/>
            </a:solidFill>
            <a:ln w="25400"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Amiri" panose="00000500000000000000" charset="0"/>
                <a:ea typeface="Amiri" panose="00000500000000000000" charset="0"/>
                <a:cs typeface="Amiri" panose="00000500000000000000" charset="0"/>
              </a:endParaRPr>
            </a:p>
          </p:txBody>
        </p:sp>
        <p:sp>
          <p:nvSpPr>
            <p:cNvPr id="131" name="矩形 31"/>
            <p:cNvSpPr/>
            <p:nvPr/>
          </p:nvSpPr>
          <p:spPr>
            <a:xfrm>
              <a:off x="6568646" y="2381374"/>
              <a:ext cx="717570" cy="717569"/>
            </a:xfrm>
            <a:prstGeom prst="ellipse">
              <a:avLst/>
            </a:prstGeom>
            <a:solidFill>
              <a:srgbClr val="E9E9E9"/>
            </a:solidFill>
            <a:ln w="25400" cap="flat" cmpd="sng" algn="ctr">
              <a:solidFill>
                <a:srgbClr val="1A9895"/>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1A9895"/>
                  </a:solidFill>
                  <a:effectLst/>
                  <a:uLnTx/>
                  <a:uFillTx/>
                  <a:latin typeface="+mj-ea"/>
                  <a:ea typeface="+mj-ea"/>
                  <a:cs typeface="Amiri" panose="00000500000000000000" charset="0"/>
                </a:rPr>
                <a:t>2</a:t>
              </a:r>
              <a:endParaRPr kumimoji="0" lang="zh-CN" altLang="en-US" sz="2400" b="1" i="0" u="none" strike="noStrike" kern="0" cap="none" spc="0" normalizeH="0" baseline="0" noProof="0" dirty="0">
                <a:ln>
                  <a:noFill/>
                </a:ln>
                <a:solidFill>
                  <a:srgbClr val="1A9895"/>
                </a:solidFill>
                <a:effectLst/>
                <a:uLnTx/>
                <a:uFillTx/>
                <a:latin typeface="+mj-ea"/>
                <a:ea typeface="+mj-ea"/>
                <a:cs typeface="Amiri" panose="00000500000000000000" charset="0"/>
              </a:endParaRPr>
            </a:p>
          </p:txBody>
        </p:sp>
      </p:grpSp>
      <p:grpSp>
        <p:nvGrpSpPr>
          <p:cNvPr id="8" name="群組 7">
            <a:extLst>
              <a:ext uri="{FF2B5EF4-FFF2-40B4-BE49-F238E27FC236}">
                <a16:creationId xmlns:a16="http://schemas.microsoft.com/office/drawing/2014/main" id="{B214E9EE-6E68-26B5-3859-1A8ACA8D7B99}"/>
              </a:ext>
            </a:extLst>
          </p:cNvPr>
          <p:cNvGrpSpPr/>
          <p:nvPr/>
        </p:nvGrpSpPr>
        <p:grpSpPr>
          <a:xfrm>
            <a:off x="7826246" y="2448778"/>
            <a:ext cx="943731" cy="1965613"/>
            <a:chOff x="9737816" y="1757360"/>
            <a:chExt cx="943731" cy="1965613"/>
          </a:xfrm>
        </p:grpSpPr>
        <p:sp>
          <p:nvSpPr>
            <p:cNvPr id="113" name="燕尾形 112"/>
            <p:cNvSpPr/>
            <p:nvPr/>
          </p:nvSpPr>
          <p:spPr>
            <a:xfrm>
              <a:off x="9737816" y="1757360"/>
              <a:ext cx="812269" cy="1965613"/>
            </a:xfrm>
            <a:prstGeom prst="chevron">
              <a:avLst>
                <a:gd name="adj" fmla="val 65810"/>
              </a:avLst>
            </a:prstGeom>
            <a:solidFill>
              <a:srgbClr val="1A9895"/>
            </a:solidFill>
            <a:ln w="25400"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Amiri" panose="00000500000000000000" charset="0"/>
                <a:ea typeface="Amiri" panose="00000500000000000000" charset="0"/>
                <a:cs typeface="Amiri" panose="00000500000000000000" charset="0"/>
              </a:endParaRPr>
            </a:p>
          </p:txBody>
        </p:sp>
        <p:sp>
          <p:nvSpPr>
            <p:cNvPr id="132" name="矩形 31"/>
            <p:cNvSpPr/>
            <p:nvPr/>
          </p:nvSpPr>
          <p:spPr>
            <a:xfrm>
              <a:off x="9963977" y="2381374"/>
              <a:ext cx="717570" cy="717569"/>
            </a:xfrm>
            <a:prstGeom prst="ellipse">
              <a:avLst/>
            </a:prstGeom>
            <a:solidFill>
              <a:srgbClr val="E9E9E9"/>
            </a:solidFill>
            <a:ln w="25400" cap="flat" cmpd="sng" algn="ctr">
              <a:solidFill>
                <a:srgbClr val="1A9895"/>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1A9895"/>
                  </a:solidFill>
                  <a:effectLst/>
                  <a:uLnTx/>
                  <a:uFillTx/>
                  <a:latin typeface="+mj-ea"/>
                  <a:ea typeface="+mj-ea"/>
                  <a:cs typeface="Amiri" panose="00000500000000000000" charset="0"/>
                </a:rPr>
                <a:t>3</a:t>
              </a:r>
              <a:endParaRPr kumimoji="0" lang="zh-CN" altLang="en-US" sz="2400" b="1" i="0" u="none" strike="noStrike" kern="0" cap="none" spc="0" normalizeH="0" baseline="0" noProof="0" dirty="0">
                <a:ln>
                  <a:noFill/>
                </a:ln>
                <a:solidFill>
                  <a:srgbClr val="1A9895"/>
                </a:solidFill>
                <a:effectLst/>
                <a:uLnTx/>
                <a:uFillTx/>
                <a:latin typeface="+mj-ea"/>
                <a:ea typeface="+mj-ea"/>
                <a:cs typeface="Amiri" panose="00000500000000000000" charset="0"/>
              </a:endParaRPr>
            </a:p>
          </p:txBody>
        </p:sp>
      </p:grpSp>
      <p:sp>
        <p:nvSpPr>
          <p:cNvPr id="133" name="矩形 132"/>
          <p:cNvSpPr/>
          <p:nvPr/>
        </p:nvSpPr>
        <p:spPr>
          <a:xfrm>
            <a:off x="457264" y="3028881"/>
            <a:ext cx="1980029" cy="400110"/>
          </a:xfrm>
          <a:prstGeom prst="rect">
            <a:avLst/>
          </a:prstGeom>
        </p:spPr>
        <p:txBody>
          <a:bodyPr wrap="none">
            <a:spAutoFit/>
          </a:bodyPr>
          <a:lstStyle/>
          <a:p>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第一階段</a:t>
            </a:r>
            <a:r>
              <a:rPr lang="en-US" altLang="zh-TW"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-6</a:t>
            </a:r>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個月</a:t>
            </a:r>
            <a:endParaRPr lang="zh-CN"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4" name="矩形 133"/>
          <p:cNvSpPr/>
          <p:nvPr/>
        </p:nvSpPr>
        <p:spPr>
          <a:xfrm>
            <a:off x="482690" y="3428991"/>
            <a:ext cx="2147605" cy="701539"/>
          </a:xfrm>
          <a:prstGeom prst="rect">
            <a:avLst/>
          </a:prstGeom>
        </p:spPr>
        <p:txBody>
          <a:bodyPr wrap="square">
            <a:spAutoFit/>
          </a:bodyPr>
          <a:lstStyle/>
          <a:p>
            <a:pPr>
              <a:lnSpc>
                <a:spcPct val="130000"/>
              </a:lnSpc>
            </a:pPr>
            <a:r>
              <a:rPr lang="zh-TW" altLang="en-US" sz="16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完成系統開發及臨床測試</a:t>
            </a:r>
            <a:endParaRPr sz="16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5" name="矩形 134"/>
          <p:cNvSpPr/>
          <p:nvPr/>
        </p:nvSpPr>
        <p:spPr>
          <a:xfrm>
            <a:off x="3316975" y="3064900"/>
            <a:ext cx="2108269" cy="400110"/>
          </a:xfrm>
          <a:prstGeom prst="rect">
            <a:avLst/>
          </a:prstGeom>
        </p:spPr>
        <p:txBody>
          <a:bodyPr wrap="none">
            <a:spAutoFit/>
          </a:bodyPr>
          <a:lstStyle/>
          <a:p>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第二部分</a:t>
            </a:r>
            <a:r>
              <a:rPr lang="en-US" altLang="zh-TW"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-12</a:t>
            </a:r>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個月</a:t>
            </a:r>
            <a:endParaRPr lang="zh-CN"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6" name="矩形 135"/>
          <p:cNvSpPr/>
          <p:nvPr/>
        </p:nvSpPr>
        <p:spPr>
          <a:xfrm>
            <a:off x="3417220" y="3428991"/>
            <a:ext cx="2147605" cy="705065"/>
          </a:xfrm>
          <a:prstGeom prst="rect">
            <a:avLst/>
          </a:prstGeom>
        </p:spPr>
        <p:txBody>
          <a:bodyPr wrap="square">
            <a:spAutoFit/>
          </a:bodyPr>
          <a:lstStyle/>
          <a:p>
            <a:pPr>
              <a:lnSpc>
                <a:spcPct val="130000"/>
              </a:lnSpc>
            </a:pPr>
            <a:r>
              <a:rPr lang="zh-TW" altLang="en-US" sz="16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與醫院眼科、眼鏡行合作推廣</a:t>
            </a:r>
            <a:endParaRPr sz="16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7" name="矩形 136"/>
          <p:cNvSpPr/>
          <p:nvPr/>
        </p:nvSpPr>
        <p:spPr>
          <a:xfrm>
            <a:off x="6019727" y="3028881"/>
            <a:ext cx="2108269" cy="400110"/>
          </a:xfrm>
          <a:prstGeom prst="rect">
            <a:avLst/>
          </a:prstGeom>
        </p:spPr>
        <p:txBody>
          <a:bodyPr wrap="none">
            <a:spAutoFit/>
          </a:bodyPr>
          <a:lstStyle/>
          <a:p>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第三階段</a:t>
            </a:r>
            <a:r>
              <a:rPr lang="en-US" altLang="zh-TW"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-12</a:t>
            </a:r>
            <a:r>
              <a:rPr lang="zh-TW"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個月</a:t>
            </a:r>
            <a:endParaRPr lang="zh-CN" altLang="en-US" sz="2000"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38" name="矩形 137"/>
          <p:cNvSpPr/>
          <p:nvPr/>
        </p:nvSpPr>
        <p:spPr>
          <a:xfrm>
            <a:off x="6057426" y="3419155"/>
            <a:ext cx="2147605" cy="705065"/>
          </a:xfrm>
          <a:prstGeom prst="rect">
            <a:avLst/>
          </a:prstGeom>
        </p:spPr>
        <p:txBody>
          <a:bodyPr wrap="square">
            <a:spAutoFit/>
          </a:bodyPr>
          <a:lstStyle/>
          <a:p>
            <a:pPr>
              <a:lnSpc>
                <a:spcPct val="130000"/>
              </a:lnSpc>
            </a:pPr>
            <a:r>
              <a:rPr lang="zh-TW" altLang="en-US" sz="1600" b="1" dirty="0">
                <a:latin typeface="標楷體" panose="03000509000000000000" pitchFamily="65" charset="-120"/>
                <a:ea typeface="標楷體" panose="03000509000000000000" pitchFamily="65" charset="-120"/>
                <a:cs typeface="Amiri" panose="00000500000000000000" charset="0"/>
              </a:rPr>
              <a:t>向患者推廣訂閱視服務</a:t>
            </a:r>
            <a:endParaRPr sz="1600" b="1" dirty="0">
              <a:latin typeface="標楷體" panose="03000509000000000000" pitchFamily="65" charset="-120"/>
              <a:ea typeface="標楷體" panose="03000509000000000000" pitchFamily="65" charset="-120"/>
              <a:cs typeface="Amiri" panose="00000500000000000000" charset="0"/>
            </a:endParaRPr>
          </a:p>
        </p:txBody>
      </p:sp>
      <p:grpSp>
        <p:nvGrpSpPr>
          <p:cNvPr id="9" name="群組 8">
            <a:extLst>
              <a:ext uri="{FF2B5EF4-FFF2-40B4-BE49-F238E27FC236}">
                <a16:creationId xmlns:a16="http://schemas.microsoft.com/office/drawing/2014/main" id="{0ACB2DD1-7C42-9CEF-1B1D-67E7C0358AF6}"/>
              </a:ext>
            </a:extLst>
          </p:cNvPr>
          <p:cNvGrpSpPr/>
          <p:nvPr/>
        </p:nvGrpSpPr>
        <p:grpSpPr>
          <a:xfrm>
            <a:off x="10661191" y="2448778"/>
            <a:ext cx="904941" cy="1965613"/>
            <a:chOff x="3378425" y="4610430"/>
            <a:chExt cx="904941" cy="1965613"/>
          </a:xfrm>
        </p:grpSpPr>
        <p:sp>
          <p:nvSpPr>
            <p:cNvPr id="4" name="燕尾形 97">
              <a:extLst>
                <a:ext uri="{FF2B5EF4-FFF2-40B4-BE49-F238E27FC236}">
                  <a16:creationId xmlns:a16="http://schemas.microsoft.com/office/drawing/2014/main" id="{69B62C0B-C21F-2B06-AF6E-BD44A93CB150}"/>
                </a:ext>
              </a:extLst>
            </p:cNvPr>
            <p:cNvSpPr/>
            <p:nvPr/>
          </p:nvSpPr>
          <p:spPr>
            <a:xfrm>
              <a:off x="3378425" y="4610430"/>
              <a:ext cx="812269" cy="1965613"/>
            </a:xfrm>
            <a:prstGeom prst="chevron">
              <a:avLst>
                <a:gd name="adj" fmla="val 65810"/>
              </a:avLst>
            </a:prstGeom>
            <a:solidFill>
              <a:schemeClr val="bg1">
                <a:lumMod val="65000"/>
              </a:schemeClr>
            </a:solidFill>
            <a:ln w="25400"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Amiri" panose="00000500000000000000" charset="0"/>
                <a:ea typeface="Amiri" panose="00000500000000000000" charset="0"/>
                <a:cs typeface="Amiri" panose="00000500000000000000" charset="0"/>
              </a:endParaRPr>
            </a:p>
          </p:txBody>
        </p:sp>
        <p:sp>
          <p:nvSpPr>
            <p:cNvPr id="5" name="矩形 31">
              <a:extLst>
                <a:ext uri="{FF2B5EF4-FFF2-40B4-BE49-F238E27FC236}">
                  <a16:creationId xmlns:a16="http://schemas.microsoft.com/office/drawing/2014/main" id="{AF7391E3-5D84-1479-C197-1CC2C552A437}"/>
                </a:ext>
              </a:extLst>
            </p:cNvPr>
            <p:cNvSpPr/>
            <p:nvPr/>
          </p:nvSpPr>
          <p:spPr>
            <a:xfrm>
              <a:off x="3565796" y="5234444"/>
              <a:ext cx="717570" cy="717569"/>
            </a:xfrm>
            <a:prstGeom prst="ellipse">
              <a:avLst/>
            </a:prstGeom>
            <a:solidFill>
              <a:srgbClr val="E9E9E9"/>
            </a:solidFill>
            <a:ln w="25400" cap="flat" cmpd="sng" algn="ctr">
              <a:solidFill>
                <a:srgbClr val="1A9895"/>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1A9895"/>
                  </a:solidFill>
                  <a:effectLst/>
                  <a:uLnTx/>
                  <a:uFillTx/>
                  <a:latin typeface="+mj-ea"/>
                  <a:ea typeface="+mj-ea"/>
                  <a:cs typeface="Amiri" panose="00000500000000000000" charset="0"/>
                </a:rPr>
                <a:t>1</a:t>
              </a:r>
              <a:endParaRPr kumimoji="0" lang="zh-CN" altLang="en-US" sz="2400" b="1" i="0" u="none" strike="noStrike" kern="0" cap="none" spc="0" normalizeH="0" baseline="0" noProof="0" dirty="0">
                <a:ln>
                  <a:noFill/>
                </a:ln>
                <a:solidFill>
                  <a:srgbClr val="1A9895"/>
                </a:solidFill>
                <a:effectLst/>
                <a:uLnTx/>
                <a:uFillTx/>
                <a:latin typeface="+mj-ea"/>
                <a:ea typeface="+mj-ea"/>
                <a:cs typeface="Amiri" panose="00000500000000000000" charset="0"/>
              </a:endParaRPr>
            </a:p>
          </p:txBody>
        </p:sp>
      </p:grpSp>
      <p:sp>
        <p:nvSpPr>
          <p:cNvPr id="10" name="矩形 9">
            <a:extLst>
              <a:ext uri="{FF2B5EF4-FFF2-40B4-BE49-F238E27FC236}">
                <a16:creationId xmlns:a16="http://schemas.microsoft.com/office/drawing/2014/main" id="{8A93E803-FFF8-CAC7-3DC3-6DB63C7B3DA8}"/>
              </a:ext>
            </a:extLst>
          </p:cNvPr>
          <p:cNvSpPr/>
          <p:nvPr/>
        </p:nvSpPr>
        <p:spPr>
          <a:xfrm>
            <a:off x="8862649" y="3028881"/>
            <a:ext cx="1107996" cy="369332"/>
          </a:xfrm>
          <a:prstGeom prst="rect">
            <a:avLst/>
          </a:prstGeom>
        </p:spPr>
        <p:txBody>
          <a:bodyPr wrap="none">
            <a:spAutoFit/>
          </a:bodyPr>
          <a:lstStyle/>
          <a:p>
            <a:r>
              <a:rPr lang="zh-TW" altLang="en-US"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rPr>
              <a:t>後續發展</a:t>
            </a:r>
            <a:endParaRPr lang="zh-CN" altLang="en-US" b="1" dirty="0">
              <a:solidFill>
                <a:schemeClr val="tx1">
                  <a:lumMod val="75000"/>
                  <a:lumOff val="25000"/>
                </a:schemeClr>
              </a:solidFill>
              <a:latin typeface="標楷體" panose="03000509000000000000" pitchFamily="65" charset="-120"/>
              <a:ea typeface="標楷體" panose="03000509000000000000" pitchFamily="65" charset="-120"/>
              <a:cs typeface="Amiri" panose="00000500000000000000" charset="0"/>
            </a:endParaRPr>
          </a:p>
        </p:txBody>
      </p:sp>
      <p:sp>
        <p:nvSpPr>
          <p:cNvPr id="11" name="矩形 10">
            <a:extLst>
              <a:ext uri="{FF2B5EF4-FFF2-40B4-BE49-F238E27FC236}">
                <a16:creationId xmlns:a16="http://schemas.microsoft.com/office/drawing/2014/main" id="{0489DDEF-CD37-C9A7-21A2-E85C3AE28386}"/>
              </a:ext>
            </a:extLst>
          </p:cNvPr>
          <p:cNvSpPr/>
          <p:nvPr/>
        </p:nvSpPr>
        <p:spPr>
          <a:xfrm>
            <a:off x="8860712" y="3437828"/>
            <a:ext cx="2147605" cy="1021626"/>
          </a:xfrm>
          <a:prstGeom prst="rect">
            <a:avLst/>
          </a:prstGeom>
        </p:spPr>
        <p:txBody>
          <a:bodyPr wrap="square">
            <a:spAutoFit/>
          </a:bodyPr>
          <a:lstStyle/>
          <a:p>
            <a:pPr>
              <a:lnSpc>
                <a:spcPct val="130000"/>
              </a:lnSpc>
            </a:pPr>
            <a:r>
              <a:rPr lang="zh-TW" altLang="en-US" sz="1600" b="1" dirty="0">
                <a:latin typeface="標楷體" panose="03000509000000000000" pitchFamily="65" charset="-120"/>
                <a:ea typeface="標楷體" panose="03000509000000000000" pitchFamily="65" charset="-120"/>
                <a:cs typeface="Amiri" panose="00000500000000000000" charset="0"/>
              </a:rPr>
              <a:t>持續推出新功能、</a:t>
            </a:r>
            <a:endParaRPr lang="en-US" altLang="zh-TW" sz="1600" b="1" dirty="0">
              <a:latin typeface="標楷體" panose="03000509000000000000" pitchFamily="65" charset="-120"/>
              <a:ea typeface="標楷體" panose="03000509000000000000" pitchFamily="65" charset="-120"/>
              <a:cs typeface="Amiri" panose="00000500000000000000" charset="0"/>
            </a:endParaRPr>
          </a:p>
          <a:p>
            <a:pPr>
              <a:lnSpc>
                <a:spcPct val="130000"/>
              </a:lnSpc>
            </a:pPr>
            <a:r>
              <a:rPr lang="zh-TW" altLang="en-US" sz="1600" b="1" dirty="0">
                <a:latin typeface="標楷體" panose="03000509000000000000" pitchFamily="65" charset="-120"/>
                <a:ea typeface="標楷體" panose="03000509000000000000" pitchFamily="65" charset="-120"/>
                <a:cs typeface="Amiri" panose="00000500000000000000" charset="0"/>
              </a:rPr>
              <a:t>海外市場拓展、</a:t>
            </a:r>
            <a:endParaRPr lang="en-US" altLang="zh-TW" sz="1600" b="1" dirty="0">
              <a:latin typeface="標楷體" panose="03000509000000000000" pitchFamily="65" charset="-120"/>
              <a:ea typeface="標楷體" panose="03000509000000000000" pitchFamily="65" charset="-120"/>
              <a:cs typeface="Amiri" panose="00000500000000000000" charset="0"/>
            </a:endParaRPr>
          </a:p>
          <a:p>
            <a:pPr>
              <a:lnSpc>
                <a:spcPct val="130000"/>
              </a:lnSpc>
            </a:pPr>
            <a:r>
              <a:rPr lang="zh-TW" altLang="en-US" sz="1600" b="1" dirty="0">
                <a:latin typeface="標楷體" panose="03000509000000000000" pitchFamily="65" charset="-120"/>
                <a:ea typeface="標楷體" panose="03000509000000000000" pitchFamily="65" charset="-120"/>
                <a:cs typeface="Amiri" panose="00000500000000000000" charset="0"/>
              </a:rPr>
              <a:t>探索新合作模式</a:t>
            </a:r>
            <a:endParaRPr sz="1600" b="1" dirty="0">
              <a:latin typeface="標楷體" panose="03000509000000000000" pitchFamily="65" charset="-120"/>
              <a:ea typeface="標楷體" panose="03000509000000000000" pitchFamily="65" charset="-120"/>
              <a:cs typeface="Amiri" panose="00000500000000000000" charset="0"/>
            </a:endParaRPr>
          </a:p>
        </p:txBody>
      </p:sp>
      <p:sp>
        <p:nvSpPr>
          <p:cNvPr id="12" name="矩形 11">
            <a:extLst>
              <a:ext uri="{FF2B5EF4-FFF2-40B4-BE49-F238E27FC236}">
                <a16:creationId xmlns:a16="http://schemas.microsoft.com/office/drawing/2014/main" id="{31005461-13D6-8BF7-596D-75679A4B55F1}"/>
              </a:ext>
            </a:extLst>
          </p:cNvPr>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時間與詳細規劃</a:t>
            </a:r>
            <a:endParaRPr lang="zh-CN" altLang="en-US" sz="3600" dirty="0">
              <a:cs typeface="Amiri" panose="00000500000000000000"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127" y="2557690"/>
            <a:ext cx="5826291" cy="1753235"/>
          </a:xfrm>
          <a:prstGeom prst="rect">
            <a:avLst/>
          </a:prstGeom>
          <a:noFill/>
        </p:spPr>
        <p:txBody>
          <a:bodyPr wrap="square" rtlCol="0">
            <a:spAutoFit/>
          </a:bodyPr>
          <a:lstStyle/>
          <a:p>
            <a:r>
              <a:rPr lang="en-US" altLang="zh-TW" sz="5400" b="1" dirty="0">
                <a:solidFill>
                  <a:schemeClr val="bg1"/>
                </a:solidFill>
                <a:cs typeface="Amiri" panose="00000500000000000000" charset="0"/>
              </a:rPr>
              <a:t>09</a:t>
            </a:r>
            <a:endParaRPr lang="en-US" altLang="zh-CN" sz="5400" b="1" dirty="0">
              <a:solidFill>
                <a:schemeClr val="bg1"/>
              </a:solidFill>
              <a:cs typeface="Amiri" panose="00000500000000000000" charset="0"/>
            </a:endParaRPr>
          </a:p>
          <a:p>
            <a:r>
              <a:rPr lang="zh-TW" altLang="en-US" sz="5400" dirty="0">
                <a:solidFill>
                  <a:schemeClr val="bg1"/>
                </a:solidFill>
                <a:cs typeface="Amiri" panose="00000500000000000000" charset="0"/>
              </a:rPr>
              <a:t>結論</a:t>
            </a:r>
            <a:endParaRPr lang="zh-CN" altLang="en-US" sz="5400"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5794" y="402923"/>
            <a:ext cx="865206" cy="707886"/>
          </a:xfrm>
          <a:prstGeom prst="rect">
            <a:avLst/>
          </a:prstGeom>
          <a:noFill/>
        </p:spPr>
        <p:txBody>
          <a:bodyPr wrap="square" rtlCol="0">
            <a:spAutoFit/>
          </a:bodyPr>
          <a:lstStyle/>
          <a:p>
            <a:r>
              <a:rPr lang="en-US" altLang="zh-CN" sz="4000" b="1" u="sng" dirty="0">
                <a:solidFill>
                  <a:srgbClr val="1A9895"/>
                </a:solidFill>
                <a:cs typeface="Amiri" panose="00000500000000000000" charset="0"/>
              </a:rPr>
              <a:t>0</a:t>
            </a:r>
            <a:r>
              <a:rPr lang="en-US" altLang="zh-TW" sz="4000" b="1" u="sng" dirty="0">
                <a:solidFill>
                  <a:srgbClr val="1A9895"/>
                </a:solidFill>
                <a:cs typeface="Amiri" panose="00000500000000000000" charset="0"/>
              </a:rPr>
              <a:t>9</a:t>
            </a:r>
            <a:endParaRPr lang="zh-CN" altLang="en-US" sz="4000" u="sng" dirty="0">
              <a:solidFill>
                <a:srgbClr val="1A9895"/>
              </a:solidFill>
              <a:cs typeface="Amiri" panose="00000500000000000000" charset="0"/>
            </a:endParaRPr>
          </a:p>
        </p:txBody>
      </p:sp>
      <p:sp>
        <p:nvSpPr>
          <p:cNvPr id="2" name="矩形 1">
            <a:extLst>
              <a:ext uri="{FF2B5EF4-FFF2-40B4-BE49-F238E27FC236}">
                <a16:creationId xmlns:a16="http://schemas.microsoft.com/office/drawing/2014/main" id="{F34C64BA-D3AE-324A-1BAE-C57D96908F22}"/>
              </a:ext>
            </a:extLst>
          </p:cNvPr>
          <p:cNvSpPr/>
          <p:nvPr/>
        </p:nvSpPr>
        <p:spPr>
          <a:xfrm>
            <a:off x="1651000" y="433705"/>
            <a:ext cx="5587365" cy="646331"/>
          </a:xfrm>
          <a:prstGeom prst="rect">
            <a:avLst/>
          </a:prstGeom>
        </p:spPr>
        <p:txBody>
          <a:bodyPr wrap="square">
            <a:spAutoFit/>
          </a:bodyPr>
          <a:lstStyle/>
          <a:p>
            <a:r>
              <a:rPr lang="zh-TW" altLang="en-US" sz="3600" dirty="0">
                <a:cs typeface="Amiri" panose="00000500000000000000" charset="0"/>
              </a:rPr>
              <a:t>結論</a:t>
            </a:r>
            <a:endParaRPr lang="zh-CN" altLang="en-US" sz="3600" dirty="0">
              <a:cs typeface="Amiri" panose="00000500000000000000" charset="0"/>
            </a:endParaRPr>
          </a:p>
        </p:txBody>
      </p:sp>
      <p:sp>
        <p:nvSpPr>
          <p:cNvPr id="7" name="文字方塊 6">
            <a:extLst>
              <a:ext uri="{FF2B5EF4-FFF2-40B4-BE49-F238E27FC236}">
                <a16:creationId xmlns:a16="http://schemas.microsoft.com/office/drawing/2014/main" id="{A59FDE5A-92FA-2FE4-04E9-6948F8CEF5DF}"/>
              </a:ext>
            </a:extLst>
          </p:cNvPr>
          <p:cNvSpPr txBox="1"/>
          <p:nvPr/>
        </p:nvSpPr>
        <p:spPr>
          <a:xfrm>
            <a:off x="1124644" y="1443841"/>
            <a:ext cx="10634965" cy="4585871"/>
          </a:xfrm>
          <a:prstGeom prst="rect">
            <a:avLst/>
          </a:prstGeom>
          <a:noFill/>
        </p:spPr>
        <p:txBody>
          <a:bodyPr wrap="square">
            <a:spAutoFit/>
          </a:bodyPr>
          <a:lstStyle/>
          <a:p>
            <a:r>
              <a:rPr lang="zh-TW" altLang="en-US" sz="2800" b="1" dirty="0">
                <a:solidFill>
                  <a:srgbClr val="1A9895"/>
                </a:solidFill>
                <a:latin typeface="標楷體" panose="03000509000000000000" pitchFamily="65" charset="-120"/>
                <a:ea typeface="標楷體" panose="03000509000000000000" pitchFamily="65" charset="-120"/>
              </a:rPr>
              <a:t>研究目的：</a:t>
            </a:r>
          </a:p>
          <a:p>
            <a:r>
              <a:rPr lang="en-US" altLang="zh-TW" sz="2400" dirty="0">
                <a:latin typeface="標楷體" panose="03000509000000000000" pitchFamily="65" charset="-120"/>
                <a:ea typeface="標楷體" panose="03000509000000000000" pitchFamily="65" charset="-120"/>
              </a:rPr>
              <a:t>1.</a:t>
            </a:r>
            <a:r>
              <a:rPr lang="zh-TW" altLang="en-US" sz="2400" dirty="0">
                <a:latin typeface="標楷體" panose="03000509000000000000" pitchFamily="65" charset="-120"/>
                <a:ea typeface="標楷體" panose="03000509000000000000" pitchFamily="65" charset="-120"/>
              </a:rPr>
              <a:t>提供幼兒眼睛保健和矯正方案，預防斜頸、近視、弱視與屈光不正。</a:t>
            </a:r>
          </a:p>
          <a:p>
            <a:r>
              <a:rPr lang="en-US" altLang="zh-TW" sz="2400" dirty="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補足醫院門診無法達到的眼睛照護，填補眼科市場空白。</a:t>
            </a:r>
          </a:p>
          <a:p>
            <a:r>
              <a:rPr lang="zh-TW" altLang="en-US" sz="2400" b="1" dirty="0">
                <a:solidFill>
                  <a:srgbClr val="1A9895"/>
                </a:solidFill>
                <a:latin typeface="標楷體" panose="03000509000000000000" pitchFamily="65" charset="-120"/>
                <a:ea typeface="標楷體" panose="03000509000000000000" pitchFamily="65" charset="-120"/>
              </a:rPr>
              <a:t>合作與市場潛力：</a:t>
            </a:r>
          </a:p>
          <a:p>
            <a:r>
              <a:rPr lang="en-US" altLang="zh-TW" sz="2400" dirty="0">
                <a:latin typeface="標楷體" panose="03000509000000000000" pitchFamily="65" charset="-120"/>
                <a:ea typeface="標楷體" panose="03000509000000000000" pitchFamily="65" charset="-120"/>
              </a:rPr>
              <a:t>1.</a:t>
            </a:r>
            <a:r>
              <a:rPr lang="zh-TW" altLang="en-US" sz="2400" dirty="0">
                <a:latin typeface="標楷體" panose="03000509000000000000" pitchFamily="65" charset="-120"/>
                <a:ea typeface="標楷體" panose="03000509000000000000" pitchFamily="65" charset="-120"/>
              </a:rPr>
              <a:t>幼兒眼睛保健螢幕系統與眼科門診、眼鏡行合作。</a:t>
            </a:r>
          </a:p>
          <a:p>
            <a:r>
              <a:rPr lang="en-US" altLang="zh-TW" sz="2400" dirty="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提供矯正觀察記錄，發掘巨大市場需求。</a:t>
            </a:r>
          </a:p>
          <a:p>
            <a:r>
              <a:rPr lang="zh-TW" altLang="en-US" sz="2400" b="1" dirty="0">
                <a:solidFill>
                  <a:srgbClr val="1A9895"/>
                </a:solidFill>
                <a:latin typeface="標楷體" panose="03000509000000000000" pitchFamily="65" charset="-120"/>
                <a:ea typeface="標楷體" panose="03000509000000000000" pitchFamily="65" charset="-120"/>
              </a:rPr>
              <a:t>系統準確性與問題：</a:t>
            </a:r>
          </a:p>
          <a:p>
            <a:r>
              <a:rPr lang="en-US" altLang="zh-TW" sz="2400" dirty="0">
                <a:latin typeface="標楷體" panose="03000509000000000000" pitchFamily="65" charset="-120"/>
                <a:ea typeface="標楷體" panose="03000509000000000000" pitchFamily="65" charset="-120"/>
              </a:rPr>
              <a:t>1.</a:t>
            </a:r>
            <a:r>
              <a:rPr lang="zh-TW" altLang="en-US" sz="2400" dirty="0">
                <a:latin typeface="標楷體" panose="03000509000000000000" pitchFamily="65" charset="-120"/>
                <a:ea typeface="標楷體" panose="03000509000000000000" pitchFamily="65" charset="-120"/>
              </a:rPr>
              <a:t>斜視識別準確率達 </a:t>
            </a:r>
            <a:r>
              <a:rPr lang="en-US" altLang="zh-TW" sz="2400" dirty="0">
                <a:latin typeface="標楷體" panose="03000509000000000000" pitchFamily="65" charset="-120"/>
                <a:ea typeface="標楷體" panose="03000509000000000000" pitchFamily="65" charset="-120"/>
              </a:rPr>
              <a:t>96.34%</a:t>
            </a:r>
            <a:r>
              <a:rPr lang="zh-TW" altLang="en-US" sz="2400" dirty="0">
                <a:latin typeface="標楷體" panose="03000509000000000000" pitchFamily="65" charset="-120"/>
                <a:ea typeface="標楷體" panose="03000509000000000000" pitchFamily="65" charset="-120"/>
              </a:rPr>
              <a:t>。</a:t>
            </a:r>
          </a:p>
          <a:p>
            <a:r>
              <a:rPr lang="en-US" altLang="zh-TW" sz="2400" dirty="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存在於頭部低角度偏轉時的誤差問題，需改進特徵值計算方式。</a:t>
            </a:r>
          </a:p>
          <a:p>
            <a:r>
              <a:rPr lang="zh-TW" altLang="en-US" sz="2400" b="1" dirty="0">
                <a:solidFill>
                  <a:srgbClr val="1A9895"/>
                </a:solidFill>
                <a:latin typeface="標楷體" panose="03000509000000000000" pitchFamily="65" charset="-120"/>
                <a:ea typeface="標楷體" panose="03000509000000000000" pitchFamily="65" charset="-120"/>
              </a:rPr>
              <a:t>未來展望：</a:t>
            </a:r>
          </a:p>
          <a:p>
            <a:r>
              <a:rPr lang="en-US" altLang="zh-TW" sz="2400" dirty="0">
                <a:latin typeface="標楷體" panose="03000509000000000000" pitchFamily="65" charset="-120"/>
                <a:ea typeface="標楷體" panose="03000509000000000000" pitchFamily="65" charset="-120"/>
              </a:rPr>
              <a:t>1.</a:t>
            </a:r>
            <a:r>
              <a:rPr lang="zh-TW" altLang="en-US" sz="2400" dirty="0">
                <a:latin typeface="標楷體" panose="03000509000000000000" pitchFamily="65" charset="-120"/>
                <a:ea typeface="標楷體" panose="03000509000000000000" pitchFamily="65" charset="-120"/>
              </a:rPr>
              <a:t>修改特徵值計算方式，提高低角度時的精準度。</a:t>
            </a:r>
          </a:p>
          <a:p>
            <a:r>
              <a:rPr lang="en-US" altLang="zh-TW" sz="2400" dirty="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完善系統功能，增進準確性及應用性。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4127" y="2557690"/>
            <a:ext cx="5826291" cy="1754326"/>
          </a:xfrm>
          <a:prstGeom prst="rect">
            <a:avLst/>
          </a:prstGeom>
          <a:noFill/>
        </p:spPr>
        <p:txBody>
          <a:bodyPr wrap="square" rtlCol="0">
            <a:spAutoFit/>
          </a:bodyPr>
          <a:lstStyle/>
          <a:p>
            <a:r>
              <a:rPr lang="en-US" altLang="zh-TW" sz="5400" b="1" dirty="0">
                <a:solidFill>
                  <a:schemeClr val="bg1"/>
                </a:solidFill>
                <a:cs typeface="Amiri" panose="00000500000000000000" charset="0"/>
              </a:rPr>
              <a:t>10</a:t>
            </a:r>
          </a:p>
          <a:p>
            <a:r>
              <a:rPr lang="zh-TW" altLang="en-US" sz="5400" b="1" dirty="0">
                <a:solidFill>
                  <a:schemeClr val="bg1"/>
                </a:solidFill>
                <a:cs typeface="Amiri" panose="00000500000000000000" charset="0"/>
              </a:rPr>
              <a:t>參考文獻</a:t>
            </a:r>
            <a:endParaRPr lang="en-US" altLang="zh-CN" sz="5400" b="1" dirty="0">
              <a:solidFill>
                <a:schemeClr val="bg1"/>
              </a:solidFill>
              <a:cs typeface="Amiri" panose="00000500000000000000" charset="0"/>
            </a:endParaRPr>
          </a:p>
        </p:txBody>
      </p:sp>
      <p:cxnSp>
        <p:nvCxnSpPr>
          <p:cNvPr id="4" name="直接连接符 3"/>
          <p:cNvCxnSpPr/>
          <p:nvPr/>
        </p:nvCxnSpPr>
        <p:spPr>
          <a:xfrm>
            <a:off x="413810" y="2713512"/>
            <a:ext cx="0" cy="1494421"/>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098079"/>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5794" y="300183"/>
            <a:ext cx="865206" cy="707886"/>
          </a:xfrm>
          <a:prstGeom prst="rect">
            <a:avLst/>
          </a:prstGeom>
          <a:noFill/>
        </p:spPr>
        <p:txBody>
          <a:bodyPr wrap="square" rtlCol="0">
            <a:spAutoFit/>
          </a:bodyPr>
          <a:lstStyle/>
          <a:p>
            <a:r>
              <a:rPr lang="en-US" altLang="zh-TW" sz="4000" b="1" u="sng" dirty="0">
                <a:solidFill>
                  <a:srgbClr val="1A9895"/>
                </a:solidFill>
                <a:cs typeface="Amiri" panose="00000500000000000000" charset="0"/>
              </a:rPr>
              <a:t>10</a:t>
            </a:r>
            <a:endParaRPr lang="zh-CN" altLang="en-US" sz="4000" u="sng" dirty="0">
              <a:solidFill>
                <a:srgbClr val="1A9895"/>
              </a:solidFill>
              <a:cs typeface="Amiri" panose="00000500000000000000" charset="0"/>
            </a:endParaRPr>
          </a:p>
        </p:txBody>
      </p:sp>
      <p:sp>
        <p:nvSpPr>
          <p:cNvPr id="2" name="文字方塊 1">
            <a:extLst>
              <a:ext uri="{FF2B5EF4-FFF2-40B4-BE49-F238E27FC236}">
                <a16:creationId xmlns:a16="http://schemas.microsoft.com/office/drawing/2014/main" id="{A4F62128-0AF9-600D-230E-0332820E2214}"/>
              </a:ext>
            </a:extLst>
          </p:cNvPr>
          <p:cNvSpPr txBox="1"/>
          <p:nvPr/>
        </p:nvSpPr>
        <p:spPr>
          <a:xfrm>
            <a:off x="785794" y="907684"/>
            <a:ext cx="11313063" cy="6140142"/>
          </a:xfrm>
          <a:prstGeom prst="rect">
            <a:avLst/>
          </a:prstGeom>
          <a:noFill/>
        </p:spPr>
        <p:txBody>
          <a:bodyPr wrap="square" rtlCol="0">
            <a:spAutoFit/>
          </a:bodyPr>
          <a:lstStyle/>
          <a:p>
            <a:r>
              <a:rPr lang="en-US" altLang="zh-TW" sz="1500" dirty="0" err="1"/>
              <a:t>Jayantilal</a:t>
            </a:r>
            <a:r>
              <a:rPr lang="en-US" altLang="zh-TW" sz="1500" dirty="0"/>
              <a:t>. Shah., Shrikant. Patel., (2013). Strabismus: - </a:t>
            </a:r>
            <a:r>
              <a:rPr lang="en-US" altLang="zh-TW" sz="1500" dirty="0" err="1"/>
              <a:t>Symptoms,Pathophysiology</a:t>
            </a:r>
            <a:r>
              <a:rPr lang="en-US" altLang="zh-TW" sz="1500" dirty="0"/>
              <a:t>, Management &amp; Precautions. International Journal of Science and Research (IJSR): </a:t>
            </a:r>
            <a:r>
              <a:rPr lang="en-US" altLang="zh-TW" sz="1500" dirty="0" err="1"/>
              <a:t>Jayantilal</a:t>
            </a:r>
            <a:r>
              <a:rPr lang="en-US" altLang="zh-TW" sz="1500" dirty="0"/>
              <a:t> Shah Geraldo de Barros Ribeiro, Ana Gabriela </a:t>
            </a:r>
            <a:r>
              <a:rPr lang="en-US" altLang="zh-TW" sz="1500" dirty="0" err="1"/>
              <a:t>Zum</a:t>
            </a:r>
            <a:r>
              <a:rPr lang="en-US" altLang="zh-TW" sz="1500" dirty="0"/>
              <a:t> Bach, Camila Maia Faria, Suze </a:t>
            </a:r>
            <a:r>
              <a:rPr lang="en-US" altLang="zh-TW" sz="1500" dirty="0" err="1"/>
              <a:t>Anastásia</a:t>
            </a:r>
            <a:r>
              <a:rPr lang="en-US" altLang="zh-TW" sz="1500" dirty="0"/>
              <a:t>, Henderson Celestino de Almeida. (2014). </a:t>
            </a:r>
            <a:r>
              <a:rPr lang="en-US" altLang="zh-TW" sz="1500" dirty="0" err="1"/>
              <a:t>Qualidade</a:t>
            </a:r>
            <a:r>
              <a:rPr lang="en-US" altLang="zh-TW" sz="1500" dirty="0"/>
              <a:t> de </a:t>
            </a:r>
            <a:r>
              <a:rPr lang="en-US" altLang="zh-TW" sz="1500" dirty="0" err="1"/>
              <a:t>vida</a:t>
            </a:r>
            <a:r>
              <a:rPr lang="en-US" altLang="zh-TW" sz="1500" dirty="0"/>
              <a:t> </a:t>
            </a:r>
            <a:r>
              <a:rPr lang="en-US" altLang="zh-TW" sz="1500" dirty="0" err="1"/>
              <a:t>em</a:t>
            </a:r>
            <a:r>
              <a:rPr lang="en-US" altLang="zh-TW" sz="1500" dirty="0"/>
              <a:t> </a:t>
            </a:r>
            <a:r>
              <a:rPr lang="en-US" altLang="zh-TW" sz="1500" dirty="0" err="1"/>
              <a:t>pacientes</a:t>
            </a:r>
            <a:r>
              <a:rPr lang="en-US" altLang="zh-TW" sz="1500" dirty="0"/>
              <a:t> </a:t>
            </a:r>
            <a:r>
              <a:rPr lang="en-US" altLang="zh-TW" sz="1500" dirty="0" err="1"/>
              <a:t>estrábicos</a:t>
            </a:r>
            <a:r>
              <a:rPr lang="en-US" altLang="zh-TW" sz="1500" dirty="0"/>
              <a:t>. </a:t>
            </a:r>
            <a:r>
              <a:rPr lang="en-US" altLang="zh-TW" sz="1500" dirty="0" err="1"/>
              <a:t>SciELO</a:t>
            </a:r>
            <a:r>
              <a:rPr lang="en-US" altLang="zh-TW" sz="1500" dirty="0"/>
              <a:t> - Scientific Electronic Library: Geraldo de Barros Ribeiro </a:t>
            </a:r>
          </a:p>
          <a:p>
            <a:endParaRPr lang="en-US" altLang="zh-TW" sz="1500" dirty="0"/>
          </a:p>
          <a:p>
            <a:r>
              <a:rPr lang="en-US" altLang="zh-TW" sz="1500" dirty="0" err="1"/>
              <a:t>Shinkawabashi</a:t>
            </a:r>
            <a:r>
              <a:rPr lang="en-US" altLang="zh-TW" sz="1500" dirty="0"/>
              <a:t> Hospital. (2020)</a:t>
            </a:r>
            <a:r>
              <a:rPr lang="zh-TW" altLang="en-US" sz="1500" dirty="0"/>
              <a:t>。斜視。弱視。</a:t>
            </a:r>
            <a:r>
              <a:rPr lang="en-US" altLang="zh-TW" sz="1500" dirty="0"/>
              <a:t>Retrieved from https://shinkawabashi.or.jp/shinryou/syashi-jakushi/(Feb 10, 2023)</a:t>
            </a:r>
          </a:p>
          <a:p>
            <a:r>
              <a:rPr lang="en-US" altLang="zh-TW" sz="1500" dirty="0"/>
              <a:t> </a:t>
            </a:r>
          </a:p>
          <a:p>
            <a:r>
              <a:rPr lang="en-US" altLang="zh-TW" sz="1500" dirty="0"/>
              <a:t>Yale Medicine. (2023). Diplopia(Double vision). Retrieved from https://www.yalemedicine.org/conditions/double-vision(Feb 10, 2023) </a:t>
            </a:r>
          </a:p>
          <a:p>
            <a:endParaRPr lang="en-US" altLang="zh-TW" sz="1500" dirty="0"/>
          </a:p>
          <a:p>
            <a:r>
              <a:rPr lang="en-US" altLang="zh-TW" sz="1500" dirty="0" err="1"/>
              <a:t>Duwaer</a:t>
            </a:r>
            <a:r>
              <a:rPr lang="en-US" altLang="zh-TW" sz="1500" dirty="0"/>
              <a:t>, A. L., Brink, G. van den.(1980)Foveal diplopia thresholds and fixation disparities. Submitted for publication Kinda. Najem., Edward. Margolin., (2022). </a:t>
            </a:r>
            <a:r>
              <a:rPr lang="en-US" altLang="zh-TW" sz="1500" dirty="0" err="1"/>
              <a:t>StatPearls</a:t>
            </a:r>
            <a:r>
              <a:rPr lang="en-US" altLang="zh-TW" sz="1500" dirty="0"/>
              <a:t>. Diplopia, </a:t>
            </a:r>
            <a:r>
              <a:rPr lang="en-US" altLang="zh-TW" sz="1500" dirty="0" err="1"/>
              <a:t>StatPearls</a:t>
            </a:r>
            <a:r>
              <a:rPr lang="en-US" altLang="zh-TW" sz="1500" dirty="0"/>
              <a:t> Publishing LLC: </a:t>
            </a:r>
            <a:r>
              <a:rPr lang="en-US" altLang="zh-TW" sz="1500" dirty="0" err="1"/>
              <a:t>StatPearls</a:t>
            </a:r>
            <a:r>
              <a:rPr lang="en-US" altLang="zh-TW" sz="1500" dirty="0"/>
              <a:t> Publishing LLC Chatswood Eye Specialists. (2023). Diplopia-Double Vision, Retrieved from https://www.chatswoodeye.com/diplopia-double-vision/(Feb 10, 2023)</a:t>
            </a:r>
          </a:p>
          <a:p>
            <a:endParaRPr lang="en-US" altLang="zh-TW" sz="1500" dirty="0"/>
          </a:p>
          <a:p>
            <a:r>
              <a:rPr lang="en-US" altLang="zh-TW" sz="1500" dirty="0"/>
              <a:t>Luminita Teodorescu. (2015). Rom J </a:t>
            </a:r>
            <a:r>
              <a:rPr lang="en-US" altLang="zh-TW" sz="1500" dirty="0" err="1"/>
              <a:t>Ophthalmol</a:t>
            </a:r>
            <a:r>
              <a:rPr lang="en-US" altLang="zh-TW" sz="1500" dirty="0"/>
              <a:t>. Anomalous head postures in strabismus and nystagmus diagnosis and management, Romanian Journal of Ophthalmology, Volume 59, Issue 3 Cleveland Clinic. (2023). Strabismus(Crossed Eyes).Retrieved from https://my.clevelandclinic.org/health/diseases/15065-strabismus-crossed-eyes(Feb 10, 2023) </a:t>
            </a:r>
          </a:p>
          <a:p>
            <a:endParaRPr lang="en-US" altLang="zh-TW" sz="1500" dirty="0"/>
          </a:p>
          <a:p>
            <a:r>
              <a:rPr lang="en-US" altLang="zh-TW" sz="1500" dirty="0" err="1"/>
              <a:t>Datatang</a:t>
            </a:r>
            <a:r>
              <a:rPr lang="en-US" altLang="zh-TW" sz="1500" dirty="0"/>
              <a:t>. (2022). What’s Human Pose Estimation. Retrieved from https://www.datatang.ai/news/115(Feb 10, 2023) </a:t>
            </a:r>
            <a:r>
              <a:rPr lang="en-US" altLang="zh-TW" sz="1500" dirty="0" err="1"/>
              <a:t>Zhe</a:t>
            </a:r>
            <a:r>
              <a:rPr lang="en-US" altLang="zh-TW" sz="1500" dirty="0"/>
              <a:t> Cao, Tomas Simon, Shih-En Wei, Yaser Sheikh (2016). Realtime Multi-Person 2D Pose Estimation using Part Affinity Fields. </a:t>
            </a:r>
            <a:r>
              <a:rPr lang="en-US" altLang="zh-TW" sz="1500" dirty="0" err="1"/>
              <a:t>arXivLabs</a:t>
            </a:r>
            <a:r>
              <a:rPr lang="en-US" altLang="zh-TW" sz="1500" dirty="0"/>
              <a:t>: </a:t>
            </a:r>
            <a:r>
              <a:rPr lang="en-US" altLang="zh-TW" sz="1500" dirty="0" err="1"/>
              <a:t>Zhe</a:t>
            </a:r>
            <a:r>
              <a:rPr lang="en-US" altLang="zh-TW" sz="1500" dirty="0"/>
              <a:t> Cao </a:t>
            </a:r>
          </a:p>
          <a:p>
            <a:endParaRPr lang="en-US" altLang="zh-TW" sz="1500" dirty="0"/>
          </a:p>
          <a:p>
            <a:r>
              <a:rPr lang="en-US" altLang="zh-TW" sz="1500" dirty="0"/>
              <a:t>Triangles. (2020). Introduction to modern </a:t>
            </a:r>
            <a:r>
              <a:rPr lang="en-US" altLang="zh-TW" sz="1500" dirty="0" err="1"/>
              <a:t>CMake</a:t>
            </a:r>
            <a:r>
              <a:rPr lang="en-US" altLang="zh-TW" sz="1500" dirty="0"/>
              <a:t> for beginners. Retrieved from https://www.internalpointers.com/post/modern-cmake-beginner-introduction(Feb 12, 2023)</a:t>
            </a:r>
          </a:p>
          <a:p>
            <a:endParaRPr lang="zh-TW" altLang="en-US" sz="1500" dirty="0"/>
          </a:p>
          <a:p>
            <a:r>
              <a:rPr lang="en-US" altLang="zh-TW" sz="1600" dirty="0"/>
              <a:t>Tereza </a:t>
            </a:r>
            <a:r>
              <a:rPr lang="en-US" altLang="zh-TW" sz="1600" dirty="0" err="1"/>
              <a:t>Soukupova</a:t>
            </a:r>
            <a:r>
              <a:rPr lang="en-US" altLang="zh-TW" sz="1600" dirty="0"/>
              <a:t> and Jan ´ Cech(2016). Real-Time Eye Blink Detection using Facial Landmarks. Retrieved from https://www.semanticscholar.org/paper/Eye-Blink-Detection-Using-Facial-Landmarks-Soukupov%C3%A1-Cech/cc029963bb86a2fad55eeb46f4da0d2a3962e6b7</a:t>
            </a:r>
            <a:endParaRPr lang="zh-TW" altLang="en-US" sz="1500" dirty="0"/>
          </a:p>
        </p:txBody>
      </p:sp>
      <p:sp>
        <p:nvSpPr>
          <p:cNvPr id="5" name="矩形 4">
            <a:extLst>
              <a:ext uri="{FF2B5EF4-FFF2-40B4-BE49-F238E27FC236}">
                <a16:creationId xmlns:a16="http://schemas.microsoft.com/office/drawing/2014/main" id="{FC38FC8C-DFC1-0792-A84E-14FF015D36AE}"/>
              </a:ext>
            </a:extLst>
          </p:cNvPr>
          <p:cNvSpPr/>
          <p:nvPr/>
        </p:nvSpPr>
        <p:spPr>
          <a:xfrm>
            <a:off x="1651000" y="382335"/>
            <a:ext cx="5587365" cy="646331"/>
          </a:xfrm>
          <a:prstGeom prst="rect">
            <a:avLst/>
          </a:prstGeom>
        </p:spPr>
        <p:txBody>
          <a:bodyPr wrap="square">
            <a:spAutoFit/>
          </a:bodyPr>
          <a:lstStyle/>
          <a:p>
            <a:r>
              <a:rPr lang="zh-TW" altLang="en-US" sz="3600" dirty="0">
                <a:cs typeface="Amiri" panose="00000500000000000000" charset="0"/>
              </a:rPr>
              <a:t>參考文獻</a:t>
            </a:r>
            <a:endParaRPr lang="zh-CN" altLang="en-US" sz="3600" dirty="0">
              <a:cs typeface="Amiri" panose="00000500000000000000"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13619" y="2383992"/>
            <a:ext cx="4764766" cy="1446550"/>
          </a:xfrm>
          <a:prstGeom prst="rect">
            <a:avLst/>
          </a:prstGeom>
        </p:spPr>
        <p:txBody>
          <a:bodyPr wrap="none">
            <a:spAutoFit/>
          </a:bodyPr>
          <a:lstStyle/>
          <a:p>
            <a:pPr algn="ctr"/>
            <a:r>
              <a:rPr lang="en-US" altLang="zh-CN" sz="4400" b="1" dirty="0">
                <a:cs typeface="Amiri" panose="00000500000000000000" charset="0"/>
              </a:rPr>
              <a:t>THANK YOU </a:t>
            </a:r>
          </a:p>
          <a:p>
            <a:pPr algn="ctr"/>
            <a:r>
              <a:rPr lang="en-US" altLang="zh-CN" sz="4400" b="1" dirty="0">
                <a:cs typeface="Amiri" panose="00000500000000000000" charset="0"/>
              </a:rPr>
              <a:t>FOR WATCHING</a:t>
            </a:r>
          </a:p>
        </p:txBody>
      </p:sp>
      <p:cxnSp>
        <p:nvCxnSpPr>
          <p:cNvPr id="6" name="直接连接符 5"/>
          <p:cNvCxnSpPr/>
          <p:nvPr/>
        </p:nvCxnSpPr>
        <p:spPr>
          <a:xfrm>
            <a:off x="3852333" y="3737409"/>
            <a:ext cx="4626052" cy="0"/>
          </a:xfrm>
          <a:prstGeom prst="line">
            <a:avLst/>
          </a:prstGeom>
          <a:ln>
            <a:solidFill>
              <a:srgbClr val="1A9895"/>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theme/theme1.xml><?xml version="1.0" encoding="utf-8"?>
<a:theme xmlns:a="http://schemas.openxmlformats.org/drawingml/2006/main" name="清风素材 https://12sc.taobao.co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7">
      <a:majorFont>
        <a:latin typeface="Amiri"/>
        <a:ea typeface="Amiri"/>
        <a:cs typeface=""/>
      </a:majorFont>
      <a:minorFont>
        <a:latin typeface="Amiri"/>
        <a:ea typeface="Amir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miri"/>
        <a:ea typeface=""/>
        <a:cs typeface=""/>
        <a:font script="Jpan" typeface="游ゴシック"/>
        <a:font script="Hang" typeface="맑은 고딕"/>
        <a:font script="Hans" typeface="Amiri"/>
        <a:font script="Hant" typeface="新細明體"/>
        <a:font script="Arab" typeface="Amiri"/>
        <a:font script="Hebr" typeface="Ami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mir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miri"/>
        <a:ea typeface=""/>
        <a:cs typeface=""/>
        <a:font script="Jpan" typeface="ＭＳ Ｐゴシック"/>
        <a:font script="Hang" typeface="맑은 고딕"/>
        <a:font script="Hans" typeface="Amir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miri"/>
        <a:ea typeface=""/>
        <a:cs typeface=""/>
        <a:font script="Jpan" typeface="ＭＳ Ｐゴシック"/>
        <a:font script="Hang" typeface="맑은 고딕"/>
        <a:font script="Hans" typeface="Amiri"/>
        <a:font script="Hant" typeface="新細明體"/>
        <a:font script="Arab" typeface="Amiri"/>
        <a:font script="Hebr" typeface="Ami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mir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FB5ACF9319B4A8B0EB4DEE92A31B2" ma:contentTypeVersion="4" ma:contentTypeDescription="Create a new document." ma:contentTypeScope="" ma:versionID="a719966a154ae9196f5aeb422c1733bc">
  <xsd:schema xmlns:xsd="http://www.w3.org/2001/XMLSchema" xmlns:xs="http://www.w3.org/2001/XMLSchema" xmlns:p="http://schemas.microsoft.com/office/2006/metadata/properties" xmlns:ns3="f62a5045-815c-443a-bbd6-e5ee83f86669" targetNamespace="http://schemas.microsoft.com/office/2006/metadata/properties" ma:root="true" ma:fieldsID="04312cc281fd034f4b554a5592721a10" ns3:_="">
    <xsd:import namespace="f62a5045-815c-443a-bbd6-e5ee83f8666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2a5045-815c-443a-bbd6-e5ee83f866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1B8F16-23D0-4C56-B49E-A156C053C718}">
  <ds:schemaRefs>
    <ds:schemaRef ds:uri="http://www.w3.org/XML/1998/namespace"/>
    <ds:schemaRef ds:uri="http://purl.org/dc/elements/1.1/"/>
    <ds:schemaRef ds:uri="http://schemas.microsoft.com/office/2006/documentManagement/types"/>
    <ds:schemaRef ds:uri="http://schemas.microsoft.com/office/infopath/2007/PartnerControls"/>
    <ds:schemaRef ds:uri="f62a5045-815c-443a-bbd6-e5ee83f86669"/>
    <ds:schemaRef ds:uri="http://purl.org/dc/terms/"/>
    <ds:schemaRef ds:uri="http://purl.org/dc/dcmityp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70F9CB17-0CFD-4110-8252-7943EAF837D7}">
  <ds:schemaRefs>
    <ds:schemaRef ds:uri="http://schemas.microsoft.com/sharepoint/v3/contenttype/forms"/>
  </ds:schemaRefs>
</ds:datastoreItem>
</file>

<file path=customXml/itemProps3.xml><?xml version="1.0" encoding="utf-8"?>
<ds:datastoreItem xmlns:ds="http://schemas.openxmlformats.org/officeDocument/2006/customXml" ds:itemID="{A7F435C0-A5F7-43D1-9ED9-7DB84C0CFA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2a5045-815c-443a-bbd6-e5ee83f86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2480</TotalTime>
  <Words>1756</Words>
  <Application>Microsoft Office PowerPoint</Application>
  <PresentationFormat>寬螢幕</PresentationFormat>
  <Paragraphs>218</Paragraphs>
  <Slides>28</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28</vt:i4>
      </vt:variant>
    </vt:vector>
  </HeadingPairs>
  <TitlesOfParts>
    <vt:vector size="34" baseType="lpstr">
      <vt:lpstr>Amiri</vt:lpstr>
      <vt:lpstr>微软雅黑</vt:lpstr>
      <vt:lpstr>標楷體</vt:lpstr>
      <vt:lpstr>Arial</vt:lpstr>
      <vt:lpstr>Poiret One</vt:lpstr>
      <vt:lpstr>清风素材 https://12sc.taobao.com/</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12sc.taobao.com</dc:subject>
  <dc:creator>清风素材</dc:creator>
  <cp:keywords>12sc.taobao.com</cp:keywords>
  <dc:description>12sc.taobao.com</dc:description>
  <cp:lastModifiedBy>Jason hsu</cp:lastModifiedBy>
  <cp:revision>75</cp:revision>
  <dcterms:created xsi:type="dcterms:W3CDTF">2015-08-18T02:51:00Z</dcterms:created>
  <dcterms:modified xsi:type="dcterms:W3CDTF">2024-05-10T19:44:55Z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y fmtid="{D5CDD505-2E9C-101B-9397-08002B2CF9AE}" pid="3" name="ContentTypeId">
    <vt:lpwstr>0x01010053AFB5ACF9319B4A8B0EB4DEE92A31B2</vt:lpwstr>
  </property>
</Properties>
</file>